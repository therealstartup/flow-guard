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ef80d5cf-1725-c626-7c92-cd7fda926e44}">
          <p14:sldIdLst>
            <p14:sldId id="256"/>
            <p14:sldId id="257"/>
            <p14:sldId id="258"/>
            <p14:sldId id="259"/>
          </p14:sldIdLst>
        </p14:section>
        <p14:section name="Idea" id="{c628de30-f82e-54a5-85a5-f23599f415c8}">
          <p14:sldIdLst>
            <p14:sldId id="260"/>
            <p14:sldId id="261"/>
            <p14:sldId id="262"/>
          </p14:sldIdLst>
        </p14:section>
        <p14:section name="Proof" id="{c0cfc2a2-9ef8-8ecf-687b-88723a3fa016}">
          <p14:sldIdLst>
            <p14:sldId id="263"/>
            <p14:sldId id="264"/>
          </p14:sldIdLst>
        </p14:section>
        <p14:section name="Close" id="{1a597f99-3755-b52a-3965-8971964ec99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220"/>
                </a:solidFill>
                <a:latin typeface="+mn-lt"/>
              </a:defRPr>
            </a:pPr>
            <a:r>
              <a:rPr sz="1400" b="0" i="0" u="none" strike="noStrike">
                <a:solidFill>
                  <a:srgbClr val="0B1220"/>
                </a:solidFill>
                <a:latin typeface="+mn-lt"/>
              </a:rPr>
              <a:t>Client data leaked (of 4 scenarios)</a:t>
            </a:r>
          </a:p>
        </c:rich>
      </c:tx>
      <c:layout/>
      <c:overlay val="0"/>
    </c:title>
    <c:autoTitleDeleted val="0"/>
    <c:plotArea>
      <c:layout/>
      <c:barChart>
        <c:barDir val="col"/>
        <c:grouping val="clustered"/>
        <c:varyColors val="0"/>
        <c:ser>
          <c:idx val="0"/>
          <c:order val="0"/>
          <c:tx>
            <c:strRef>
              <c:f>Sheet1!$B$1</c:f>
              <c:strCache>
                <c:ptCount val="1"/>
                <c:pt idx="0">
                  <c:v>Leaks</c:v>
                </c:pt>
              </c:strCache>
            </c:strRef>
          </c:tx>
          <c:spPr>
            <a:solidFill>
              <a:srgbClr val="E5484D"/>
            </a:solidFill>
            <a:effectLst/>
          </c:spPr>
          <c:invertIfNegative val="0"/>
          <c:dLbls>
            <c:numFmt formatCode="#,##0" sourceLinked="0"/>
            <c:txPr>
              <a:bodyPr/>
              <a:lstStyle/>
              <a:p>
                <a:pPr>
                  <a:defRPr b="1" i="0" strike="noStrike" sz="1600" u="none">
                    <a:solidFill>
                      <a:srgbClr val="0B1220"/>
                    </a:solidFill>
                    <a:latin typeface="+mn-lt"/>
                  </a:defRPr>
                </a:pPr>
              </a:p>
            </c:txPr>
            <c:showLegendKey val="0"/>
            <c:showVal val="1"/>
            <c:showCatName val="0"/>
            <c:showSerName val="0"/>
            <c:showPercent val="0"/>
            <c:showBubbleSize val="0"/>
            <c:showLeaderLines val="0"/>
          </c:dLbls>
          <c:dPt>
            <c:idx val="0"/>
            <c:invertIfNegative val="0"/>
            <c:bubble3D val="0"/>
            <c:spPr>
              <a:solidFill>
                <a:srgbClr val="E5484D"/>
              </a:solidFill>
              <a:effectLst/>
            </c:spPr>
          </c:dPt>
          <c:dPt>
            <c:idx val="1"/>
            <c:invertIfNegative val="0"/>
            <c:bubble3D val="0"/>
            <c:spPr>
              <a:solidFill>
                <a:srgbClr val="1FAF8A"/>
              </a:solidFill>
              <a:effectLst/>
            </c:spPr>
          </c:dPt>
          <c:cat>
            <c:multiLvlStrRef>
              <c:f>Sheet1!$A$2:$A$3</c:f>
              <c:multiLvlStrCache>
                <c:ptCount val="2"/>
                <c:lvl>
                  <c:pt idx="0">
                    <c:v>Without Flow Guard</c:v>
                  </c:pt>
                  <c:pt idx="1">
                    <c:v>With Flow Guard</c:v>
                  </c:pt>
                </c:lvl>
              </c:multiLvlStrCache>
            </c:multiLvlStrRef>
          </c:cat>
          <c:val>
            <c:numRef>
              <c:f>Sheet1!$B$2:$B$3</c:f>
              <c:numCache>
                <c:formatCode>General</c:formatCode>
                <c:ptCount val="2"/>
                <c:pt idx="0">
                  <c:v>4</c:v>
                </c:pt>
                <c:pt idx="1">
                  <c:v>0</c:v>
                </c:pt>
              </c:numCache>
            </c:numRef>
          </c:val>
        </c:ser>
        <c:dLbls>
          <c:numFmt formatCode="#,##0" sourceLinked="0"/>
          <c:txPr>
            <a:bodyPr/>
            <a:lstStyle/>
            <a:p>
              <a:pPr>
                <a:defRPr b="1" i="0" strike="noStrike" sz="1600" u="none">
                  <a:solidFill>
                    <a:srgbClr val="0B12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7790"/>
                </a:solidFill>
                <a:latin typeface="+mn-lt"/>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 Walk on, no "hi, we are team".
"Flow Guard. Here's Olivia's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One card per breath.
"Olivia, an onboarding analyst, asks her AI agent to prepare the file for a new hedge-fund client. The client's document hides one sentence, written for the agent. The agent obeys: it searches the deal room, finds an acquisition nobody has announced, and emails it to a fund that can trade on it. Nobody hacked the bank. The agent did its job, for the wrong boss."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"This already happens. An outsider's web form, one email with zero clicks, and barrier leaks that cost tens of millions."
Cut first if over time: everything after "This already happens".
Check wording against docs/goldman-cases.md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"Your CIO says: assume the model may be compromised. Layers one and two protect the model. We build three and four: what agents may do, and what data they may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 SLIDE THAT MUST LAND. Trace the arrows with your hand.
"So we don't bet on catching the attack. The passport never reaches the model; it sees a token. When the agent calls the sanctions check, we put the real number back. When the same token heads for an email, the call is dropped and logged. A fooled model has nothing to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Follow the request left to right.
"Agents change one line: their base URL. Our bank agents and the real Claude Code go through one policy engine. It asks every request three questions: who is asking and why, what data is in it and where it may go, and how much damage it can do. One YAML file, reloaded while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"Three agents, three attacks. A poisoned client document: quarantined. A deal memo sent outside: blocked. A coding agent with a secret and an endless loop: key hidden, loop stopped. You can try all three at our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Big number first.
"We measured it against a model that obeys every hidden instruction. Without Flow Guard: four leaks out of four. With it: zero, even when the injection detector misses everything. On almost ten thousand real cases, the detector still catches over 95% of the attacks that really stole data. 365 tests run offline on every push."
Cut first if over time: the detector sentence.
Update the test count from 'just test' before presenting (365 passed on Sun 4 Oct).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"Every decision is a hash-chained audit entry: who, which agent, why, and which policy version decided. Compliance gets evidence, not a promise."
The entry is illustrative, built from the real audit fields (gateway/acl/engine.py). Optionally replace it with a screenshot of the dashboard Audit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Same Olivia, different ending. Slowly.
"Monday, 9:04, again. The passport reached the sanctions check, nowhere else. The hidden sentence was quarantined. The deal stayed behind the wall. Don't trust the agent. Trust the flow. The policy file is open. Try to break it."
Stop talking. Leave this slide up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G Dark">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900" b="1" spc="300" kern="0" dirty="0">
                <a:solidFill>
                  <a:schemeClr val="accent5"/>
                </a:solidFill>
              </a:rPr>
              <a:t>FLOW GUARD  ·  AI CONTROL LAYER</a:t>
            </a:r>
            <a:endParaRPr lang="en-US" sz="900" dirty="0"/>
          </a:p>
        </p:txBody>
      </p:sp>
      <p:sp>
        <p:nvSpPr>
          <p:cNvPr id="3" name="Text 1"/>
          <p:cNvSpPr/>
          <p:nvPr>
            <p:ph idx="101" type="title" hasCustomPrompt="1"/>
          </p:nvPr>
        </p:nvSpPr>
        <p:spPr>
          <a:xfrm>
            <a:off x="457200" y="292608"/>
            <a:ext cx="8229600" cy="73152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G 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900" b="1" spc="300" kern="0" dirty="0">
                <a:solidFill>
                  <a:schemeClr val="accent5"/>
                </a:solidFill>
              </a:rPr>
              <a:t>FLOW GUARD  ·  AI CONTROL LAYER</a:t>
            </a:r>
            <a:endParaRPr lang="en-US" sz="900" dirty="0"/>
          </a:p>
        </p:txBody>
      </p:sp>
      <p:sp>
        <p:nvSpPr>
          <p:cNvPr id="3" name="Text 1"/>
          <p:cNvSpPr/>
          <p:nvPr>
            <p:ph idx="101" type="title" hasCustomPrompt="1"/>
          </p:nvPr>
        </p:nvSpPr>
        <p:spPr>
          <a:xfrm>
            <a:off x="457200" y="292608"/>
            <a:ext cx="8229600" cy="73152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G Cover">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60120"/>
            <a:ext cx="8229600" cy="274320"/>
          </a:xfrm>
          <a:prstGeom prst="rect">
            <a:avLst/>
          </a:prstGeom>
          <a:noFill/>
          <a:ln/>
        </p:spPr>
        <p:txBody>
          <a:bodyPr wrap="square" lIns="0" tIns="0" rIns="0" bIns="0" rtlCol="0" anchor="ctr"/>
          <a:lstStyle/>
          <a:p>
            <a:pPr indent="0" marL="0">
              <a:buNone/>
            </a:pPr>
            <a:r>
              <a:rPr lang="en-US" sz="1000" b="1" spc="300" kern="0" dirty="0">
                <a:solidFill>
                  <a:schemeClr val="accent5"/>
                </a:solidFill>
              </a:rPr>
              <a:t>AI CONTROL LAYER  ·  HACKYEAH 2026  ·  GOLDMAN SACHS CHALLENGE</a:t>
            </a:r>
            <a:endParaRPr lang="en-US" sz="1000" dirty="0"/>
          </a:p>
        </p:txBody>
      </p:sp>
      <p:sp>
        <p:nvSpPr>
          <p:cNvPr id="3" name="Text 1"/>
          <p:cNvSpPr txBox="1"/>
          <p:nvPr/>
        </p:nvSpPr>
        <p:spPr>
          <a:xfrm>
            <a:off x="457200" y="1280160"/>
            <a:ext cx="8229600" cy="91440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Flow Guard</a:t>
            </a:r>
            <a:endParaRPr lang="en-US" sz="6000" dirty="0"/>
          </a:p>
        </p:txBody>
      </p:sp>
      <p:sp>
        <p:nvSpPr>
          <p:cNvPr id="4" name="Text 2"/>
          <p:cNvSpPr txBox="1"/>
          <p:nvPr/>
        </p:nvSpPr>
        <p:spPr>
          <a:xfrm>
            <a:off x="457200" y="2240280"/>
            <a:ext cx="8229600" cy="457200"/>
          </a:xfrm>
          <a:prstGeom prst="rect">
            <a:avLst/>
          </a:prstGeom>
          <a:noFill/>
          <a:ln/>
        </p:spPr>
        <p:txBody>
          <a:bodyPr wrap="square" lIns="0" tIns="0" rIns="0" bIns="0" rtlCol="0" anchor="ctr"/>
          <a:lstStyle/>
          <a:p>
            <a:pPr indent="0" marL="0">
              <a:buNone/>
            </a:pPr>
            <a:r>
              <a:rPr lang="en-US" sz="2200" dirty="0">
                <a:solidFill>
                  <a:schemeClr val="accent1"/>
                </a:solidFill>
              </a:rPr>
              <a:t>Your agents can act. We decide what flows.</a:t>
            </a:r>
            <a:endParaRPr lang="en-US" sz="2200" dirty="0"/>
          </a:p>
        </p:txBody>
      </p:sp>
      <p:sp>
        <p:nvSpPr>
          <p:cNvPr id="5" name="pill C01X00T47"/>
          <p:cNvSpPr/>
          <p:nvPr/>
        </p:nvSpPr>
        <p:spPr>
          <a:xfrm>
            <a:off x="457200" y="3337560"/>
            <a:ext cx="1828800" cy="457200"/>
          </a:xfrm>
          <a:prstGeom prst="roundRect">
            <a:avLst>
              <a:gd name="adj" fmla="val 50000"/>
            </a:avLst>
          </a:prstGeom>
          <a:solidFill>
            <a:schemeClr val="tx1"/>
          </a:solidFill>
          <a:ln w="22225">
            <a:solidFill>
              <a:schemeClr val="accent3"/>
            </a:solidFill>
            <a:prstDash val="solid"/>
          </a:ln>
        </p:spPr>
      </p:sp>
      <p:sp>
        <p:nvSpPr>
          <p:cNvPr id="6" name="Text 4"/>
          <p:cNvSpPr txBox="1"/>
          <p:nvPr/>
        </p:nvSpPr>
        <p:spPr>
          <a:xfrm>
            <a:off x="457200" y="3337560"/>
            <a:ext cx="1828800" cy="457200"/>
          </a:xfrm>
          <a:prstGeom prst="rect">
            <a:avLst/>
          </a:prstGeom>
          <a:noFill/>
          <a:ln/>
        </p:spPr>
        <p:txBody>
          <a:bodyPr wrap="square" lIns="0" tIns="0" rIns="0" bIns="0" rtlCol="0" anchor="ctr"/>
          <a:lstStyle/>
          <a:p>
            <a:pPr algn="ctr" indent="0" marL="0">
              <a:buNone/>
            </a:pPr>
            <a:r>
              <a:rPr lang="en-US" sz="1300" b="1" dirty="0">
                <a:solidFill>
                  <a:schemeClr val="accent3"/>
                </a:solidFill>
                <a:latin typeface="Courier New" pitchFamily="34" charset="0"/>
                <a:ea typeface="Courier New" pitchFamily="34" charset="-122"/>
                <a:cs typeface="Courier New" pitchFamily="34" charset="-120"/>
              </a:rPr>
              <a:t>C01X00T47</a:t>
            </a:r>
            <a:endParaRPr lang="en-US" sz="1300" dirty="0"/>
          </a:p>
        </p:txBody>
      </p:sp>
      <p:sp>
        <p:nvSpPr>
          <p:cNvPr id="7" name="Shape 5"/>
          <p:cNvSpPr/>
          <p:nvPr/>
        </p:nvSpPr>
        <p:spPr>
          <a:xfrm>
            <a:off x="2377440" y="3566160"/>
            <a:ext cx="457200" cy="914"/>
          </a:xfrm>
          <a:prstGeom prst="line">
            <a:avLst/>
          </a:prstGeom>
          <a:noFill/>
          <a:ln w="22225">
            <a:solidFill>
              <a:schemeClr val="accent5"/>
            </a:solidFill>
            <a:prstDash val="solid"/>
            <a:tailEnd type="triangle"/>
          </a:ln>
        </p:spPr>
      </p:sp>
      <p:sp>
        <p:nvSpPr>
          <p:cNvPr id="8" name="pill [[PASSPORT#7c21e4]]"/>
          <p:cNvSpPr/>
          <p:nvPr/>
        </p:nvSpPr>
        <p:spPr>
          <a:xfrm>
            <a:off x="2926080" y="3337560"/>
            <a:ext cx="2651760" cy="457200"/>
          </a:xfrm>
          <a:prstGeom prst="roundRect">
            <a:avLst>
              <a:gd name="adj" fmla="val 50000"/>
            </a:avLst>
          </a:prstGeom>
          <a:solidFill>
            <a:schemeClr val="tx1"/>
          </a:solidFill>
          <a:ln w="22225">
            <a:solidFill>
              <a:schemeClr val="accent1"/>
            </a:solidFill>
            <a:prstDash val="solid"/>
          </a:ln>
        </p:spPr>
      </p:sp>
      <p:sp>
        <p:nvSpPr>
          <p:cNvPr id="9" name="Text 7"/>
          <p:cNvSpPr txBox="1"/>
          <p:nvPr/>
        </p:nvSpPr>
        <p:spPr>
          <a:xfrm>
            <a:off x="2926080" y="3337560"/>
            <a:ext cx="26517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[[PASSPORT#7c21e4]]</a:t>
            </a:r>
            <a:endParaRPr lang="en-US" sz="1300" dirty="0"/>
          </a:p>
        </p:txBody>
      </p:sp>
      <p:sp>
        <p:nvSpPr>
          <p:cNvPr id="10" name="Shape 8"/>
          <p:cNvSpPr/>
          <p:nvPr/>
        </p:nvSpPr>
        <p:spPr>
          <a:xfrm>
            <a:off x="5669280" y="3566160"/>
            <a:ext cx="457200" cy="914"/>
          </a:xfrm>
          <a:prstGeom prst="line">
            <a:avLst/>
          </a:prstGeom>
          <a:noFill/>
          <a:ln w="22225">
            <a:solidFill>
              <a:schemeClr val="accent5"/>
            </a:solidFill>
            <a:prstDash val="solid"/>
            <a:tailEnd type="triangle"/>
          </a:ln>
        </p:spPr>
      </p:sp>
      <p:sp>
        <p:nvSpPr>
          <p:cNvPr id="11" name="pill only where policy allows"/>
          <p:cNvSpPr/>
          <p:nvPr/>
        </p:nvSpPr>
        <p:spPr>
          <a:xfrm>
            <a:off x="6217920" y="3337560"/>
            <a:ext cx="2468880" cy="457200"/>
          </a:xfrm>
          <a:prstGeom prst="roundRect">
            <a:avLst>
              <a:gd name="adj" fmla="val 50000"/>
            </a:avLst>
          </a:prstGeom>
          <a:solidFill>
            <a:schemeClr val="tx1"/>
          </a:solidFill>
          <a:ln w="22225">
            <a:solidFill>
              <a:schemeClr val="accent2"/>
            </a:solidFill>
            <a:prstDash val="solid"/>
          </a:ln>
        </p:spPr>
      </p:sp>
      <p:sp>
        <p:nvSpPr>
          <p:cNvPr id="12" name="Text 10"/>
          <p:cNvSpPr txBox="1"/>
          <p:nvPr/>
        </p:nvSpPr>
        <p:spPr>
          <a:xfrm>
            <a:off x="6217920" y="3337560"/>
            <a:ext cx="2468880" cy="457200"/>
          </a:xfrm>
          <a:prstGeom prst="rect">
            <a:avLst/>
          </a:prstGeom>
          <a:noFill/>
          <a:ln/>
        </p:spPr>
        <p:txBody>
          <a:bodyPr wrap="square" lIns="0" tIns="0" rIns="0" bIns="0" rtlCol="0" anchor="ctr"/>
          <a:lstStyle/>
          <a:p>
            <a:pPr algn="ctr" indent="0" marL="0">
              <a:buNone/>
            </a:pPr>
            <a:r>
              <a:rPr lang="en-US" sz="1300" dirty="0">
                <a:solidFill>
                  <a:schemeClr val="accent2"/>
                </a:solidFill>
                <a:latin typeface="Calibri" pitchFamily="34" charset="0"/>
                <a:ea typeface="Calibri" pitchFamily="34" charset="-122"/>
                <a:cs typeface="Calibri" pitchFamily="34" charset="-120"/>
              </a:rPr>
              <a:t>only where policy allows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Monday, 09:04. The agent starts work</a:t>
            </a:r>
            <a:endParaRPr lang="en-US" sz="2800" dirty="0"/>
          </a:p>
        </p:txBody>
      </p:sp>
      <p:sp>
        <p:nvSpPr>
          <p:cNvPr id="3" name="story card 1"/>
          <p:cNvSpPr/>
          <p:nvPr/>
        </p:nvSpPr>
        <p:spPr>
          <a:xfrm>
            <a:off x="457200" y="1280160"/>
            <a:ext cx="1920240" cy="2103120"/>
          </a:xfrm>
          <a:prstGeom prst="roundRect">
            <a:avLst>
              <a:gd name="adj" fmla="val 5714"/>
            </a:avLst>
          </a:prstGeom>
          <a:solidFill>
            <a:schemeClr val="tx2"/>
          </a:solidFill>
          <a:ln/>
        </p:spPr>
      </p:sp>
      <p:sp>
        <p:nvSpPr>
          <p:cNvPr id="4" name="Shape 2"/>
          <p:cNvSpPr/>
          <p:nvPr/>
        </p:nvSpPr>
        <p:spPr>
          <a:xfrm>
            <a:off x="640080" y="146304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77240" y="1600200"/>
            <a:ext cx="274320" cy="274320"/>
          </a:xfrm>
          <a:prstGeom prst="rect">
            <a:avLst/>
          </a:prstGeom>
        </p:spPr>
      </p:pic>
      <p:sp>
        <p:nvSpPr>
          <p:cNvPr id="6" name="Text 3"/>
          <p:cNvSpPr txBox="1"/>
          <p:nvPr/>
        </p:nvSpPr>
        <p:spPr>
          <a:xfrm>
            <a:off x="1554480" y="1508760"/>
            <a:ext cx="640080" cy="457200"/>
          </a:xfrm>
          <a:prstGeom prst="rect">
            <a:avLst/>
          </a:prstGeom>
          <a:noFill/>
          <a:ln/>
        </p:spPr>
        <p:txBody>
          <a:bodyPr wrap="square" lIns="0" tIns="0" rIns="0" bIns="0" rtlCol="0" anchor="ctr"/>
          <a:lstStyle/>
          <a:p>
            <a:pPr algn="r" indent="0" marL="0">
              <a:buNone/>
            </a:pPr>
            <a:r>
              <a:rPr lang="en-US" sz="2000" b="1" dirty="0">
                <a:solidFill>
                  <a:schemeClr val="accent1"/>
                </a:solidFill>
                <a:latin typeface="Courier New" pitchFamily="34" charset="0"/>
                <a:ea typeface="Courier New" pitchFamily="34" charset="-122"/>
                <a:cs typeface="Courier New" pitchFamily="34" charset="-120"/>
              </a:rPr>
              <a:t>01</a:t>
            </a:r>
            <a:endParaRPr lang="en-US" sz="2000" dirty="0"/>
          </a:p>
        </p:txBody>
      </p:sp>
      <p:sp>
        <p:nvSpPr>
          <p:cNvPr id="7" name="Text 4"/>
          <p:cNvSpPr txBox="1"/>
          <p:nvPr/>
        </p:nvSpPr>
        <p:spPr>
          <a:xfrm>
            <a:off x="640080" y="2148840"/>
            <a:ext cx="1600200" cy="1097280"/>
          </a:xfrm>
          <a:prstGeom prst="rect">
            <a:avLst/>
          </a:prstGeom>
          <a:noFill/>
          <a:ln/>
        </p:spPr>
        <p:txBody>
          <a:bodyPr wrap="square" lIns="0" tIns="0" rIns="0" bIns="0" rtlCol="0" anchor="t"/>
          <a:lstStyle/>
          <a:p>
            <a:pPr indent="0" marL="0">
              <a:buNone/>
            </a:pPr>
            <a:r>
              <a:rPr lang="en-US" sz="1500" dirty="0">
                <a:solidFill>
                  <a:schemeClr val="bg1"/>
                </a:solidFill>
              </a:rPr>
              <a:t>Olivia asks her AI agent to onboard a new client</a:t>
            </a:r>
            <a:endParaRPr lang="en-US" sz="1500" dirty="0"/>
          </a:p>
        </p:txBody>
      </p:sp>
      <p:sp>
        <p:nvSpPr>
          <p:cNvPr id="8" name="Shape 5"/>
          <p:cNvSpPr/>
          <p:nvPr/>
        </p:nvSpPr>
        <p:spPr>
          <a:xfrm>
            <a:off x="2395728" y="2331720"/>
            <a:ext cx="146304" cy="914"/>
          </a:xfrm>
          <a:prstGeom prst="line">
            <a:avLst/>
          </a:prstGeom>
          <a:noFill/>
          <a:ln w="22225">
            <a:solidFill>
              <a:schemeClr val="accent5"/>
            </a:solidFill>
            <a:prstDash val="solid"/>
            <a:tailEnd type="triangle"/>
          </a:ln>
        </p:spPr>
      </p:sp>
      <p:sp>
        <p:nvSpPr>
          <p:cNvPr id="9" name="story card 2"/>
          <p:cNvSpPr/>
          <p:nvPr/>
        </p:nvSpPr>
        <p:spPr>
          <a:xfrm>
            <a:off x="2560320" y="1280160"/>
            <a:ext cx="1920240" cy="2103120"/>
          </a:xfrm>
          <a:prstGeom prst="roundRect">
            <a:avLst>
              <a:gd name="adj" fmla="val 5714"/>
            </a:avLst>
          </a:prstGeom>
          <a:solidFill>
            <a:schemeClr val="tx2"/>
          </a:solidFill>
          <a:ln/>
        </p:spPr>
      </p:sp>
      <p:sp>
        <p:nvSpPr>
          <p:cNvPr id="10" name="Shape 7"/>
          <p:cNvSpPr/>
          <p:nvPr/>
        </p:nvSpPr>
        <p:spPr>
          <a:xfrm>
            <a:off x="2743200" y="1463040"/>
            <a:ext cx="548640" cy="54864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2880360" y="1600200"/>
            <a:ext cx="274320" cy="274320"/>
          </a:xfrm>
          <a:prstGeom prst="rect">
            <a:avLst/>
          </a:prstGeom>
        </p:spPr>
      </p:pic>
      <p:sp>
        <p:nvSpPr>
          <p:cNvPr id="12" name="Text 8"/>
          <p:cNvSpPr txBox="1"/>
          <p:nvPr/>
        </p:nvSpPr>
        <p:spPr>
          <a:xfrm>
            <a:off x="3657600" y="1508760"/>
            <a:ext cx="640080" cy="457200"/>
          </a:xfrm>
          <a:prstGeom prst="rect">
            <a:avLst/>
          </a:prstGeom>
          <a:noFill/>
          <a:ln/>
        </p:spPr>
        <p:txBody>
          <a:bodyPr wrap="square" lIns="0" tIns="0" rIns="0" bIns="0" rtlCol="0" anchor="ctr"/>
          <a:lstStyle/>
          <a:p>
            <a:pPr algn="r" indent="0" marL="0">
              <a:buNone/>
            </a:pPr>
            <a:r>
              <a:rPr lang="en-US" sz="2000" b="1" dirty="0">
                <a:solidFill>
                  <a:schemeClr val="accent1"/>
                </a:solidFill>
                <a:latin typeface="Courier New" pitchFamily="34" charset="0"/>
                <a:ea typeface="Courier New" pitchFamily="34" charset="-122"/>
                <a:cs typeface="Courier New" pitchFamily="34" charset="-120"/>
              </a:rPr>
              <a:t>02</a:t>
            </a:r>
            <a:endParaRPr lang="en-US" sz="2000" dirty="0"/>
          </a:p>
        </p:txBody>
      </p:sp>
      <p:sp>
        <p:nvSpPr>
          <p:cNvPr id="13" name="Text 9"/>
          <p:cNvSpPr txBox="1"/>
          <p:nvPr/>
        </p:nvSpPr>
        <p:spPr>
          <a:xfrm>
            <a:off x="2743200" y="2148840"/>
            <a:ext cx="1600200" cy="1097280"/>
          </a:xfrm>
          <a:prstGeom prst="rect">
            <a:avLst/>
          </a:prstGeom>
          <a:noFill/>
          <a:ln/>
        </p:spPr>
        <p:txBody>
          <a:bodyPr wrap="square" lIns="0" tIns="0" rIns="0" bIns="0" rtlCol="0" anchor="t"/>
          <a:lstStyle/>
          <a:p>
            <a:pPr indent="0" marL="0">
              <a:buNone/>
            </a:pPr>
            <a:r>
              <a:rPr lang="en-US" sz="1500" dirty="0">
                <a:solidFill>
                  <a:schemeClr val="bg1"/>
                </a:solidFill>
              </a:rPr>
              <a:t>The client's document hides one order for the agent</a:t>
            </a:r>
            <a:endParaRPr lang="en-US" sz="1500" dirty="0"/>
          </a:p>
        </p:txBody>
      </p:sp>
      <p:sp>
        <p:nvSpPr>
          <p:cNvPr id="14" name="Shape 10"/>
          <p:cNvSpPr/>
          <p:nvPr/>
        </p:nvSpPr>
        <p:spPr>
          <a:xfrm>
            <a:off x="4498848" y="2331720"/>
            <a:ext cx="146304" cy="914"/>
          </a:xfrm>
          <a:prstGeom prst="line">
            <a:avLst/>
          </a:prstGeom>
          <a:noFill/>
          <a:ln w="22225">
            <a:solidFill>
              <a:schemeClr val="accent5"/>
            </a:solidFill>
            <a:prstDash val="solid"/>
            <a:tailEnd type="triangle"/>
          </a:ln>
        </p:spPr>
      </p:sp>
      <p:sp>
        <p:nvSpPr>
          <p:cNvPr id="15" name="story card 3"/>
          <p:cNvSpPr/>
          <p:nvPr/>
        </p:nvSpPr>
        <p:spPr>
          <a:xfrm>
            <a:off x="4663440" y="1280160"/>
            <a:ext cx="1920240" cy="2103120"/>
          </a:xfrm>
          <a:prstGeom prst="roundRect">
            <a:avLst>
              <a:gd name="adj" fmla="val 5714"/>
            </a:avLst>
          </a:prstGeom>
          <a:solidFill>
            <a:schemeClr val="tx2"/>
          </a:solidFill>
          <a:ln/>
        </p:spPr>
      </p:sp>
      <p:sp>
        <p:nvSpPr>
          <p:cNvPr id="16" name="Shape 12"/>
          <p:cNvSpPr/>
          <p:nvPr/>
        </p:nvSpPr>
        <p:spPr>
          <a:xfrm>
            <a:off x="4846320" y="1463040"/>
            <a:ext cx="548640" cy="54864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4983480" y="1600200"/>
            <a:ext cx="274320" cy="274320"/>
          </a:xfrm>
          <a:prstGeom prst="rect">
            <a:avLst/>
          </a:prstGeom>
        </p:spPr>
      </p:pic>
      <p:sp>
        <p:nvSpPr>
          <p:cNvPr id="18" name="Text 13"/>
          <p:cNvSpPr txBox="1"/>
          <p:nvPr/>
        </p:nvSpPr>
        <p:spPr>
          <a:xfrm>
            <a:off x="5760720" y="1508760"/>
            <a:ext cx="640080" cy="457200"/>
          </a:xfrm>
          <a:prstGeom prst="rect">
            <a:avLst/>
          </a:prstGeom>
          <a:noFill/>
          <a:ln/>
        </p:spPr>
        <p:txBody>
          <a:bodyPr wrap="square" lIns="0" tIns="0" rIns="0" bIns="0" rtlCol="0" anchor="ctr"/>
          <a:lstStyle/>
          <a:p>
            <a:pPr algn="r" indent="0" marL="0">
              <a:buNone/>
            </a:pPr>
            <a:r>
              <a:rPr lang="en-US" sz="2000" b="1" dirty="0">
                <a:solidFill>
                  <a:schemeClr val="accent1"/>
                </a:solidFill>
                <a:latin typeface="Courier New" pitchFamily="34" charset="0"/>
                <a:ea typeface="Courier New" pitchFamily="34" charset="-122"/>
                <a:cs typeface="Courier New" pitchFamily="34" charset="-120"/>
              </a:rPr>
              <a:t>03</a:t>
            </a:r>
            <a:endParaRPr lang="en-US" sz="2000" dirty="0"/>
          </a:p>
        </p:txBody>
      </p:sp>
      <p:sp>
        <p:nvSpPr>
          <p:cNvPr id="19" name="Text 14"/>
          <p:cNvSpPr txBox="1"/>
          <p:nvPr/>
        </p:nvSpPr>
        <p:spPr>
          <a:xfrm>
            <a:off x="4846320" y="2148840"/>
            <a:ext cx="1600200" cy="1097280"/>
          </a:xfrm>
          <a:prstGeom prst="rect">
            <a:avLst/>
          </a:prstGeom>
          <a:noFill/>
          <a:ln/>
        </p:spPr>
        <p:txBody>
          <a:bodyPr wrap="square" lIns="0" tIns="0" rIns="0" bIns="0" rtlCol="0" anchor="t"/>
          <a:lstStyle/>
          <a:p>
            <a:pPr indent="0" marL="0">
              <a:buNone/>
            </a:pPr>
            <a:r>
              <a:rPr lang="en-US" sz="1500" dirty="0">
                <a:solidFill>
                  <a:schemeClr val="bg1"/>
                </a:solidFill>
              </a:rPr>
              <a:t>The agent obeys and finds an unannounced deal</a:t>
            </a:r>
            <a:endParaRPr lang="en-US" sz="1500" dirty="0"/>
          </a:p>
        </p:txBody>
      </p:sp>
      <p:sp>
        <p:nvSpPr>
          <p:cNvPr id="20" name="Shape 15"/>
          <p:cNvSpPr/>
          <p:nvPr/>
        </p:nvSpPr>
        <p:spPr>
          <a:xfrm>
            <a:off x="6601968" y="2331720"/>
            <a:ext cx="146304" cy="914"/>
          </a:xfrm>
          <a:prstGeom prst="line">
            <a:avLst/>
          </a:prstGeom>
          <a:noFill/>
          <a:ln w="22225">
            <a:solidFill>
              <a:schemeClr val="accent5"/>
            </a:solidFill>
            <a:prstDash val="solid"/>
            <a:tailEnd type="triangle"/>
          </a:ln>
        </p:spPr>
      </p:sp>
      <p:sp>
        <p:nvSpPr>
          <p:cNvPr id="21" name="story card 4"/>
          <p:cNvSpPr/>
          <p:nvPr/>
        </p:nvSpPr>
        <p:spPr>
          <a:xfrm>
            <a:off x="6766560" y="1280160"/>
            <a:ext cx="1920240" cy="2103120"/>
          </a:xfrm>
          <a:prstGeom prst="roundRect">
            <a:avLst>
              <a:gd name="adj" fmla="val 5714"/>
            </a:avLst>
          </a:prstGeom>
          <a:solidFill>
            <a:schemeClr val="tx2"/>
          </a:solidFill>
          <a:ln w="25400">
            <a:solidFill>
              <a:schemeClr val="accent3"/>
            </a:solidFill>
            <a:prstDash val="solid"/>
          </a:ln>
        </p:spPr>
      </p:sp>
      <p:sp>
        <p:nvSpPr>
          <p:cNvPr id="22" name="Shape 17"/>
          <p:cNvSpPr/>
          <p:nvPr/>
        </p:nvSpPr>
        <p:spPr>
          <a:xfrm>
            <a:off x="6949440" y="1463040"/>
            <a:ext cx="548640" cy="548640"/>
          </a:xfrm>
          <a:prstGeom prst="ellipse">
            <a:avLst/>
          </a:prstGeom>
          <a:solidFill>
            <a:schemeClr val="accent3"/>
          </a:solidFill>
          <a:ln/>
        </p:spPr>
      </p:sp>
      <p:pic>
        <p:nvPicPr>
          <p:cNvPr id="23" name="Image 3" descr="preencoded.png">    </p:cNvPr>
          <p:cNvPicPr>
            <a:picLocks noChangeAspect="1"/>
          </p:cNvPicPr>
          <p:nvPr/>
        </p:nvPicPr>
        <p:blipFill>
          <a:blip r:embed="rId4"/>
          <a:stretch>
            <a:fillRect/>
          </a:stretch>
        </p:blipFill>
        <p:spPr>
          <a:xfrm>
            <a:off x="7086600" y="1600200"/>
            <a:ext cx="274320" cy="274320"/>
          </a:xfrm>
          <a:prstGeom prst="rect">
            <a:avLst/>
          </a:prstGeom>
        </p:spPr>
      </p:pic>
      <p:sp>
        <p:nvSpPr>
          <p:cNvPr id="24" name="Text 18"/>
          <p:cNvSpPr txBox="1"/>
          <p:nvPr/>
        </p:nvSpPr>
        <p:spPr>
          <a:xfrm>
            <a:off x="7863840" y="1508760"/>
            <a:ext cx="640080" cy="457200"/>
          </a:xfrm>
          <a:prstGeom prst="rect">
            <a:avLst/>
          </a:prstGeom>
          <a:noFill/>
          <a:ln/>
        </p:spPr>
        <p:txBody>
          <a:bodyPr wrap="square" lIns="0" tIns="0" rIns="0" bIns="0" rtlCol="0" anchor="ctr"/>
          <a:lstStyle/>
          <a:p>
            <a:pPr algn="r" indent="0" marL="0">
              <a:buNone/>
            </a:pPr>
            <a:r>
              <a:rPr lang="en-US" sz="2000" b="1" dirty="0">
                <a:solidFill>
                  <a:schemeClr val="accent3"/>
                </a:solidFill>
                <a:latin typeface="Courier New" pitchFamily="34" charset="0"/>
                <a:ea typeface="Courier New" pitchFamily="34" charset="-122"/>
                <a:cs typeface="Courier New" pitchFamily="34" charset="-120"/>
              </a:rPr>
              <a:t>04</a:t>
            </a:r>
            <a:endParaRPr lang="en-US" sz="2000" dirty="0"/>
          </a:p>
        </p:txBody>
      </p:sp>
      <p:sp>
        <p:nvSpPr>
          <p:cNvPr id="25" name="Text 19"/>
          <p:cNvSpPr txBox="1"/>
          <p:nvPr/>
        </p:nvSpPr>
        <p:spPr>
          <a:xfrm>
            <a:off x="6949440" y="2148840"/>
            <a:ext cx="1600200" cy="1097280"/>
          </a:xfrm>
          <a:prstGeom prst="rect">
            <a:avLst/>
          </a:prstGeom>
          <a:noFill/>
          <a:ln/>
        </p:spPr>
        <p:txBody>
          <a:bodyPr wrap="square" lIns="0" tIns="0" rIns="0" bIns="0" rtlCol="0" anchor="t"/>
          <a:lstStyle/>
          <a:p>
            <a:pPr indent="0" marL="0">
              <a:buNone/>
            </a:pPr>
            <a:r>
              <a:rPr lang="en-US" sz="1500" dirty="0">
                <a:solidFill>
                  <a:schemeClr val="bg1"/>
                </a:solidFill>
              </a:rPr>
              <a:t>It emails the deal to a fund that can trade on it</a:t>
            </a:r>
            <a:endParaRPr lang="en-US" sz="1500" dirty="0"/>
          </a:p>
        </p:txBody>
      </p:sp>
      <p:sp>
        <p:nvSpPr>
          <p:cNvPr id="26" name="Text 20"/>
          <p:cNvSpPr txBox="1"/>
          <p:nvPr/>
        </p:nvSpPr>
        <p:spPr>
          <a:xfrm>
            <a:off x="457200" y="3703320"/>
            <a:ext cx="8229600" cy="548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Nobody hacked the bank. The agent did its job, </a:t>
            </a:r>
            <a:pPr indent="0" marL="0">
              <a:buNone/>
            </a:pPr>
            <a:r>
              <a:rPr lang="en-US" sz="2200" b="1" i="1" dirty="0">
                <a:solidFill>
                  <a:schemeClr val="accent1"/>
                </a:solidFill>
                <a:latin typeface="Cambria" pitchFamily="34" charset="0"/>
                <a:ea typeface="Cambria" pitchFamily="34" charset="-122"/>
                <a:cs typeface="Cambria" pitchFamily="34" charset="-120"/>
              </a:rPr>
              <a:t>for the wrong boss.</a:t>
            </a:r>
            <a:endParaRPr lang="en-US" sz="2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This already happens</a:t>
            </a:r>
            <a:endParaRPr lang="en-US" sz="2800" dirty="0"/>
          </a:p>
        </p:txBody>
      </p:sp>
      <p:sp>
        <p:nvSpPr>
          <p:cNvPr id="3" name="stat ForcedLeak"/>
          <p:cNvSpPr/>
          <p:nvPr/>
        </p:nvSpPr>
        <p:spPr>
          <a:xfrm>
            <a:off x="457200" y="1234440"/>
            <a:ext cx="2651760" cy="2331720"/>
          </a:xfrm>
          <a:prstGeom prst="roundRect">
            <a:avLst>
              <a:gd name="adj" fmla="val 4706"/>
            </a:avLst>
          </a:prstGeom>
          <a:solidFill>
            <a:schemeClr val="bg2"/>
          </a:solidFill>
          <a:ln/>
        </p:spPr>
      </p:sp>
      <p:sp>
        <p:nvSpPr>
          <p:cNvPr id="4" name="Text 2"/>
          <p:cNvSpPr txBox="1"/>
          <p:nvPr/>
        </p:nvSpPr>
        <p:spPr>
          <a:xfrm>
            <a:off x="685800" y="1371600"/>
            <a:ext cx="2194560" cy="86868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9.4</a:t>
            </a:r>
            <a:endParaRPr lang="en-US" sz="3600" dirty="0"/>
          </a:p>
        </p:txBody>
      </p:sp>
      <p:sp>
        <p:nvSpPr>
          <p:cNvPr id="5" name="Text 3"/>
          <p:cNvSpPr txBox="1"/>
          <p:nvPr/>
        </p:nvSpPr>
        <p:spPr>
          <a:xfrm>
            <a:off x="685800" y="224028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ForcedLeak</a:t>
            </a:r>
            <a:endParaRPr lang="en-US" sz="1600" dirty="0"/>
          </a:p>
        </p:txBody>
      </p:sp>
      <p:sp>
        <p:nvSpPr>
          <p:cNvPr id="6" name="Text 4"/>
          <p:cNvSpPr txBox="1"/>
          <p:nvPr/>
        </p:nvSpPr>
        <p:spPr>
          <a:xfrm>
            <a:off x="685800" y="2560320"/>
            <a:ext cx="2240280" cy="914400"/>
          </a:xfrm>
          <a:prstGeom prst="rect">
            <a:avLst/>
          </a:prstGeom>
          <a:noFill/>
          <a:ln/>
        </p:spPr>
        <p:txBody>
          <a:bodyPr wrap="square" lIns="0" tIns="0" rIns="0" bIns="0" rtlCol="0" anchor="t"/>
          <a:lstStyle/>
          <a:p>
            <a:pPr indent="0" marL="0">
              <a:buNone/>
            </a:pPr>
            <a:r>
              <a:rPr lang="en-US" sz="1300" dirty="0">
                <a:solidFill>
                  <a:schemeClr val="tx2"/>
                </a:solidFill>
              </a:rPr>
              <a:t>Salesforce Agentforce, 2025. An outsider's web form made the agent leak CRM data.</a:t>
            </a:r>
            <a:endParaRPr lang="en-US" sz="1300" dirty="0"/>
          </a:p>
        </p:txBody>
      </p:sp>
      <p:sp>
        <p:nvSpPr>
          <p:cNvPr id="7" name="stat EchoLeak"/>
          <p:cNvSpPr/>
          <p:nvPr/>
        </p:nvSpPr>
        <p:spPr>
          <a:xfrm>
            <a:off x="3291840" y="1234440"/>
            <a:ext cx="2651760" cy="2331720"/>
          </a:xfrm>
          <a:prstGeom prst="roundRect">
            <a:avLst>
              <a:gd name="adj" fmla="val 4706"/>
            </a:avLst>
          </a:prstGeom>
          <a:solidFill>
            <a:schemeClr val="bg2"/>
          </a:solidFill>
          <a:ln/>
        </p:spPr>
      </p:sp>
      <p:sp>
        <p:nvSpPr>
          <p:cNvPr id="8" name="Text 6"/>
          <p:cNvSpPr txBox="1"/>
          <p:nvPr/>
        </p:nvSpPr>
        <p:spPr>
          <a:xfrm>
            <a:off x="3520440" y="1371600"/>
            <a:ext cx="2194560" cy="86868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0 clicks</a:t>
            </a:r>
            <a:endParaRPr lang="en-US" sz="3600" dirty="0"/>
          </a:p>
        </p:txBody>
      </p:sp>
      <p:sp>
        <p:nvSpPr>
          <p:cNvPr id="9" name="Text 7"/>
          <p:cNvSpPr txBox="1"/>
          <p:nvPr/>
        </p:nvSpPr>
        <p:spPr>
          <a:xfrm>
            <a:off x="3520440" y="224028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EchoLeak</a:t>
            </a:r>
            <a:endParaRPr lang="en-US" sz="1600" dirty="0"/>
          </a:p>
        </p:txBody>
      </p:sp>
      <p:sp>
        <p:nvSpPr>
          <p:cNvPr id="10" name="Text 8"/>
          <p:cNvSpPr txBox="1"/>
          <p:nvPr/>
        </p:nvSpPr>
        <p:spPr>
          <a:xfrm>
            <a:off x="3520440" y="2560320"/>
            <a:ext cx="2240280" cy="914400"/>
          </a:xfrm>
          <a:prstGeom prst="rect">
            <a:avLst/>
          </a:prstGeom>
          <a:noFill/>
          <a:ln/>
        </p:spPr>
        <p:txBody>
          <a:bodyPr wrap="square" lIns="0" tIns="0" rIns="0" bIns="0" rtlCol="0" anchor="t"/>
          <a:lstStyle/>
          <a:p>
            <a:pPr indent="0" marL="0">
              <a:buNone/>
            </a:pPr>
            <a:r>
              <a:rPr lang="en-US" sz="1300" dirty="0">
                <a:solidFill>
                  <a:schemeClr val="tx2"/>
                </a:solidFill>
              </a:rPr>
              <a:t>Microsoft 365 Copilot, 2025. One email leaked data; the classifier missed it.</a:t>
            </a:r>
            <a:endParaRPr lang="en-US" sz="1300" dirty="0"/>
          </a:p>
        </p:txBody>
      </p:sp>
      <p:sp>
        <p:nvSpPr>
          <p:cNvPr id="11" name="stat Barrier leak"/>
          <p:cNvSpPr/>
          <p:nvPr/>
        </p:nvSpPr>
        <p:spPr>
          <a:xfrm>
            <a:off x="6126480" y="1234440"/>
            <a:ext cx="2651760" cy="2331720"/>
          </a:xfrm>
          <a:prstGeom prst="roundRect">
            <a:avLst>
              <a:gd name="adj" fmla="val 4706"/>
            </a:avLst>
          </a:prstGeom>
          <a:solidFill>
            <a:schemeClr val="bg2"/>
          </a:solidFill>
          <a:ln/>
        </p:spPr>
      </p:sp>
      <p:sp>
        <p:nvSpPr>
          <p:cNvPr id="12" name="Text 10"/>
          <p:cNvSpPr txBox="1"/>
          <p:nvPr/>
        </p:nvSpPr>
        <p:spPr>
          <a:xfrm>
            <a:off x="6355080" y="1371600"/>
            <a:ext cx="2194560" cy="86868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$36.3M</a:t>
            </a:r>
            <a:endParaRPr lang="en-US" sz="3600" dirty="0"/>
          </a:p>
        </p:txBody>
      </p:sp>
      <p:sp>
        <p:nvSpPr>
          <p:cNvPr id="13" name="Text 11"/>
          <p:cNvSpPr txBox="1"/>
          <p:nvPr/>
        </p:nvSpPr>
        <p:spPr>
          <a:xfrm>
            <a:off x="6355080" y="224028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Barrier leak</a:t>
            </a:r>
            <a:endParaRPr lang="en-US" sz="1600" dirty="0"/>
          </a:p>
        </p:txBody>
      </p:sp>
      <p:sp>
        <p:nvSpPr>
          <p:cNvPr id="14" name="Text 12"/>
          <p:cNvSpPr txBox="1"/>
          <p:nvPr/>
        </p:nvSpPr>
        <p:spPr>
          <a:xfrm>
            <a:off x="6355080" y="2560320"/>
            <a:ext cx="2240280" cy="914400"/>
          </a:xfrm>
          <a:prstGeom prst="rect">
            <a:avLst/>
          </a:prstGeom>
          <a:noFill/>
          <a:ln/>
        </p:spPr>
        <p:txBody>
          <a:bodyPr wrap="square" lIns="0" tIns="0" rIns="0" bIns="0" rtlCol="0" anchor="t"/>
          <a:lstStyle/>
          <a:p>
            <a:pPr indent="0" marL="0">
              <a:buNone/>
            </a:pPr>
            <a:r>
              <a:rPr lang="en-US" sz="1300" dirty="0">
                <a:solidFill>
                  <a:schemeClr val="tx2"/>
                </a:solidFill>
              </a:rPr>
              <a:t>Federal Reserve fine, 2016. Supervisory data crossed a barrier, at human speed.</a:t>
            </a:r>
            <a:endParaRPr lang="en-US" sz="1300" dirty="0"/>
          </a:p>
        </p:txBody>
      </p:sp>
      <p:sp>
        <p:nvSpPr>
          <p:cNvPr id="15" name="takeaway"/>
          <p:cNvSpPr/>
          <p:nvPr/>
        </p:nvSpPr>
        <p:spPr>
          <a:xfrm>
            <a:off x="457200" y="3749040"/>
            <a:ext cx="8229600" cy="548640"/>
          </a:xfrm>
          <a:prstGeom prst="roundRect">
            <a:avLst>
              <a:gd name="adj" fmla="val 16667"/>
            </a:avLst>
          </a:prstGeom>
          <a:solidFill>
            <a:schemeClr val="tx1"/>
          </a:solidFill>
          <a:ln/>
        </p:spPr>
      </p:sp>
      <p:sp>
        <p:nvSpPr>
          <p:cNvPr id="16" name="Shape 14"/>
          <p:cNvSpPr/>
          <p:nvPr/>
        </p:nvSpPr>
        <p:spPr>
          <a:xfrm>
            <a:off x="594360" y="3813048"/>
            <a:ext cx="420624" cy="420624"/>
          </a:xfrm>
          <a:prstGeom prst="ellipse">
            <a:avLst/>
          </a:prstGeom>
          <a:solidFill>
            <a:schemeClr val="accent3"/>
          </a:solidFill>
          <a:ln/>
        </p:spPr>
      </p:sp>
      <p:pic>
        <p:nvPicPr>
          <p:cNvPr id="17" name="Image 0" descr="preencoded.png">    </p:cNvPr>
          <p:cNvPicPr>
            <a:picLocks noChangeAspect="1"/>
          </p:cNvPicPr>
          <p:nvPr/>
        </p:nvPicPr>
        <p:blipFill>
          <a:blip r:embed="rId1"/>
          <a:stretch>
            <a:fillRect/>
          </a:stretch>
        </p:blipFill>
        <p:spPr>
          <a:xfrm>
            <a:off x="699516" y="3918204"/>
            <a:ext cx="210312" cy="210312"/>
          </a:xfrm>
          <a:prstGeom prst="rect">
            <a:avLst/>
          </a:prstGeom>
        </p:spPr>
      </p:pic>
      <p:sp>
        <p:nvSpPr>
          <p:cNvPr id="18" name="Text 15"/>
          <p:cNvSpPr txBox="1"/>
          <p:nvPr/>
        </p:nvSpPr>
        <p:spPr>
          <a:xfrm>
            <a:off x="1188720" y="3749040"/>
            <a:ext cx="7315200" cy="548640"/>
          </a:xfrm>
          <a:prstGeom prst="rect">
            <a:avLst/>
          </a:prstGeom>
          <a:noFill/>
          <a:ln/>
        </p:spPr>
        <p:txBody>
          <a:bodyPr wrap="square" lIns="0" tIns="0" rIns="0" bIns="0" rtlCol="0" anchor="ctr"/>
          <a:lstStyle/>
          <a:p>
            <a:pPr indent="0" marL="0">
              <a:buNone/>
            </a:pPr>
            <a:r>
              <a:rPr lang="en-US" sz="1600" b="1" dirty="0">
                <a:solidFill>
                  <a:schemeClr val="bg1"/>
                </a:solidFill>
              </a:rPr>
              <a:t>Detection alone loses. </a:t>
            </a:r>
            <a:pPr indent="0" marL="0">
              <a:buNone/>
            </a:pPr>
            <a:r>
              <a:rPr lang="en-US" sz="1600" dirty="0">
                <a:solidFill>
                  <a:schemeClr val="bg2"/>
                </a:solidFill>
              </a:rPr>
              <a:t>Control where the data can go.</a:t>
            </a:r>
            <a:endParaRPr lang="en-US" sz="1600" dirty="0"/>
          </a:p>
        </p:txBody>
      </p:sp>
      <p:sp>
        <p:nvSpPr>
          <p:cNvPr id="19" name="Text 16"/>
          <p:cNvSpPr txBox="1"/>
          <p:nvPr/>
        </p:nvSpPr>
        <p:spPr>
          <a:xfrm>
            <a:off x="457200" y="43891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Sources: Noma Security ForcedLeak disclosure (CVSS 9.4); CVE-2025-32711 (EchoLeak); Federal Reserve Board order, 2016.</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Goldman's map: we build layers 3 and 4</a:t>
            </a:r>
            <a:endParaRPr lang="en-US" sz="2800" dirty="0"/>
          </a:p>
        </p:txBody>
      </p:sp>
      <p:sp>
        <p:nvSpPr>
          <p:cNvPr id="3" name="layer 1"/>
          <p:cNvSpPr/>
          <p:nvPr/>
        </p:nvSpPr>
        <p:spPr>
          <a:xfrm>
            <a:off x="457200" y="1234440"/>
            <a:ext cx="4937760" cy="658368"/>
          </a:xfrm>
          <a:prstGeom prst="roundRect">
            <a:avLst>
              <a:gd name="adj" fmla="val 13889"/>
            </a:avLst>
          </a:prstGeom>
          <a:solidFill>
            <a:schemeClr val="bg2"/>
          </a:solidFill>
          <a:ln/>
        </p:spPr>
      </p:sp>
      <p:sp>
        <p:nvSpPr>
          <p:cNvPr id="4" name="Shape 2"/>
          <p:cNvSpPr/>
          <p:nvPr/>
        </p:nvSpPr>
        <p:spPr>
          <a:xfrm>
            <a:off x="594360" y="1362456"/>
            <a:ext cx="402336" cy="402336"/>
          </a:xfrm>
          <a:prstGeom prst="ellipse">
            <a:avLst/>
          </a:prstGeom>
          <a:solidFill>
            <a:schemeClr val="bg1"/>
          </a:solidFill>
          <a:ln/>
        </p:spPr>
      </p:sp>
      <p:sp>
        <p:nvSpPr>
          <p:cNvPr id="5" name="Text 3"/>
          <p:cNvSpPr txBox="1"/>
          <p:nvPr/>
        </p:nvSpPr>
        <p:spPr>
          <a:xfrm>
            <a:off x="594360" y="1362456"/>
            <a:ext cx="402336" cy="402336"/>
          </a:xfrm>
          <a:prstGeom prst="rect">
            <a:avLst/>
          </a:prstGeom>
          <a:noFill/>
          <a:ln/>
        </p:spPr>
        <p:txBody>
          <a:bodyPr wrap="square" lIns="0" tIns="0" rIns="0" bIns="0" rtlCol="0" anchor="ctr"/>
          <a:lstStyle/>
          <a:p>
            <a:pPr algn="ctr" indent="0" marL="0">
              <a:buNone/>
            </a:pPr>
            <a:r>
              <a:rPr lang="en-US" sz="1500" b="1" dirty="0">
                <a:solidFill>
                  <a:schemeClr val="accent5"/>
                </a:solidFill>
              </a:rPr>
              <a:t>1</a:t>
            </a:r>
            <a:endParaRPr lang="en-US" sz="1500" dirty="0"/>
          </a:p>
        </p:txBody>
      </p:sp>
      <p:sp>
        <p:nvSpPr>
          <p:cNvPr id="6" name="Text 4"/>
          <p:cNvSpPr txBox="1"/>
          <p:nvPr/>
        </p:nvSpPr>
        <p:spPr>
          <a:xfrm>
            <a:off x="1143000" y="1234440"/>
            <a:ext cx="4114800" cy="658368"/>
          </a:xfrm>
          <a:prstGeom prst="rect">
            <a:avLst/>
          </a:prstGeom>
          <a:noFill/>
          <a:ln/>
        </p:spPr>
        <p:txBody>
          <a:bodyPr wrap="square" lIns="0" tIns="0" rIns="0" bIns="0" rtlCol="0" anchor="ctr"/>
          <a:lstStyle/>
          <a:p>
            <a:pPr indent="0" marL="0">
              <a:buNone/>
            </a:pPr>
            <a:r>
              <a:rPr lang="en-US" sz="1500" dirty="0">
                <a:solidFill>
                  <a:schemeClr val="accent5"/>
                </a:solidFill>
              </a:rPr>
              <a:t>Model testing and certification</a:t>
            </a:r>
            <a:endParaRPr lang="en-US" sz="1500" dirty="0"/>
          </a:p>
        </p:txBody>
      </p:sp>
      <p:sp>
        <p:nvSpPr>
          <p:cNvPr id="7" name="layer 2"/>
          <p:cNvSpPr/>
          <p:nvPr/>
        </p:nvSpPr>
        <p:spPr>
          <a:xfrm>
            <a:off x="457200" y="2020824"/>
            <a:ext cx="4937760" cy="658368"/>
          </a:xfrm>
          <a:prstGeom prst="roundRect">
            <a:avLst>
              <a:gd name="adj" fmla="val 13889"/>
            </a:avLst>
          </a:prstGeom>
          <a:solidFill>
            <a:schemeClr val="bg2"/>
          </a:solidFill>
          <a:ln/>
        </p:spPr>
      </p:sp>
      <p:sp>
        <p:nvSpPr>
          <p:cNvPr id="8" name="Shape 6"/>
          <p:cNvSpPr/>
          <p:nvPr/>
        </p:nvSpPr>
        <p:spPr>
          <a:xfrm>
            <a:off x="594360" y="2148840"/>
            <a:ext cx="402336" cy="402336"/>
          </a:xfrm>
          <a:prstGeom prst="ellipse">
            <a:avLst/>
          </a:prstGeom>
          <a:solidFill>
            <a:schemeClr val="bg1"/>
          </a:solidFill>
          <a:ln/>
        </p:spPr>
      </p:sp>
      <p:sp>
        <p:nvSpPr>
          <p:cNvPr id="9" name="Text 7"/>
          <p:cNvSpPr txBox="1"/>
          <p:nvPr/>
        </p:nvSpPr>
        <p:spPr>
          <a:xfrm>
            <a:off x="594360" y="2148840"/>
            <a:ext cx="402336" cy="402336"/>
          </a:xfrm>
          <a:prstGeom prst="rect">
            <a:avLst/>
          </a:prstGeom>
          <a:noFill/>
          <a:ln/>
        </p:spPr>
        <p:txBody>
          <a:bodyPr wrap="square" lIns="0" tIns="0" rIns="0" bIns="0" rtlCol="0" anchor="ctr"/>
          <a:lstStyle/>
          <a:p>
            <a:pPr algn="ctr" indent="0" marL="0">
              <a:buNone/>
            </a:pPr>
            <a:r>
              <a:rPr lang="en-US" sz="1500" b="1" dirty="0">
                <a:solidFill>
                  <a:schemeClr val="accent5"/>
                </a:solidFill>
              </a:rPr>
              <a:t>2</a:t>
            </a:r>
            <a:endParaRPr lang="en-US" sz="1500" dirty="0"/>
          </a:p>
        </p:txBody>
      </p:sp>
      <p:sp>
        <p:nvSpPr>
          <p:cNvPr id="10" name="Text 8"/>
          <p:cNvSpPr txBox="1"/>
          <p:nvPr/>
        </p:nvSpPr>
        <p:spPr>
          <a:xfrm>
            <a:off x="1143000" y="2020824"/>
            <a:ext cx="4114800" cy="658368"/>
          </a:xfrm>
          <a:prstGeom prst="rect">
            <a:avLst/>
          </a:prstGeom>
          <a:noFill/>
          <a:ln/>
        </p:spPr>
        <p:txBody>
          <a:bodyPr wrap="square" lIns="0" tIns="0" rIns="0" bIns="0" rtlCol="0" anchor="ctr"/>
          <a:lstStyle/>
          <a:p>
            <a:pPr indent="0" marL="0">
              <a:buNone/>
            </a:pPr>
            <a:r>
              <a:rPr lang="en-US" sz="1500" dirty="0">
                <a:solidFill>
                  <a:schemeClr val="accent5"/>
                </a:solidFill>
              </a:rPr>
              <a:t>Secure inference environments</a:t>
            </a:r>
            <a:endParaRPr lang="en-US" sz="1500" dirty="0"/>
          </a:p>
        </p:txBody>
      </p:sp>
      <p:sp>
        <p:nvSpPr>
          <p:cNvPr id="11" name="layer 3"/>
          <p:cNvSpPr/>
          <p:nvPr/>
        </p:nvSpPr>
        <p:spPr>
          <a:xfrm>
            <a:off x="457200" y="2807208"/>
            <a:ext cx="4937760" cy="658368"/>
          </a:xfrm>
          <a:prstGeom prst="roundRect">
            <a:avLst>
              <a:gd name="adj" fmla="val 13889"/>
            </a:avLst>
          </a:prstGeom>
          <a:solidFill>
            <a:schemeClr val="tx1"/>
          </a:solidFill>
          <a:ln/>
        </p:spPr>
      </p:sp>
      <p:sp>
        <p:nvSpPr>
          <p:cNvPr id="12" name="Shape 10"/>
          <p:cNvSpPr/>
          <p:nvPr/>
        </p:nvSpPr>
        <p:spPr>
          <a:xfrm>
            <a:off x="594360" y="2935224"/>
            <a:ext cx="402336" cy="402336"/>
          </a:xfrm>
          <a:prstGeom prst="ellipse">
            <a:avLst/>
          </a:prstGeom>
          <a:solidFill>
            <a:schemeClr val="accent1"/>
          </a:solidFill>
          <a:ln/>
        </p:spPr>
      </p:sp>
      <p:sp>
        <p:nvSpPr>
          <p:cNvPr id="13" name="Text 11"/>
          <p:cNvSpPr txBox="1"/>
          <p:nvPr/>
        </p:nvSpPr>
        <p:spPr>
          <a:xfrm>
            <a:off x="594360" y="2935224"/>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4" name="Text 12"/>
          <p:cNvSpPr txBox="1"/>
          <p:nvPr/>
        </p:nvSpPr>
        <p:spPr>
          <a:xfrm>
            <a:off x="1143000" y="2807208"/>
            <a:ext cx="2743200" cy="658368"/>
          </a:xfrm>
          <a:prstGeom prst="rect">
            <a:avLst/>
          </a:prstGeom>
          <a:noFill/>
          <a:ln/>
        </p:spPr>
        <p:txBody>
          <a:bodyPr wrap="square" lIns="0" tIns="0" rIns="0" bIns="0" rtlCol="0" anchor="ctr"/>
          <a:lstStyle/>
          <a:p>
            <a:pPr indent="0" marL="0">
              <a:buNone/>
            </a:pPr>
            <a:r>
              <a:rPr lang="en-US" sz="1500" b="1" dirty="0">
                <a:solidFill>
                  <a:schemeClr val="bg1"/>
                </a:solidFill>
              </a:rPr>
              <a:t>Tightly monitored agent permissions</a:t>
            </a:r>
            <a:endParaRPr lang="en-US" sz="1500" dirty="0"/>
          </a:p>
        </p:txBody>
      </p:sp>
      <p:sp>
        <p:nvSpPr>
          <p:cNvPr id="15" name="Text 13"/>
          <p:cNvSpPr txBox="1"/>
          <p:nvPr/>
        </p:nvSpPr>
        <p:spPr>
          <a:xfrm>
            <a:off x="3977640" y="2999232"/>
            <a:ext cx="1280160" cy="274320"/>
          </a:xfrm>
          <a:prstGeom prst="rect">
            <a:avLst/>
          </a:prstGeom>
          <a:noFill/>
          <a:ln/>
        </p:spPr>
        <p:txBody>
          <a:bodyPr wrap="square" lIns="0" tIns="0" rIns="0" bIns="0" rtlCol="0" anchor="ctr"/>
          <a:lstStyle/>
          <a:p>
            <a:pPr algn="r" indent="0" marL="0">
              <a:buNone/>
            </a:pPr>
            <a:r>
              <a:rPr lang="en-US" sz="1000" b="1" spc="200" kern="0" dirty="0">
                <a:solidFill>
                  <a:schemeClr val="accent1"/>
                </a:solidFill>
              </a:rPr>
              <a:t>FLOW GUARD</a:t>
            </a:r>
            <a:endParaRPr lang="en-US" sz="1000" dirty="0"/>
          </a:p>
        </p:txBody>
      </p:sp>
      <p:sp>
        <p:nvSpPr>
          <p:cNvPr id="16" name="layer 4"/>
          <p:cNvSpPr/>
          <p:nvPr/>
        </p:nvSpPr>
        <p:spPr>
          <a:xfrm>
            <a:off x="457200" y="3593592"/>
            <a:ext cx="4937760" cy="658368"/>
          </a:xfrm>
          <a:prstGeom prst="roundRect">
            <a:avLst>
              <a:gd name="adj" fmla="val 13889"/>
            </a:avLst>
          </a:prstGeom>
          <a:solidFill>
            <a:schemeClr val="tx1"/>
          </a:solidFill>
          <a:ln/>
        </p:spPr>
      </p:sp>
      <p:sp>
        <p:nvSpPr>
          <p:cNvPr id="17" name="Shape 15"/>
          <p:cNvSpPr/>
          <p:nvPr/>
        </p:nvSpPr>
        <p:spPr>
          <a:xfrm>
            <a:off x="594360" y="3721608"/>
            <a:ext cx="402336" cy="402336"/>
          </a:xfrm>
          <a:prstGeom prst="ellipse">
            <a:avLst/>
          </a:prstGeom>
          <a:solidFill>
            <a:schemeClr val="accent1"/>
          </a:solidFill>
          <a:ln/>
        </p:spPr>
      </p:sp>
      <p:sp>
        <p:nvSpPr>
          <p:cNvPr id="18" name="Text 16"/>
          <p:cNvSpPr txBox="1"/>
          <p:nvPr/>
        </p:nvSpPr>
        <p:spPr>
          <a:xfrm>
            <a:off x="594360" y="3721608"/>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19" name="Text 17"/>
          <p:cNvSpPr txBox="1"/>
          <p:nvPr/>
        </p:nvSpPr>
        <p:spPr>
          <a:xfrm>
            <a:off x="1143000" y="3593592"/>
            <a:ext cx="2743200" cy="658368"/>
          </a:xfrm>
          <a:prstGeom prst="rect">
            <a:avLst/>
          </a:prstGeom>
          <a:noFill/>
          <a:ln/>
        </p:spPr>
        <p:txBody>
          <a:bodyPr wrap="square" lIns="0" tIns="0" rIns="0" bIns="0" rtlCol="0" anchor="ctr"/>
          <a:lstStyle/>
          <a:p>
            <a:pPr indent="0" marL="0">
              <a:buNone/>
            </a:pPr>
            <a:r>
              <a:rPr lang="en-US" sz="1500" b="1" dirty="0">
                <a:solidFill>
                  <a:schemeClr val="bg1"/>
                </a:solidFill>
              </a:rPr>
              <a:t>Controlled access to enterprise data</a:t>
            </a:r>
            <a:endParaRPr lang="en-US" sz="1500" dirty="0"/>
          </a:p>
        </p:txBody>
      </p:sp>
      <p:sp>
        <p:nvSpPr>
          <p:cNvPr id="20" name="Text 18"/>
          <p:cNvSpPr txBox="1"/>
          <p:nvPr/>
        </p:nvSpPr>
        <p:spPr>
          <a:xfrm>
            <a:off x="3977640" y="3785616"/>
            <a:ext cx="1280160" cy="274320"/>
          </a:xfrm>
          <a:prstGeom prst="rect">
            <a:avLst/>
          </a:prstGeom>
          <a:noFill/>
          <a:ln/>
        </p:spPr>
        <p:txBody>
          <a:bodyPr wrap="square" lIns="0" tIns="0" rIns="0" bIns="0" rtlCol="0" anchor="ctr"/>
          <a:lstStyle/>
          <a:p>
            <a:pPr algn="r" indent="0" marL="0">
              <a:buNone/>
            </a:pPr>
            <a:r>
              <a:rPr lang="en-US" sz="1000" b="1" spc="200" kern="0" dirty="0">
                <a:solidFill>
                  <a:schemeClr val="accent1"/>
                </a:solidFill>
              </a:rPr>
              <a:t>FLOW GUARD</a:t>
            </a:r>
            <a:endParaRPr lang="en-US" sz="1000" dirty="0"/>
          </a:p>
        </p:txBody>
      </p:sp>
      <p:sp>
        <p:nvSpPr>
          <p:cNvPr id="21" name="zero trust card"/>
          <p:cNvSpPr/>
          <p:nvPr/>
        </p:nvSpPr>
        <p:spPr>
          <a:xfrm>
            <a:off x="5760720" y="1234440"/>
            <a:ext cx="2926080" cy="3017520"/>
          </a:xfrm>
          <a:prstGeom prst="roundRect">
            <a:avLst>
              <a:gd name="adj" fmla="val 3750"/>
            </a:avLst>
          </a:prstGeom>
          <a:solidFill>
            <a:schemeClr val="bg2"/>
          </a:solidFill>
          <a:ln/>
        </p:spPr>
      </p:sp>
      <p:sp>
        <p:nvSpPr>
          <p:cNvPr id="22" name="Shape 20"/>
          <p:cNvSpPr/>
          <p:nvPr/>
        </p:nvSpPr>
        <p:spPr>
          <a:xfrm>
            <a:off x="5989320" y="1463040"/>
            <a:ext cx="548640" cy="548640"/>
          </a:xfrm>
          <a:prstGeom prst="ellipse">
            <a:avLst/>
          </a:prstGeom>
          <a:solidFill>
            <a:schemeClr val="tx1"/>
          </a:solidFill>
          <a:ln/>
        </p:spPr>
      </p:sp>
      <p:pic>
        <p:nvPicPr>
          <p:cNvPr id="23" name="Image 0" descr="preencoded.png">    </p:cNvPr>
          <p:cNvPicPr>
            <a:picLocks noChangeAspect="1"/>
          </p:cNvPicPr>
          <p:nvPr/>
        </p:nvPicPr>
        <p:blipFill>
          <a:blip r:embed="rId1"/>
          <a:stretch>
            <a:fillRect/>
          </a:stretch>
        </p:blipFill>
        <p:spPr>
          <a:xfrm>
            <a:off x="6126480" y="1600200"/>
            <a:ext cx="274320" cy="274320"/>
          </a:xfrm>
          <a:prstGeom prst="rect">
            <a:avLst/>
          </a:prstGeom>
        </p:spPr>
      </p:pic>
      <p:sp>
        <p:nvSpPr>
          <p:cNvPr id="24" name="Text 21"/>
          <p:cNvSpPr txBox="1"/>
          <p:nvPr/>
        </p:nvSpPr>
        <p:spPr>
          <a:xfrm>
            <a:off x="5989320" y="2148840"/>
            <a:ext cx="256032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Zero trust</a:t>
            </a:r>
            <a:endParaRPr lang="en-US" sz="2000" dirty="0"/>
          </a:p>
        </p:txBody>
      </p:sp>
      <p:sp>
        <p:nvSpPr>
          <p:cNvPr id="25" name="Text 22"/>
          <p:cNvSpPr txBox="1"/>
          <p:nvPr/>
        </p:nvSpPr>
        <p:spPr>
          <a:xfrm>
            <a:off x="5989320" y="2514600"/>
            <a:ext cx="2514600" cy="640080"/>
          </a:xfrm>
          <a:prstGeom prst="rect">
            <a:avLst/>
          </a:prstGeom>
          <a:noFill/>
          <a:ln/>
        </p:spPr>
        <p:txBody>
          <a:bodyPr wrap="square" lIns="0" tIns="0" rIns="0" bIns="0" rtlCol="0" anchor="t"/>
          <a:lstStyle/>
          <a:p>
            <a:pPr indent="0" marL="0">
              <a:buNone/>
            </a:pPr>
            <a:r>
              <a:rPr lang="en-US" sz="1500" dirty="0">
                <a:solidFill>
                  <a:schemeClr val="tx2"/>
                </a:solidFill>
              </a:rPr>
              <a:t>Assume the model may be compromised.</a:t>
            </a:r>
            <a:endParaRPr lang="en-US" sz="1500" dirty="0"/>
          </a:p>
        </p:txBody>
      </p:sp>
      <p:sp>
        <p:nvSpPr>
          <p:cNvPr id="26" name="Text 23"/>
          <p:cNvSpPr txBox="1"/>
          <p:nvPr/>
        </p:nvSpPr>
        <p:spPr>
          <a:xfrm>
            <a:off x="5989320" y="3200400"/>
            <a:ext cx="2514600" cy="640080"/>
          </a:xfrm>
          <a:prstGeom prst="rect">
            <a:avLst/>
          </a:prstGeom>
          <a:noFill/>
          <a:ln/>
        </p:spPr>
        <p:txBody>
          <a:bodyPr wrap="square" lIns="0" tIns="0" rIns="0" bIns="0" rtlCol="0" anchor="t"/>
          <a:lstStyle/>
          <a:p>
            <a:pPr indent="0" marL="0">
              <a:buNone/>
            </a:pPr>
            <a:r>
              <a:rPr lang="en-US" sz="1500" b="1" dirty="0">
                <a:solidFill>
                  <a:schemeClr val="tx1"/>
                </a:solidFill>
              </a:rPr>
              <a:t>We extend what Goldman runs. We replace nothing.</a:t>
            </a:r>
            <a:endParaRPr lang="en-US" sz="1500" dirty="0"/>
          </a:p>
        </p:txBody>
      </p:sp>
      <p:sp>
        <p:nvSpPr>
          <p:cNvPr id="27" name="Text 24"/>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Goldman Sachs CIO's agent-security framing; see docs/goldman-context.md</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Don't trust the agent. Trust the flow</a:t>
            </a:r>
            <a:endParaRPr lang="en-US" sz="2800" dirty="0"/>
          </a:p>
        </p:txBody>
      </p:sp>
      <p:sp>
        <p:nvSpPr>
          <p:cNvPr id="3" name="Text 1"/>
          <p:cNvSpPr txBox="1"/>
          <p:nvPr/>
        </p:nvSpPr>
        <p:spPr>
          <a:xfrm>
            <a:off x="457200" y="1965960"/>
            <a:ext cx="1828800" cy="228600"/>
          </a:xfrm>
          <a:prstGeom prst="rect">
            <a:avLst/>
          </a:prstGeom>
          <a:noFill/>
          <a:ln/>
        </p:spPr>
        <p:txBody>
          <a:bodyPr wrap="square" lIns="0" tIns="0" rIns="0" bIns="0" rtlCol="0" anchor="ctr"/>
          <a:lstStyle/>
          <a:p>
            <a:pPr algn="ctr" indent="0" marL="0">
              <a:buNone/>
            </a:pPr>
            <a:r>
              <a:rPr lang="en-US" sz="1000" b="1" spc="200" kern="0" dirty="0">
                <a:solidFill>
                  <a:schemeClr val="accent5"/>
                </a:solidFill>
              </a:rPr>
              <a:t>CLIENT DOCUMENT</a:t>
            </a:r>
            <a:endParaRPr lang="en-US" sz="1000" dirty="0"/>
          </a:p>
        </p:txBody>
      </p:sp>
      <p:sp>
        <p:nvSpPr>
          <p:cNvPr id="4" name="pill C01X00T47"/>
          <p:cNvSpPr/>
          <p:nvPr/>
        </p:nvSpPr>
        <p:spPr>
          <a:xfrm>
            <a:off x="457200" y="2240280"/>
            <a:ext cx="1828800" cy="457200"/>
          </a:xfrm>
          <a:prstGeom prst="roundRect">
            <a:avLst>
              <a:gd name="adj" fmla="val 50000"/>
            </a:avLst>
          </a:prstGeom>
          <a:solidFill>
            <a:schemeClr val="tx1"/>
          </a:solidFill>
          <a:ln w="22225">
            <a:solidFill>
              <a:schemeClr val="accent3"/>
            </a:solidFill>
            <a:prstDash val="solid"/>
          </a:ln>
        </p:spPr>
      </p:sp>
      <p:sp>
        <p:nvSpPr>
          <p:cNvPr id="5" name="Text 3"/>
          <p:cNvSpPr txBox="1"/>
          <p:nvPr/>
        </p:nvSpPr>
        <p:spPr>
          <a:xfrm>
            <a:off x="457200" y="2240280"/>
            <a:ext cx="1828800" cy="457200"/>
          </a:xfrm>
          <a:prstGeom prst="rect">
            <a:avLst/>
          </a:prstGeom>
          <a:noFill/>
          <a:ln/>
        </p:spPr>
        <p:txBody>
          <a:bodyPr wrap="square" lIns="0" tIns="0" rIns="0" bIns="0" rtlCol="0" anchor="ctr"/>
          <a:lstStyle/>
          <a:p>
            <a:pPr algn="ctr" indent="0" marL="0">
              <a:buNone/>
            </a:pPr>
            <a:r>
              <a:rPr lang="en-US" sz="1300" b="1" dirty="0">
                <a:solidFill>
                  <a:schemeClr val="accent3"/>
                </a:solidFill>
                <a:latin typeface="Courier New" pitchFamily="34" charset="0"/>
                <a:ea typeface="Courier New" pitchFamily="34" charset="-122"/>
                <a:cs typeface="Courier New" pitchFamily="34" charset="-120"/>
              </a:rPr>
              <a:t>C01X00T47</a:t>
            </a:r>
            <a:endParaRPr lang="en-US" sz="1300" dirty="0"/>
          </a:p>
        </p:txBody>
      </p:sp>
      <p:sp>
        <p:nvSpPr>
          <p:cNvPr id="6" name="Shape 4"/>
          <p:cNvSpPr/>
          <p:nvPr/>
        </p:nvSpPr>
        <p:spPr>
          <a:xfrm>
            <a:off x="2331720" y="2468880"/>
            <a:ext cx="365760" cy="914"/>
          </a:xfrm>
          <a:prstGeom prst="line">
            <a:avLst/>
          </a:prstGeom>
          <a:noFill/>
          <a:ln w="22225">
            <a:solidFill>
              <a:schemeClr val="accent5"/>
            </a:solidFill>
            <a:prstDash val="solid"/>
            <a:tailEnd type="triangle"/>
          </a:ln>
        </p:spPr>
      </p:sp>
      <p:sp>
        <p:nvSpPr>
          <p:cNvPr id="7" name="Shape 5"/>
          <p:cNvSpPr/>
          <p:nvPr/>
        </p:nvSpPr>
        <p:spPr>
          <a:xfrm>
            <a:off x="2743200" y="2057400"/>
            <a:ext cx="822960" cy="822960"/>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2948940" y="2263140"/>
            <a:ext cx="411480" cy="411480"/>
          </a:xfrm>
          <a:prstGeom prst="rect">
            <a:avLst/>
          </a:prstGeom>
        </p:spPr>
      </p:pic>
      <p:sp>
        <p:nvSpPr>
          <p:cNvPr id="9" name="Shape 6"/>
          <p:cNvSpPr/>
          <p:nvPr/>
        </p:nvSpPr>
        <p:spPr>
          <a:xfrm>
            <a:off x="3611880" y="2468880"/>
            <a:ext cx="365760" cy="914"/>
          </a:xfrm>
          <a:prstGeom prst="line">
            <a:avLst/>
          </a:prstGeom>
          <a:noFill/>
          <a:ln w="22225">
            <a:solidFill>
              <a:schemeClr val="accent5"/>
            </a:solidFill>
            <a:prstDash val="solid"/>
            <a:tailEnd type="triangle"/>
          </a:ln>
        </p:spPr>
      </p:sp>
      <p:sp>
        <p:nvSpPr>
          <p:cNvPr id="10" name="Text 7"/>
          <p:cNvSpPr txBox="1"/>
          <p:nvPr/>
        </p:nvSpPr>
        <p:spPr>
          <a:xfrm>
            <a:off x="4023360" y="1965960"/>
            <a:ext cx="2468880" cy="228600"/>
          </a:xfrm>
          <a:prstGeom prst="rect">
            <a:avLst/>
          </a:prstGeom>
          <a:noFill/>
          <a:ln/>
        </p:spPr>
        <p:txBody>
          <a:bodyPr wrap="square" lIns="0" tIns="0" rIns="0" bIns="0" rtlCol="0" anchor="ctr"/>
          <a:lstStyle/>
          <a:p>
            <a:pPr algn="ctr" indent="0" marL="0">
              <a:buNone/>
            </a:pPr>
            <a:r>
              <a:rPr lang="en-US" sz="1000" b="1" spc="200" kern="0" dirty="0">
                <a:solidFill>
                  <a:schemeClr val="accent5"/>
                </a:solidFill>
              </a:rPr>
              <a:t>WHAT THE MODEL SEES</a:t>
            </a:r>
            <a:endParaRPr lang="en-US" sz="1000" dirty="0"/>
          </a:p>
        </p:txBody>
      </p:sp>
      <p:sp>
        <p:nvSpPr>
          <p:cNvPr id="11" name="pill [[PASSPORT#7c21e4]]"/>
          <p:cNvSpPr/>
          <p:nvPr/>
        </p:nvSpPr>
        <p:spPr>
          <a:xfrm>
            <a:off x="4023360" y="2240280"/>
            <a:ext cx="2468880" cy="457200"/>
          </a:xfrm>
          <a:prstGeom prst="roundRect">
            <a:avLst>
              <a:gd name="adj" fmla="val 50000"/>
            </a:avLst>
          </a:prstGeom>
          <a:solidFill>
            <a:schemeClr val="tx1"/>
          </a:solidFill>
          <a:ln w="22225">
            <a:solidFill>
              <a:schemeClr val="accent1"/>
            </a:solidFill>
            <a:prstDash val="solid"/>
          </a:ln>
        </p:spPr>
      </p:sp>
      <p:sp>
        <p:nvSpPr>
          <p:cNvPr id="12" name="Text 9"/>
          <p:cNvSpPr txBox="1"/>
          <p:nvPr/>
        </p:nvSpPr>
        <p:spPr>
          <a:xfrm>
            <a:off x="4023360" y="2240280"/>
            <a:ext cx="246888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[[PASSPORT#7c21e4]]</a:t>
            </a:r>
            <a:endParaRPr lang="en-US" sz="1300" dirty="0"/>
          </a:p>
        </p:txBody>
      </p:sp>
      <p:sp>
        <p:nvSpPr>
          <p:cNvPr id="13" name="Shape 10"/>
          <p:cNvSpPr/>
          <p:nvPr/>
        </p:nvSpPr>
        <p:spPr>
          <a:xfrm flipV="1">
            <a:off x="6537960" y="1691640"/>
            <a:ext cx="320040" cy="685800"/>
          </a:xfrm>
          <a:prstGeom prst="line">
            <a:avLst/>
          </a:prstGeom>
          <a:noFill/>
          <a:ln w="22225">
            <a:solidFill>
              <a:schemeClr val="accent2"/>
            </a:solidFill>
            <a:prstDash val="solid"/>
            <a:tailEnd type="triangle"/>
          </a:ln>
        </p:spPr>
      </p:sp>
      <p:sp>
        <p:nvSpPr>
          <p:cNvPr id="14" name="Shape 11"/>
          <p:cNvSpPr/>
          <p:nvPr/>
        </p:nvSpPr>
        <p:spPr>
          <a:xfrm>
            <a:off x="6537960" y="2560320"/>
            <a:ext cx="320040" cy="685800"/>
          </a:xfrm>
          <a:prstGeom prst="line">
            <a:avLst/>
          </a:prstGeom>
          <a:noFill/>
          <a:ln w="22225">
            <a:solidFill>
              <a:schemeClr val="accent3"/>
            </a:solidFill>
            <a:prstDash val="solid"/>
            <a:tailEnd type="triangle"/>
          </a:ln>
        </p:spPr>
      </p:sp>
      <p:sp>
        <p:nvSpPr>
          <p:cNvPr id="15" name="pill screen_sanctions"/>
          <p:cNvSpPr/>
          <p:nvPr/>
        </p:nvSpPr>
        <p:spPr>
          <a:xfrm>
            <a:off x="6858000" y="1234440"/>
            <a:ext cx="1828800" cy="457200"/>
          </a:xfrm>
          <a:prstGeom prst="roundRect">
            <a:avLst>
              <a:gd name="adj" fmla="val 50000"/>
            </a:avLst>
          </a:prstGeom>
          <a:solidFill>
            <a:schemeClr val="tx1"/>
          </a:solidFill>
          <a:ln w="22225">
            <a:solidFill>
              <a:schemeClr val="accent2"/>
            </a:solidFill>
            <a:prstDash val="solid"/>
          </a:ln>
        </p:spPr>
      </p:sp>
      <p:sp>
        <p:nvSpPr>
          <p:cNvPr id="16" name="Text 13"/>
          <p:cNvSpPr txBox="1"/>
          <p:nvPr/>
        </p:nvSpPr>
        <p:spPr>
          <a:xfrm>
            <a:off x="6858000" y="1234440"/>
            <a:ext cx="1828800" cy="457200"/>
          </a:xfrm>
          <a:prstGeom prst="rect">
            <a:avLst/>
          </a:prstGeom>
          <a:noFill/>
          <a:ln/>
        </p:spPr>
        <p:txBody>
          <a:bodyPr wrap="square" lIns="0" tIns="0" rIns="0" bIns="0" rtlCol="0" anchor="ctr"/>
          <a:lstStyle/>
          <a:p>
            <a:pPr algn="ctr" indent="0" marL="0">
              <a:buNone/>
            </a:pPr>
            <a:r>
              <a:rPr lang="en-US" sz="1300" b="1" dirty="0">
                <a:solidFill>
                  <a:schemeClr val="accent2"/>
                </a:solidFill>
                <a:latin typeface="Courier New" pitchFamily="34" charset="0"/>
                <a:ea typeface="Courier New" pitchFamily="34" charset="-122"/>
                <a:cs typeface="Courier New" pitchFamily="34" charset="-120"/>
              </a:rPr>
              <a:t>screen_sanctions</a:t>
            </a:r>
            <a:endParaRPr lang="en-US" sz="1300" dirty="0"/>
          </a:p>
        </p:txBody>
      </p:sp>
      <p:sp>
        <p:nvSpPr>
          <p:cNvPr id="17" name="Text 14"/>
          <p:cNvSpPr txBox="1"/>
          <p:nvPr/>
        </p:nvSpPr>
        <p:spPr>
          <a:xfrm>
            <a:off x="6858000" y="1737360"/>
            <a:ext cx="1828800" cy="274320"/>
          </a:xfrm>
          <a:prstGeom prst="rect">
            <a:avLst/>
          </a:prstGeom>
          <a:noFill/>
          <a:ln/>
        </p:spPr>
        <p:txBody>
          <a:bodyPr wrap="square" lIns="0" tIns="0" rIns="0" bIns="0" rtlCol="0" anchor="ctr"/>
          <a:lstStyle/>
          <a:p>
            <a:pPr algn="ctr" indent="0" marL="0">
              <a:buNone/>
            </a:pPr>
            <a:r>
              <a:rPr lang="en-US" sz="1200" dirty="0">
                <a:solidFill>
                  <a:schemeClr val="accent2"/>
                </a:solidFill>
              </a:rPr>
              <a:t>real value put back</a:t>
            </a:r>
            <a:endParaRPr lang="en-US" sz="1200" dirty="0"/>
          </a:p>
        </p:txBody>
      </p:sp>
      <p:sp>
        <p:nvSpPr>
          <p:cNvPr id="18" name="pill send_email"/>
          <p:cNvSpPr/>
          <p:nvPr/>
        </p:nvSpPr>
        <p:spPr>
          <a:xfrm>
            <a:off x="6858000" y="3017520"/>
            <a:ext cx="1828800" cy="457200"/>
          </a:xfrm>
          <a:prstGeom prst="roundRect">
            <a:avLst>
              <a:gd name="adj" fmla="val 50000"/>
            </a:avLst>
          </a:prstGeom>
          <a:solidFill>
            <a:schemeClr val="tx1"/>
          </a:solidFill>
          <a:ln w="22225">
            <a:solidFill>
              <a:schemeClr val="accent3"/>
            </a:solidFill>
            <a:prstDash val="solid"/>
          </a:ln>
        </p:spPr>
      </p:sp>
      <p:sp>
        <p:nvSpPr>
          <p:cNvPr id="19" name="Text 16"/>
          <p:cNvSpPr txBox="1"/>
          <p:nvPr/>
        </p:nvSpPr>
        <p:spPr>
          <a:xfrm>
            <a:off x="6858000" y="3017520"/>
            <a:ext cx="1828800" cy="457200"/>
          </a:xfrm>
          <a:prstGeom prst="rect">
            <a:avLst/>
          </a:prstGeom>
          <a:noFill/>
          <a:ln/>
        </p:spPr>
        <p:txBody>
          <a:bodyPr wrap="square" lIns="0" tIns="0" rIns="0" bIns="0" rtlCol="0" anchor="ctr"/>
          <a:lstStyle/>
          <a:p>
            <a:pPr algn="ctr" indent="0" marL="0">
              <a:buNone/>
            </a:pPr>
            <a:r>
              <a:rPr lang="en-US" sz="1300" b="1" dirty="0">
                <a:solidFill>
                  <a:schemeClr val="accent3"/>
                </a:solidFill>
                <a:latin typeface="Courier New" pitchFamily="34" charset="0"/>
                <a:ea typeface="Courier New" pitchFamily="34" charset="-122"/>
                <a:cs typeface="Courier New" pitchFamily="34" charset="-120"/>
              </a:rPr>
              <a:t>send_email</a:t>
            </a:r>
            <a:endParaRPr lang="en-US" sz="1300" dirty="0"/>
          </a:p>
        </p:txBody>
      </p:sp>
      <p:sp>
        <p:nvSpPr>
          <p:cNvPr id="20" name="Text 17"/>
          <p:cNvSpPr txBox="1"/>
          <p:nvPr/>
        </p:nvSpPr>
        <p:spPr>
          <a:xfrm>
            <a:off x="6858000" y="3520440"/>
            <a:ext cx="1828800" cy="274320"/>
          </a:xfrm>
          <a:prstGeom prst="rect">
            <a:avLst/>
          </a:prstGeom>
          <a:noFill/>
          <a:ln/>
        </p:spPr>
        <p:txBody>
          <a:bodyPr wrap="square" lIns="0" tIns="0" rIns="0" bIns="0" rtlCol="0" anchor="ctr"/>
          <a:lstStyle/>
          <a:p>
            <a:pPr algn="ctr" indent="0" marL="0">
              <a:buNone/>
            </a:pPr>
            <a:r>
              <a:rPr lang="en-US" sz="1200" dirty="0">
                <a:solidFill>
                  <a:schemeClr val="accent3"/>
                </a:solidFill>
              </a:rPr>
              <a:t>call dropped, logged</a:t>
            </a:r>
            <a:endParaRPr lang="en-US" sz="1200" dirty="0"/>
          </a:p>
        </p:txBody>
      </p:sp>
      <p:sp>
        <p:nvSpPr>
          <p:cNvPr id="21" name="Text 18"/>
          <p:cNvSpPr txBox="1"/>
          <p:nvPr/>
        </p:nvSpPr>
        <p:spPr>
          <a:xfrm>
            <a:off x="457200" y="4023360"/>
            <a:ext cx="8229600" cy="502920"/>
          </a:xfrm>
          <a:prstGeom prst="rect">
            <a:avLst/>
          </a:prstGeom>
          <a:noFill/>
          <a:ln/>
        </p:spPr>
        <p:txBody>
          <a:bodyPr wrap="square" lIns="0" tIns="0" rIns="0" bIns="0" rtlCol="0" anchor="ctr"/>
          <a:lstStyle/>
          <a:p>
            <a:pPr indent="0" marL="0">
              <a:buNone/>
            </a:pPr>
            <a:r>
              <a:rPr lang="en-US" sz="2200" b="1" i="1" dirty="0">
                <a:solidFill>
                  <a:schemeClr val="accent1"/>
                </a:solidFill>
                <a:latin typeface="Cambria" pitchFamily="34" charset="0"/>
                <a:ea typeface="Cambria" pitchFamily="34" charset="-122"/>
                <a:cs typeface="Cambria" pitchFamily="34" charset="-120"/>
              </a:rPr>
              <a:t>A fooled model has nothing to leak.</a:t>
            </a:r>
            <a:endParaRPr lang="en-US" sz="2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One engine, every door</a:t>
            </a:r>
            <a:endParaRPr lang="en-US" sz="2800" dirty="0"/>
          </a:p>
        </p:txBody>
      </p:sp>
      <p:sp>
        <p:nvSpPr>
          <p:cNvPr id="3" name="Text 1"/>
          <p:cNvSpPr txBox="1"/>
          <p:nvPr/>
        </p:nvSpPr>
        <p:spPr>
          <a:xfrm>
            <a:off x="457200" y="1097280"/>
            <a:ext cx="1645920" cy="228600"/>
          </a:xfrm>
          <a:prstGeom prst="rect">
            <a:avLst/>
          </a:prstGeom>
          <a:noFill/>
          <a:ln/>
        </p:spPr>
        <p:txBody>
          <a:bodyPr wrap="square" lIns="0" tIns="0" rIns="0" bIns="0" rtlCol="0" anchor="ctr"/>
          <a:lstStyle/>
          <a:p>
            <a:pPr algn="l" indent="0" marL="0">
              <a:buNone/>
            </a:pPr>
            <a:r>
              <a:rPr lang="en-US" sz="1000" b="1" spc="200" kern="0" dirty="0">
                <a:solidFill>
                  <a:schemeClr val="accent5"/>
                </a:solidFill>
              </a:rPr>
              <a:t>AGENTS</a:t>
            </a:r>
            <a:endParaRPr lang="en-US" sz="1000" dirty="0"/>
          </a:p>
        </p:txBody>
      </p:sp>
      <p:sp>
        <p:nvSpPr>
          <p:cNvPr id="4" name="agent Bank agents"/>
          <p:cNvSpPr/>
          <p:nvPr/>
        </p:nvSpPr>
        <p:spPr>
          <a:xfrm>
            <a:off x="457200" y="1371600"/>
            <a:ext cx="1645920" cy="685800"/>
          </a:xfrm>
          <a:prstGeom prst="roundRect">
            <a:avLst>
              <a:gd name="adj" fmla="val 13333"/>
            </a:avLst>
          </a:prstGeom>
          <a:solidFill>
            <a:schemeClr val="bg2"/>
          </a:solidFill>
          <a:ln/>
        </p:spPr>
      </p:sp>
      <p:sp>
        <p:nvSpPr>
          <p:cNvPr id="5" name="Shape 3"/>
          <p:cNvSpPr/>
          <p:nvPr/>
        </p:nvSpPr>
        <p:spPr>
          <a:xfrm>
            <a:off x="566928" y="1508760"/>
            <a:ext cx="411480" cy="411480"/>
          </a:xfrm>
          <a:prstGeom prst="ellipse">
            <a:avLst/>
          </a:prstGeom>
          <a:solidFill>
            <a:schemeClr val="tx2"/>
          </a:solidFill>
          <a:ln/>
        </p:spPr>
      </p:sp>
      <p:pic>
        <p:nvPicPr>
          <p:cNvPr id="6" name="Image 0" descr="preencoded.png">    </p:cNvPr>
          <p:cNvPicPr>
            <a:picLocks noChangeAspect="1"/>
          </p:cNvPicPr>
          <p:nvPr/>
        </p:nvPicPr>
        <p:blipFill>
          <a:blip r:embed="rId1"/>
          <a:stretch>
            <a:fillRect/>
          </a:stretch>
        </p:blipFill>
        <p:spPr>
          <a:xfrm>
            <a:off x="669798" y="1611630"/>
            <a:ext cx="205740" cy="205740"/>
          </a:xfrm>
          <a:prstGeom prst="rect">
            <a:avLst/>
          </a:prstGeom>
        </p:spPr>
      </p:pic>
      <p:sp>
        <p:nvSpPr>
          <p:cNvPr id="7" name="Text 4"/>
          <p:cNvSpPr txBox="1"/>
          <p:nvPr/>
        </p:nvSpPr>
        <p:spPr>
          <a:xfrm>
            <a:off x="1051560" y="1371600"/>
            <a:ext cx="1005840" cy="685800"/>
          </a:xfrm>
          <a:prstGeom prst="rect">
            <a:avLst/>
          </a:prstGeom>
          <a:noFill/>
          <a:ln/>
        </p:spPr>
        <p:txBody>
          <a:bodyPr wrap="square" lIns="0" tIns="0" rIns="0" bIns="0" rtlCol="0" anchor="ctr"/>
          <a:lstStyle/>
          <a:p>
            <a:pPr indent="0" marL="0">
              <a:buNone/>
            </a:pPr>
            <a:r>
              <a:rPr lang="en-US" sz="1400" b="1" dirty="0">
                <a:solidFill>
                  <a:schemeClr val="tx1"/>
                </a:solidFill>
              </a:rPr>
              <a:t>Bank agents</a:t>
            </a:r>
            <a:endParaRPr lang="en-US" sz="1400" dirty="0"/>
          </a:p>
        </p:txBody>
      </p:sp>
      <p:sp>
        <p:nvSpPr>
          <p:cNvPr id="8" name="Shape 5"/>
          <p:cNvSpPr/>
          <p:nvPr/>
        </p:nvSpPr>
        <p:spPr>
          <a:xfrm>
            <a:off x="2121408" y="1714500"/>
            <a:ext cx="329184" cy="914"/>
          </a:xfrm>
          <a:prstGeom prst="line">
            <a:avLst/>
          </a:prstGeom>
          <a:noFill/>
          <a:ln w="22225">
            <a:solidFill>
              <a:schemeClr val="accent5"/>
            </a:solidFill>
            <a:prstDash val="solid"/>
            <a:tailEnd type="triangle"/>
          </a:ln>
        </p:spPr>
      </p:sp>
      <p:sp>
        <p:nvSpPr>
          <p:cNvPr id="9" name="agent Claude Code"/>
          <p:cNvSpPr/>
          <p:nvPr/>
        </p:nvSpPr>
        <p:spPr>
          <a:xfrm>
            <a:off x="457200" y="2240280"/>
            <a:ext cx="1645920" cy="685800"/>
          </a:xfrm>
          <a:prstGeom prst="roundRect">
            <a:avLst>
              <a:gd name="adj" fmla="val 13333"/>
            </a:avLst>
          </a:prstGeom>
          <a:solidFill>
            <a:schemeClr val="bg2"/>
          </a:solidFill>
          <a:ln/>
        </p:spPr>
      </p:sp>
      <p:sp>
        <p:nvSpPr>
          <p:cNvPr id="10" name="Shape 7"/>
          <p:cNvSpPr/>
          <p:nvPr/>
        </p:nvSpPr>
        <p:spPr>
          <a:xfrm>
            <a:off x="566928" y="2377440"/>
            <a:ext cx="411480" cy="411480"/>
          </a:xfrm>
          <a:prstGeom prst="ellipse">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669798" y="2480310"/>
            <a:ext cx="205740" cy="205740"/>
          </a:xfrm>
          <a:prstGeom prst="rect">
            <a:avLst/>
          </a:prstGeom>
        </p:spPr>
      </p:pic>
      <p:sp>
        <p:nvSpPr>
          <p:cNvPr id="12" name="Text 8"/>
          <p:cNvSpPr txBox="1"/>
          <p:nvPr/>
        </p:nvSpPr>
        <p:spPr>
          <a:xfrm>
            <a:off x="1051560" y="2240280"/>
            <a:ext cx="1005840" cy="685800"/>
          </a:xfrm>
          <a:prstGeom prst="rect">
            <a:avLst/>
          </a:prstGeom>
          <a:noFill/>
          <a:ln/>
        </p:spPr>
        <p:txBody>
          <a:bodyPr wrap="square" lIns="0" tIns="0" rIns="0" bIns="0" rtlCol="0" anchor="ctr"/>
          <a:lstStyle/>
          <a:p>
            <a:pPr indent="0" marL="0">
              <a:buNone/>
            </a:pPr>
            <a:r>
              <a:rPr lang="en-US" sz="1400" b="1" dirty="0">
                <a:solidFill>
                  <a:schemeClr val="tx1"/>
                </a:solidFill>
              </a:rPr>
              <a:t>Claude Code</a:t>
            </a:r>
            <a:endParaRPr lang="en-US" sz="1400" dirty="0"/>
          </a:p>
        </p:txBody>
      </p:sp>
      <p:sp>
        <p:nvSpPr>
          <p:cNvPr id="13" name="Shape 9"/>
          <p:cNvSpPr/>
          <p:nvPr/>
        </p:nvSpPr>
        <p:spPr>
          <a:xfrm>
            <a:off x="2121408" y="2583180"/>
            <a:ext cx="329184" cy="914"/>
          </a:xfrm>
          <a:prstGeom prst="line">
            <a:avLst/>
          </a:prstGeom>
          <a:noFill/>
          <a:ln w="22225">
            <a:solidFill>
              <a:schemeClr val="accent5"/>
            </a:solidFill>
            <a:prstDash val="solid"/>
            <a:tailEnd type="triangle"/>
          </a:ln>
        </p:spPr>
      </p:sp>
      <p:sp>
        <p:nvSpPr>
          <p:cNvPr id="14" name="policy engine"/>
          <p:cNvSpPr/>
          <p:nvPr/>
        </p:nvSpPr>
        <p:spPr>
          <a:xfrm>
            <a:off x="2468880" y="1097280"/>
            <a:ext cx="4206240" cy="2148840"/>
          </a:xfrm>
          <a:prstGeom prst="roundRect">
            <a:avLst>
              <a:gd name="adj" fmla="val 5106"/>
            </a:avLst>
          </a:prstGeom>
          <a:solidFill>
            <a:schemeClr val="tx1"/>
          </a:solidFill>
          <a:ln/>
        </p:spPr>
      </p:sp>
      <p:sp>
        <p:nvSpPr>
          <p:cNvPr id="15" name="Text 11"/>
          <p:cNvSpPr txBox="1"/>
          <p:nvPr/>
        </p:nvSpPr>
        <p:spPr>
          <a:xfrm>
            <a:off x="2651760" y="1188720"/>
            <a:ext cx="384048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rPr>
              <a:t>FLOW GUARD  ·  ONE POLICY ENGINE</a:t>
            </a:r>
            <a:endParaRPr lang="en-US" sz="1000" dirty="0"/>
          </a:p>
        </p:txBody>
      </p:sp>
      <p:sp>
        <p:nvSpPr>
          <p:cNvPr id="16" name="pill OpenAI format"/>
          <p:cNvSpPr/>
          <p:nvPr/>
        </p:nvSpPr>
        <p:spPr>
          <a:xfrm>
            <a:off x="2651760" y="1508760"/>
            <a:ext cx="1828800" cy="347472"/>
          </a:xfrm>
          <a:prstGeom prst="roundRect">
            <a:avLst>
              <a:gd name="adj" fmla="val 65789"/>
            </a:avLst>
          </a:prstGeom>
          <a:solidFill>
            <a:schemeClr val="tx1"/>
          </a:solidFill>
          <a:ln w="22225">
            <a:solidFill>
              <a:schemeClr val="accent2"/>
            </a:solidFill>
            <a:prstDash val="solid"/>
          </a:ln>
        </p:spPr>
      </p:sp>
      <p:sp>
        <p:nvSpPr>
          <p:cNvPr id="17" name="Text 13"/>
          <p:cNvSpPr txBox="1"/>
          <p:nvPr/>
        </p:nvSpPr>
        <p:spPr>
          <a:xfrm>
            <a:off x="2651760" y="1508760"/>
            <a:ext cx="182880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OpenAI format</a:t>
            </a:r>
            <a:endParaRPr lang="en-US" sz="1200" dirty="0"/>
          </a:p>
        </p:txBody>
      </p:sp>
      <p:sp>
        <p:nvSpPr>
          <p:cNvPr id="18" name="pill Anthropic format"/>
          <p:cNvSpPr/>
          <p:nvPr/>
        </p:nvSpPr>
        <p:spPr>
          <a:xfrm>
            <a:off x="4663440" y="1508760"/>
            <a:ext cx="1828800" cy="347472"/>
          </a:xfrm>
          <a:prstGeom prst="roundRect">
            <a:avLst>
              <a:gd name="adj" fmla="val 65789"/>
            </a:avLst>
          </a:prstGeom>
          <a:solidFill>
            <a:schemeClr val="tx1"/>
          </a:solidFill>
          <a:ln w="22225">
            <a:solidFill>
              <a:schemeClr val="accent2"/>
            </a:solidFill>
            <a:prstDash val="solid"/>
          </a:ln>
        </p:spPr>
      </p:sp>
      <p:sp>
        <p:nvSpPr>
          <p:cNvPr id="19" name="Text 15"/>
          <p:cNvSpPr txBox="1"/>
          <p:nvPr/>
        </p:nvSpPr>
        <p:spPr>
          <a:xfrm>
            <a:off x="4663440" y="1508760"/>
            <a:ext cx="182880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Anthropic format</a:t>
            </a:r>
            <a:endParaRPr lang="en-US" sz="1200" dirty="0"/>
          </a:p>
        </p:txBody>
      </p:sp>
      <p:sp>
        <p:nvSpPr>
          <p:cNvPr id="20" name="question WHO"/>
          <p:cNvSpPr/>
          <p:nvPr/>
        </p:nvSpPr>
        <p:spPr>
          <a:xfrm>
            <a:off x="2651760" y="2011680"/>
            <a:ext cx="1225296" cy="1051560"/>
          </a:xfrm>
          <a:prstGeom prst="roundRect">
            <a:avLst>
              <a:gd name="adj" fmla="val 6957"/>
            </a:avLst>
          </a:prstGeom>
          <a:solidFill>
            <a:schemeClr val="tx2"/>
          </a:solidFill>
          <a:ln/>
        </p:spPr>
      </p:sp>
      <p:sp>
        <p:nvSpPr>
          <p:cNvPr id="21" name="Text 17"/>
          <p:cNvSpPr txBox="1"/>
          <p:nvPr/>
        </p:nvSpPr>
        <p:spPr>
          <a:xfrm>
            <a:off x="2724912" y="2075688"/>
            <a:ext cx="1078992" cy="320040"/>
          </a:xfrm>
          <a:prstGeom prst="rect">
            <a:avLst/>
          </a:prstGeom>
          <a:noFill/>
          <a:ln/>
        </p:spPr>
        <p:txBody>
          <a:bodyPr wrap="square" lIns="0" tIns="0" rIns="0" bIns="0" rtlCol="0" anchor="ctr"/>
          <a:lstStyle/>
          <a:p>
            <a:pPr algn="ctr" indent="0" marL="0">
              <a:buNone/>
            </a:pPr>
            <a:r>
              <a:rPr lang="en-US" sz="1300" b="1" dirty="0">
                <a:solidFill>
                  <a:schemeClr val="accent1"/>
                </a:solidFill>
              </a:rPr>
              <a:t>WHO</a:t>
            </a:r>
            <a:endParaRPr lang="en-US" sz="1300" dirty="0"/>
          </a:p>
        </p:txBody>
      </p:sp>
      <p:sp>
        <p:nvSpPr>
          <p:cNvPr id="22" name="Text 18"/>
          <p:cNvSpPr txBox="1"/>
          <p:nvPr/>
        </p:nvSpPr>
        <p:spPr>
          <a:xfrm>
            <a:off x="2724912" y="2395728"/>
            <a:ext cx="1078992" cy="594360"/>
          </a:xfrm>
          <a:prstGeom prst="rect">
            <a:avLst/>
          </a:prstGeom>
          <a:noFill/>
          <a:ln/>
        </p:spPr>
        <p:txBody>
          <a:bodyPr wrap="square" lIns="0" tIns="0" rIns="0" bIns="0" rtlCol="0" anchor="t"/>
          <a:lstStyle/>
          <a:p>
            <a:pPr algn="ctr" indent="0" marL="0">
              <a:buNone/>
            </a:pPr>
            <a:r>
              <a:rPr lang="en-US" sz="1000" dirty="0">
                <a:solidFill>
                  <a:schemeClr val="bg2"/>
                </a:solidFill>
              </a:rPr>
              <a:t>identity, purpose, scope</a:t>
            </a:r>
            <a:endParaRPr lang="en-US" sz="1000" dirty="0"/>
          </a:p>
        </p:txBody>
      </p:sp>
      <p:sp>
        <p:nvSpPr>
          <p:cNvPr id="23" name="question WHAT"/>
          <p:cNvSpPr/>
          <p:nvPr/>
        </p:nvSpPr>
        <p:spPr>
          <a:xfrm>
            <a:off x="3950208" y="2011680"/>
            <a:ext cx="1225296" cy="1051560"/>
          </a:xfrm>
          <a:prstGeom prst="roundRect">
            <a:avLst>
              <a:gd name="adj" fmla="val 6957"/>
            </a:avLst>
          </a:prstGeom>
          <a:solidFill>
            <a:schemeClr val="tx2"/>
          </a:solidFill>
          <a:ln/>
        </p:spPr>
      </p:sp>
      <p:sp>
        <p:nvSpPr>
          <p:cNvPr id="24" name="Text 20"/>
          <p:cNvSpPr txBox="1"/>
          <p:nvPr/>
        </p:nvSpPr>
        <p:spPr>
          <a:xfrm>
            <a:off x="4023360" y="2075688"/>
            <a:ext cx="1078992" cy="320040"/>
          </a:xfrm>
          <a:prstGeom prst="rect">
            <a:avLst/>
          </a:prstGeom>
          <a:noFill/>
          <a:ln/>
        </p:spPr>
        <p:txBody>
          <a:bodyPr wrap="square" lIns="0" tIns="0" rIns="0" bIns="0" rtlCol="0" anchor="ctr"/>
          <a:lstStyle/>
          <a:p>
            <a:pPr algn="ctr" indent="0" marL="0">
              <a:buNone/>
            </a:pPr>
            <a:r>
              <a:rPr lang="en-US" sz="1300" b="1" dirty="0">
                <a:solidFill>
                  <a:schemeClr val="accent1"/>
                </a:solidFill>
              </a:rPr>
              <a:t>WHAT</a:t>
            </a:r>
            <a:endParaRPr lang="en-US" sz="1300" dirty="0"/>
          </a:p>
        </p:txBody>
      </p:sp>
      <p:sp>
        <p:nvSpPr>
          <p:cNvPr id="25" name="Text 21"/>
          <p:cNvSpPr txBox="1"/>
          <p:nvPr/>
        </p:nvSpPr>
        <p:spPr>
          <a:xfrm>
            <a:off x="4023360" y="2395728"/>
            <a:ext cx="1078992" cy="594360"/>
          </a:xfrm>
          <a:prstGeom prst="rect">
            <a:avLst/>
          </a:prstGeom>
          <a:noFill/>
          <a:ln/>
        </p:spPr>
        <p:txBody>
          <a:bodyPr wrap="square" lIns="0" tIns="0" rIns="0" bIns="0" rtlCol="0" anchor="t"/>
          <a:lstStyle/>
          <a:p>
            <a:pPr algn="ctr" indent="0" marL="0">
              <a:buNone/>
            </a:pPr>
            <a:r>
              <a:rPr lang="en-US" sz="1000" dirty="0">
                <a:solidFill>
                  <a:schemeClr val="bg2"/>
                </a:solidFill>
              </a:rPr>
              <a:t>tokens, data class, barrier, flow</a:t>
            </a:r>
            <a:endParaRPr lang="en-US" sz="1000" dirty="0"/>
          </a:p>
        </p:txBody>
      </p:sp>
      <p:sp>
        <p:nvSpPr>
          <p:cNvPr id="26" name="question HOW MUCH"/>
          <p:cNvSpPr/>
          <p:nvPr/>
        </p:nvSpPr>
        <p:spPr>
          <a:xfrm>
            <a:off x="5248656" y="2011680"/>
            <a:ext cx="1225296" cy="1051560"/>
          </a:xfrm>
          <a:prstGeom prst="roundRect">
            <a:avLst>
              <a:gd name="adj" fmla="val 6957"/>
            </a:avLst>
          </a:prstGeom>
          <a:solidFill>
            <a:schemeClr val="tx2"/>
          </a:solidFill>
          <a:ln/>
        </p:spPr>
      </p:sp>
      <p:sp>
        <p:nvSpPr>
          <p:cNvPr id="27" name="Text 23"/>
          <p:cNvSpPr txBox="1"/>
          <p:nvPr/>
        </p:nvSpPr>
        <p:spPr>
          <a:xfrm>
            <a:off x="5321808" y="2075688"/>
            <a:ext cx="1078992" cy="320040"/>
          </a:xfrm>
          <a:prstGeom prst="rect">
            <a:avLst/>
          </a:prstGeom>
          <a:noFill/>
          <a:ln/>
        </p:spPr>
        <p:txBody>
          <a:bodyPr wrap="square" lIns="0" tIns="0" rIns="0" bIns="0" rtlCol="0" anchor="ctr"/>
          <a:lstStyle/>
          <a:p>
            <a:pPr algn="ctr" indent="0" marL="0">
              <a:buNone/>
            </a:pPr>
            <a:r>
              <a:rPr lang="en-US" sz="1300" b="1" dirty="0">
                <a:solidFill>
                  <a:schemeClr val="accent1"/>
                </a:solidFill>
              </a:rPr>
              <a:t>HOW MUCH</a:t>
            </a:r>
            <a:endParaRPr lang="en-US" sz="1300" dirty="0"/>
          </a:p>
        </p:txBody>
      </p:sp>
      <p:sp>
        <p:nvSpPr>
          <p:cNvPr id="28" name="Text 24"/>
          <p:cNvSpPr txBox="1"/>
          <p:nvPr/>
        </p:nvSpPr>
        <p:spPr>
          <a:xfrm>
            <a:off x="5321808" y="2395728"/>
            <a:ext cx="1078992" cy="594360"/>
          </a:xfrm>
          <a:prstGeom prst="rect">
            <a:avLst/>
          </a:prstGeom>
          <a:noFill/>
          <a:ln/>
        </p:spPr>
        <p:txBody>
          <a:bodyPr wrap="square" lIns="0" tIns="0" rIns="0" bIns="0" rtlCol="0" anchor="t"/>
          <a:lstStyle/>
          <a:p>
            <a:pPr algn="ctr" indent="0" marL="0">
              <a:buNone/>
            </a:pPr>
            <a:r>
              <a:rPr lang="en-US" sz="1000" dirty="0">
                <a:solidFill>
                  <a:schemeClr val="bg2"/>
                </a:solidFill>
              </a:rPr>
              <a:t>budgets, signatures, AI judge</a:t>
            </a:r>
            <a:endParaRPr lang="en-US" sz="1000" dirty="0"/>
          </a:p>
        </p:txBody>
      </p:sp>
      <p:sp>
        <p:nvSpPr>
          <p:cNvPr id="29" name="Text 25"/>
          <p:cNvSpPr txBox="1"/>
          <p:nvPr/>
        </p:nvSpPr>
        <p:spPr>
          <a:xfrm>
            <a:off x="7040880" y="1097280"/>
            <a:ext cx="1645920" cy="228600"/>
          </a:xfrm>
          <a:prstGeom prst="rect">
            <a:avLst/>
          </a:prstGeom>
          <a:noFill/>
          <a:ln/>
        </p:spPr>
        <p:txBody>
          <a:bodyPr wrap="square" lIns="0" tIns="0" rIns="0" bIns="0" rtlCol="0" anchor="ctr"/>
          <a:lstStyle/>
          <a:p>
            <a:pPr algn="l" indent="0" marL="0">
              <a:buNone/>
            </a:pPr>
            <a:r>
              <a:rPr lang="en-US" sz="1000" b="1" spc="200" kern="0" dirty="0">
                <a:solidFill>
                  <a:schemeClr val="accent5"/>
                </a:solidFill>
              </a:rPr>
              <a:t>WHAT LEAVES</a:t>
            </a:r>
            <a:endParaRPr lang="en-US" sz="1000" dirty="0"/>
          </a:p>
        </p:txBody>
      </p:sp>
      <p:sp>
        <p:nvSpPr>
          <p:cNvPr id="30" name="Shape 26"/>
          <p:cNvSpPr/>
          <p:nvPr/>
        </p:nvSpPr>
        <p:spPr>
          <a:xfrm>
            <a:off x="6693408" y="1714500"/>
            <a:ext cx="329184" cy="914"/>
          </a:xfrm>
          <a:prstGeom prst="line">
            <a:avLst/>
          </a:prstGeom>
          <a:noFill/>
          <a:ln w="22225">
            <a:solidFill>
              <a:schemeClr val="accent5"/>
            </a:solidFill>
            <a:prstDash val="solid"/>
            <a:tailEnd type="triangle"/>
          </a:ln>
        </p:spPr>
      </p:sp>
      <p:sp>
        <p:nvSpPr>
          <p:cNvPr id="31" name="sink Model vendors"/>
          <p:cNvSpPr/>
          <p:nvPr/>
        </p:nvSpPr>
        <p:spPr>
          <a:xfrm>
            <a:off x="7040880" y="1371600"/>
            <a:ext cx="1645920" cy="685800"/>
          </a:xfrm>
          <a:prstGeom prst="roundRect">
            <a:avLst>
              <a:gd name="adj" fmla="val 13333"/>
            </a:avLst>
          </a:prstGeom>
          <a:solidFill>
            <a:schemeClr val="bg2"/>
          </a:solidFill>
          <a:ln/>
        </p:spPr>
      </p:sp>
      <p:sp>
        <p:nvSpPr>
          <p:cNvPr id="32" name="Text 28"/>
          <p:cNvSpPr txBox="1"/>
          <p:nvPr/>
        </p:nvSpPr>
        <p:spPr>
          <a:xfrm>
            <a:off x="7150608" y="1426464"/>
            <a:ext cx="1508760" cy="301752"/>
          </a:xfrm>
          <a:prstGeom prst="rect">
            <a:avLst/>
          </a:prstGeom>
          <a:noFill/>
          <a:ln/>
        </p:spPr>
        <p:txBody>
          <a:bodyPr wrap="square" lIns="0" tIns="0" rIns="0" bIns="0" rtlCol="0" anchor="ctr"/>
          <a:lstStyle/>
          <a:p>
            <a:pPr indent="0" marL="0">
              <a:buNone/>
            </a:pPr>
            <a:r>
              <a:rPr lang="en-US" sz="1300" b="1" dirty="0">
                <a:solidFill>
                  <a:schemeClr val="tx1"/>
                </a:solidFill>
              </a:rPr>
              <a:t>Model vendors</a:t>
            </a:r>
            <a:endParaRPr lang="en-US" sz="1300" dirty="0"/>
          </a:p>
        </p:txBody>
      </p:sp>
      <p:sp>
        <p:nvSpPr>
          <p:cNvPr id="33" name="Text 29"/>
          <p:cNvSpPr txBox="1"/>
          <p:nvPr/>
        </p:nvSpPr>
        <p:spPr>
          <a:xfrm>
            <a:off x="7150608" y="1719072"/>
            <a:ext cx="1508760" cy="292608"/>
          </a:xfrm>
          <a:prstGeom prst="rect">
            <a:avLst/>
          </a:prstGeom>
          <a:noFill/>
          <a:ln/>
        </p:spPr>
        <p:txBody>
          <a:bodyPr wrap="square" lIns="0" tIns="0" rIns="0" bIns="0" rtlCol="0" anchor="ctr"/>
          <a:lstStyle/>
          <a:p>
            <a:pPr indent="0" marL="0">
              <a:buNone/>
            </a:pPr>
            <a:r>
              <a:rPr lang="en-US" sz="1000" dirty="0">
                <a:solidFill>
                  <a:schemeClr val="tx2"/>
                </a:solidFill>
              </a:rPr>
              <a:t>tokens only</a:t>
            </a:r>
            <a:endParaRPr lang="en-US" sz="1000" dirty="0"/>
          </a:p>
        </p:txBody>
      </p:sp>
      <p:sp>
        <p:nvSpPr>
          <p:cNvPr id="34" name="Shape 30"/>
          <p:cNvSpPr/>
          <p:nvPr/>
        </p:nvSpPr>
        <p:spPr>
          <a:xfrm>
            <a:off x="6693408" y="2583180"/>
            <a:ext cx="329184" cy="914"/>
          </a:xfrm>
          <a:prstGeom prst="line">
            <a:avLst/>
          </a:prstGeom>
          <a:noFill/>
          <a:ln w="22225">
            <a:solidFill>
              <a:schemeClr val="accent5"/>
            </a:solidFill>
            <a:prstDash val="solid"/>
            <a:tailEnd type="triangle"/>
          </a:ln>
        </p:spPr>
      </p:sp>
      <p:sp>
        <p:nvSpPr>
          <p:cNvPr id="35" name="sink Tools"/>
          <p:cNvSpPr/>
          <p:nvPr/>
        </p:nvSpPr>
        <p:spPr>
          <a:xfrm>
            <a:off x="7040880" y="2240280"/>
            <a:ext cx="1645920" cy="685800"/>
          </a:xfrm>
          <a:prstGeom prst="roundRect">
            <a:avLst>
              <a:gd name="adj" fmla="val 13333"/>
            </a:avLst>
          </a:prstGeom>
          <a:solidFill>
            <a:schemeClr val="bg2"/>
          </a:solidFill>
          <a:ln/>
        </p:spPr>
      </p:sp>
      <p:sp>
        <p:nvSpPr>
          <p:cNvPr id="36" name="Text 32"/>
          <p:cNvSpPr txBox="1"/>
          <p:nvPr/>
        </p:nvSpPr>
        <p:spPr>
          <a:xfrm>
            <a:off x="7150608" y="2295144"/>
            <a:ext cx="1508760" cy="301752"/>
          </a:xfrm>
          <a:prstGeom prst="rect">
            <a:avLst/>
          </a:prstGeom>
          <a:noFill/>
          <a:ln/>
        </p:spPr>
        <p:txBody>
          <a:bodyPr wrap="square" lIns="0" tIns="0" rIns="0" bIns="0" rtlCol="0" anchor="ctr"/>
          <a:lstStyle/>
          <a:p>
            <a:pPr indent="0" marL="0">
              <a:buNone/>
            </a:pPr>
            <a:r>
              <a:rPr lang="en-US" sz="1300" b="1" dirty="0">
                <a:solidFill>
                  <a:schemeClr val="tx1"/>
                </a:solidFill>
              </a:rPr>
              <a:t>Tools</a:t>
            </a:r>
            <a:endParaRPr lang="en-US" sz="1300" dirty="0"/>
          </a:p>
        </p:txBody>
      </p:sp>
      <p:sp>
        <p:nvSpPr>
          <p:cNvPr id="37" name="Text 33"/>
          <p:cNvSpPr txBox="1"/>
          <p:nvPr/>
        </p:nvSpPr>
        <p:spPr>
          <a:xfrm>
            <a:off x="7150608" y="2587752"/>
            <a:ext cx="1508760" cy="292608"/>
          </a:xfrm>
          <a:prstGeom prst="rect">
            <a:avLst/>
          </a:prstGeom>
          <a:noFill/>
          <a:ln/>
        </p:spPr>
        <p:txBody>
          <a:bodyPr wrap="square" lIns="0" tIns="0" rIns="0" bIns="0" rtlCol="0" anchor="ctr"/>
          <a:lstStyle/>
          <a:p>
            <a:pPr indent="0" marL="0">
              <a:buNone/>
            </a:pPr>
            <a:r>
              <a:rPr lang="en-US" sz="1000" dirty="0">
                <a:solidFill>
                  <a:schemeClr val="tx2"/>
                </a:solidFill>
              </a:rPr>
              <a:t>real value only where allowed</a:t>
            </a:r>
            <a:endParaRPr lang="en-US" sz="1000" dirty="0"/>
          </a:p>
        </p:txBody>
      </p:sp>
      <p:sp>
        <p:nvSpPr>
          <p:cNvPr id="38" name="bottom policy.yaml"/>
          <p:cNvSpPr/>
          <p:nvPr/>
        </p:nvSpPr>
        <p:spPr>
          <a:xfrm>
            <a:off x="457200" y="3566160"/>
            <a:ext cx="1920240" cy="731520"/>
          </a:xfrm>
          <a:prstGeom prst="roundRect">
            <a:avLst>
              <a:gd name="adj" fmla="val 12500"/>
            </a:avLst>
          </a:prstGeom>
          <a:solidFill>
            <a:schemeClr val="bg2"/>
          </a:solidFill>
          <a:ln/>
        </p:spPr>
      </p:sp>
      <p:sp>
        <p:nvSpPr>
          <p:cNvPr id="39" name="Shape 35"/>
          <p:cNvSpPr/>
          <p:nvPr/>
        </p:nvSpPr>
        <p:spPr>
          <a:xfrm>
            <a:off x="566928" y="3721608"/>
            <a:ext cx="411480" cy="411480"/>
          </a:xfrm>
          <a:prstGeom prst="ellipse">
            <a:avLst/>
          </a:prstGeom>
          <a:solidFill>
            <a:schemeClr val="tx2"/>
          </a:solidFill>
          <a:ln/>
        </p:spPr>
      </p:sp>
      <p:pic>
        <p:nvPicPr>
          <p:cNvPr id="40" name="Image 2" descr="preencoded.png">    </p:cNvPr>
          <p:cNvPicPr>
            <a:picLocks noChangeAspect="1"/>
          </p:cNvPicPr>
          <p:nvPr/>
        </p:nvPicPr>
        <p:blipFill>
          <a:blip r:embed="rId3"/>
          <a:stretch>
            <a:fillRect/>
          </a:stretch>
        </p:blipFill>
        <p:spPr>
          <a:xfrm>
            <a:off x="669798" y="3824478"/>
            <a:ext cx="205740" cy="205740"/>
          </a:xfrm>
          <a:prstGeom prst="rect">
            <a:avLst/>
          </a:prstGeom>
        </p:spPr>
      </p:pic>
      <p:sp>
        <p:nvSpPr>
          <p:cNvPr id="41" name="Text 36"/>
          <p:cNvSpPr txBox="1"/>
          <p:nvPr/>
        </p:nvSpPr>
        <p:spPr>
          <a:xfrm>
            <a:off x="1069848" y="3630168"/>
            <a:ext cx="1216152" cy="27432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policy.yaml</a:t>
            </a:r>
            <a:endParaRPr lang="en-US" sz="1300" dirty="0"/>
          </a:p>
        </p:txBody>
      </p:sp>
      <p:sp>
        <p:nvSpPr>
          <p:cNvPr id="42" name="Text 37"/>
          <p:cNvSpPr txBox="1"/>
          <p:nvPr/>
        </p:nvSpPr>
        <p:spPr>
          <a:xfrm>
            <a:off x="1069848" y="3904488"/>
            <a:ext cx="1261872" cy="347472"/>
          </a:xfrm>
          <a:prstGeom prst="rect">
            <a:avLst/>
          </a:prstGeom>
          <a:noFill/>
          <a:ln/>
        </p:spPr>
        <p:txBody>
          <a:bodyPr wrap="square" lIns="0" tIns="0" rIns="0" bIns="0" rtlCol="0" anchor="t"/>
          <a:lstStyle/>
          <a:p>
            <a:pPr indent="0" marL="0">
              <a:buNone/>
            </a:pPr>
            <a:r>
              <a:rPr lang="en-US" sz="1000" dirty="0">
                <a:solidFill>
                  <a:schemeClr val="tx2"/>
                </a:solidFill>
              </a:rPr>
              <a:t>edit live, no restart</a:t>
            </a:r>
            <a:endParaRPr lang="en-US" sz="1000" dirty="0"/>
          </a:p>
        </p:txBody>
      </p:sp>
      <p:sp>
        <p:nvSpPr>
          <p:cNvPr id="43" name="bottom Audit chain"/>
          <p:cNvSpPr/>
          <p:nvPr/>
        </p:nvSpPr>
        <p:spPr>
          <a:xfrm>
            <a:off x="2560320" y="3566160"/>
            <a:ext cx="1920240" cy="731520"/>
          </a:xfrm>
          <a:prstGeom prst="roundRect">
            <a:avLst>
              <a:gd name="adj" fmla="val 12500"/>
            </a:avLst>
          </a:prstGeom>
          <a:solidFill>
            <a:schemeClr val="bg2"/>
          </a:solidFill>
          <a:ln/>
        </p:spPr>
      </p:sp>
      <p:sp>
        <p:nvSpPr>
          <p:cNvPr id="44" name="Shape 39"/>
          <p:cNvSpPr/>
          <p:nvPr/>
        </p:nvSpPr>
        <p:spPr>
          <a:xfrm>
            <a:off x="2670048" y="3721608"/>
            <a:ext cx="411480" cy="411480"/>
          </a:xfrm>
          <a:prstGeom prst="ellipse">
            <a:avLst/>
          </a:prstGeom>
          <a:solidFill>
            <a:schemeClr val="tx2"/>
          </a:solidFill>
          <a:ln/>
        </p:spPr>
      </p:sp>
      <p:pic>
        <p:nvPicPr>
          <p:cNvPr id="45" name="Image 3" descr="preencoded.png">    </p:cNvPr>
          <p:cNvPicPr>
            <a:picLocks noChangeAspect="1"/>
          </p:cNvPicPr>
          <p:nvPr/>
        </p:nvPicPr>
        <p:blipFill>
          <a:blip r:embed="rId4"/>
          <a:stretch>
            <a:fillRect/>
          </a:stretch>
        </p:blipFill>
        <p:spPr>
          <a:xfrm>
            <a:off x="2772918" y="3824478"/>
            <a:ext cx="205740" cy="205740"/>
          </a:xfrm>
          <a:prstGeom prst="rect">
            <a:avLst/>
          </a:prstGeom>
        </p:spPr>
      </p:pic>
      <p:sp>
        <p:nvSpPr>
          <p:cNvPr id="46" name="Text 40"/>
          <p:cNvSpPr txBox="1"/>
          <p:nvPr/>
        </p:nvSpPr>
        <p:spPr>
          <a:xfrm>
            <a:off x="3172968" y="3630168"/>
            <a:ext cx="1216152" cy="274320"/>
          </a:xfrm>
          <a:prstGeom prst="rect">
            <a:avLst/>
          </a:prstGeom>
          <a:noFill/>
          <a:ln/>
        </p:spPr>
        <p:txBody>
          <a:bodyPr wrap="square" lIns="0" tIns="0" rIns="0" bIns="0" rtlCol="0" anchor="ctr"/>
          <a:lstStyle/>
          <a:p>
            <a:pPr indent="0" marL="0">
              <a:buNone/>
            </a:pPr>
            <a:r>
              <a:rPr lang="en-US" sz="1300" b="1" dirty="0">
                <a:solidFill>
                  <a:schemeClr val="tx1"/>
                </a:solidFill>
              </a:rPr>
              <a:t>Audit chain</a:t>
            </a:r>
            <a:endParaRPr lang="en-US" sz="1300" dirty="0"/>
          </a:p>
        </p:txBody>
      </p:sp>
      <p:sp>
        <p:nvSpPr>
          <p:cNvPr id="47" name="Text 41"/>
          <p:cNvSpPr txBox="1"/>
          <p:nvPr/>
        </p:nvSpPr>
        <p:spPr>
          <a:xfrm>
            <a:off x="3172968" y="3904488"/>
            <a:ext cx="1261872" cy="347472"/>
          </a:xfrm>
          <a:prstGeom prst="rect">
            <a:avLst/>
          </a:prstGeom>
          <a:noFill/>
          <a:ln/>
        </p:spPr>
        <p:txBody>
          <a:bodyPr wrap="square" lIns="0" tIns="0" rIns="0" bIns="0" rtlCol="0" anchor="t"/>
          <a:lstStyle/>
          <a:p>
            <a:pPr indent="0" marL="0">
              <a:buNone/>
            </a:pPr>
            <a:r>
              <a:rPr lang="en-US" sz="1000" dirty="0">
                <a:solidFill>
                  <a:schemeClr val="tx2"/>
                </a:solidFill>
              </a:rPr>
              <a:t>every decision, hash-chained</a:t>
            </a:r>
            <a:endParaRPr lang="en-US" sz="1000" dirty="0"/>
          </a:p>
        </p:txBody>
      </p:sp>
      <p:sp>
        <p:nvSpPr>
          <p:cNvPr id="48" name="bottom Dashboard"/>
          <p:cNvSpPr/>
          <p:nvPr/>
        </p:nvSpPr>
        <p:spPr>
          <a:xfrm>
            <a:off x="4663440" y="3566160"/>
            <a:ext cx="1920240" cy="731520"/>
          </a:xfrm>
          <a:prstGeom prst="roundRect">
            <a:avLst>
              <a:gd name="adj" fmla="val 12500"/>
            </a:avLst>
          </a:prstGeom>
          <a:solidFill>
            <a:schemeClr val="bg2"/>
          </a:solidFill>
          <a:ln/>
        </p:spPr>
      </p:sp>
      <p:sp>
        <p:nvSpPr>
          <p:cNvPr id="49" name="Shape 43"/>
          <p:cNvSpPr/>
          <p:nvPr/>
        </p:nvSpPr>
        <p:spPr>
          <a:xfrm>
            <a:off x="4773168" y="3721608"/>
            <a:ext cx="411480" cy="411480"/>
          </a:xfrm>
          <a:prstGeom prst="ellipse">
            <a:avLst/>
          </a:prstGeom>
          <a:solidFill>
            <a:schemeClr val="tx2"/>
          </a:solidFill>
          <a:ln/>
        </p:spPr>
      </p:sp>
      <p:pic>
        <p:nvPicPr>
          <p:cNvPr id="50" name="Image 4" descr="preencoded.png">    </p:cNvPr>
          <p:cNvPicPr>
            <a:picLocks noChangeAspect="1"/>
          </p:cNvPicPr>
          <p:nvPr/>
        </p:nvPicPr>
        <p:blipFill>
          <a:blip r:embed="rId5"/>
          <a:stretch>
            <a:fillRect/>
          </a:stretch>
        </p:blipFill>
        <p:spPr>
          <a:xfrm>
            <a:off x="4876038" y="3824478"/>
            <a:ext cx="205740" cy="205740"/>
          </a:xfrm>
          <a:prstGeom prst="rect">
            <a:avLst/>
          </a:prstGeom>
        </p:spPr>
      </p:pic>
      <p:sp>
        <p:nvSpPr>
          <p:cNvPr id="51" name="Text 44"/>
          <p:cNvSpPr txBox="1"/>
          <p:nvPr/>
        </p:nvSpPr>
        <p:spPr>
          <a:xfrm>
            <a:off x="5276088" y="3630168"/>
            <a:ext cx="1216152" cy="274320"/>
          </a:xfrm>
          <a:prstGeom prst="rect">
            <a:avLst/>
          </a:prstGeom>
          <a:noFill/>
          <a:ln/>
        </p:spPr>
        <p:txBody>
          <a:bodyPr wrap="square" lIns="0" tIns="0" rIns="0" bIns="0" rtlCol="0" anchor="ctr"/>
          <a:lstStyle/>
          <a:p>
            <a:pPr indent="0" marL="0">
              <a:buNone/>
            </a:pPr>
            <a:r>
              <a:rPr lang="en-US" sz="1300" b="1" dirty="0">
                <a:solidFill>
                  <a:schemeClr val="tx1"/>
                </a:solidFill>
              </a:rPr>
              <a:t>Dashboard</a:t>
            </a:r>
            <a:endParaRPr lang="en-US" sz="1300" dirty="0"/>
          </a:p>
        </p:txBody>
      </p:sp>
      <p:sp>
        <p:nvSpPr>
          <p:cNvPr id="52" name="Text 45"/>
          <p:cNvSpPr txBox="1"/>
          <p:nvPr/>
        </p:nvSpPr>
        <p:spPr>
          <a:xfrm>
            <a:off x="5276088" y="3904488"/>
            <a:ext cx="1261872" cy="347472"/>
          </a:xfrm>
          <a:prstGeom prst="rect">
            <a:avLst/>
          </a:prstGeom>
          <a:noFill/>
          <a:ln/>
        </p:spPr>
        <p:txBody>
          <a:bodyPr wrap="square" lIns="0" tIns="0" rIns="0" bIns="0" rtlCol="0" anchor="t"/>
          <a:lstStyle/>
          <a:p>
            <a:pPr indent="0" marL="0">
              <a:buNone/>
            </a:pPr>
            <a:r>
              <a:rPr lang="en-US" sz="1000" dirty="0">
                <a:solidFill>
                  <a:schemeClr val="tx2"/>
                </a:solidFill>
              </a:rPr>
              <a:t>Overview · Audit · Policies</a:t>
            </a:r>
            <a:endParaRPr lang="en-US" sz="1000" dirty="0"/>
          </a:p>
        </p:txBody>
      </p:sp>
      <p:sp>
        <p:nvSpPr>
          <p:cNvPr id="53" name="bottom Next"/>
          <p:cNvSpPr/>
          <p:nvPr/>
        </p:nvSpPr>
        <p:spPr>
          <a:xfrm>
            <a:off x="6766560" y="3566160"/>
            <a:ext cx="1920240" cy="731520"/>
          </a:xfrm>
          <a:prstGeom prst="roundRect">
            <a:avLst>
              <a:gd name="adj" fmla="val 12500"/>
            </a:avLst>
          </a:prstGeom>
          <a:solidFill>
            <a:schemeClr val="bg1"/>
          </a:solidFill>
          <a:ln w="15875">
            <a:solidFill>
              <a:schemeClr val="accent5"/>
            </a:solidFill>
            <a:prstDash val="dash"/>
          </a:ln>
        </p:spPr>
      </p:sp>
      <p:sp>
        <p:nvSpPr>
          <p:cNvPr id="54" name="Text 47"/>
          <p:cNvSpPr txBox="1"/>
          <p:nvPr/>
        </p:nvSpPr>
        <p:spPr>
          <a:xfrm>
            <a:off x="6903720" y="3630168"/>
            <a:ext cx="1691640" cy="274320"/>
          </a:xfrm>
          <a:prstGeom prst="rect">
            <a:avLst/>
          </a:prstGeom>
          <a:noFill/>
          <a:ln/>
        </p:spPr>
        <p:txBody>
          <a:bodyPr wrap="square" lIns="0" tIns="0" rIns="0" bIns="0" rtlCol="0" anchor="ctr"/>
          <a:lstStyle/>
          <a:p>
            <a:pPr indent="0" marL="0">
              <a:buNone/>
            </a:pPr>
            <a:r>
              <a:rPr lang="en-US" sz="1300" b="1" dirty="0">
                <a:solidFill>
                  <a:schemeClr val="accent5"/>
                </a:solidFill>
              </a:rPr>
              <a:t>Next</a:t>
            </a:r>
            <a:endParaRPr lang="en-US" sz="1300" dirty="0"/>
          </a:p>
        </p:txBody>
      </p:sp>
      <p:sp>
        <p:nvSpPr>
          <p:cNvPr id="55" name="Text 48"/>
          <p:cNvSpPr txBox="1"/>
          <p:nvPr/>
        </p:nvSpPr>
        <p:spPr>
          <a:xfrm>
            <a:off x="6903720" y="3904488"/>
            <a:ext cx="1737360" cy="347472"/>
          </a:xfrm>
          <a:prstGeom prst="rect">
            <a:avLst/>
          </a:prstGeom>
          <a:noFill/>
          <a:ln/>
        </p:spPr>
        <p:txBody>
          <a:bodyPr wrap="square" lIns="0" tIns="0" rIns="0" bIns="0" rtlCol="0" anchor="t"/>
          <a:lstStyle/>
          <a:p>
            <a:pPr indent="0" marL="0">
              <a:buNone/>
            </a:pPr>
            <a:r>
              <a:rPr lang="en-US" sz="1000" dirty="0">
                <a:solidFill>
                  <a:schemeClr val="tx2"/>
                </a:solidFill>
              </a:rPr>
              <a:t>MCP gateway · four-eyes approval</a:t>
            </a:r>
            <a:endParaRPr lang="en-US" sz="1000" dirty="0"/>
          </a:p>
        </p:txBody>
      </p:sp>
      <p:sp>
        <p:nvSpPr>
          <p:cNvPr id="56" name="Shape 49"/>
          <p:cNvSpPr/>
          <p:nvPr/>
        </p:nvSpPr>
        <p:spPr>
          <a:xfrm>
            <a:off x="1417320" y="3108960"/>
            <a:ext cx="914" cy="438912"/>
          </a:xfrm>
          <a:prstGeom prst="line">
            <a:avLst/>
          </a:prstGeom>
          <a:noFill/>
          <a:ln w="22225">
            <a:solidFill>
              <a:schemeClr val="accent5"/>
            </a:solidFill>
            <a:prstDash val="solid"/>
          </a:ln>
        </p:spPr>
      </p:sp>
      <p:sp>
        <p:nvSpPr>
          <p:cNvPr id="57" name="Shape 50"/>
          <p:cNvSpPr/>
          <p:nvPr/>
        </p:nvSpPr>
        <p:spPr>
          <a:xfrm>
            <a:off x="1417320" y="3108960"/>
            <a:ext cx="1033272" cy="914"/>
          </a:xfrm>
          <a:prstGeom prst="line">
            <a:avLst/>
          </a:prstGeom>
          <a:noFill/>
          <a:ln w="22225">
            <a:solidFill>
              <a:schemeClr val="accent5"/>
            </a:solidFill>
            <a:prstDash val="solid"/>
            <a:tailEnd type="triangle"/>
          </a:ln>
        </p:spPr>
      </p:sp>
      <p:sp>
        <p:nvSpPr>
          <p:cNvPr id="58" name="Shape 51"/>
          <p:cNvSpPr/>
          <p:nvPr/>
        </p:nvSpPr>
        <p:spPr>
          <a:xfrm>
            <a:off x="3520440" y="3264408"/>
            <a:ext cx="914" cy="283464"/>
          </a:xfrm>
          <a:prstGeom prst="line">
            <a:avLst/>
          </a:prstGeom>
          <a:noFill/>
          <a:ln w="22225">
            <a:solidFill>
              <a:schemeClr val="accent5"/>
            </a:solidFill>
            <a:prstDash val="solid"/>
            <a:tailEnd type="triangle"/>
          </a:ln>
        </p:spPr>
      </p:sp>
      <p:sp>
        <p:nvSpPr>
          <p:cNvPr id="59" name="Shape 52"/>
          <p:cNvSpPr/>
          <p:nvPr/>
        </p:nvSpPr>
        <p:spPr>
          <a:xfrm>
            <a:off x="4498848" y="3931920"/>
            <a:ext cx="146304" cy="914"/>
          </a:xfrm>
          <a:prstGeom prst="line">
            <a:avLst/>
          </a:prstGeom>
          <a:noFill/>
          <a:ln w="22225">
            <a:solidFill>
              <a:schemeClr val="accent5"/>
            </a:solidFill>
            <a:prstDash val="solid"/>
            <a:tailEnd type="triangle"/>
          </a:ln>
        </p:spPr>
      </p:sp>
      <p:sp>
        <p:nvSpPr>
          <p:cNvPr id="60" name="Text 53"/>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Detector checks take under 0.02 ms per text. The AI judge's latency is reported separately, never averaged in.</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Three agents, three attacks</a:t>
            </a:r>
            <a:endParaRPr lang="en-US" sz="2800" dirty="0"/>
          </a:p>
        </p:txBody>
      </p:sp>
      <p:sp>
        <p:nvSpPr>
          <p:cNvPr id="3" name="agent card Olivia"/>
          <p:cNvSpPr/>
          <p:nvPr/>
        </p:nvSpPr>
        <p:spPr>
          <a:xfrm>
            <a:off x="457200" y="1188720"/>
            <a:ext cx="2651760" cy="2697480"/>
          </a:xfrm>
          <a:prstGeom prst="roundRect">
            <a:avLst>
              <a:gd name="adj" fmla="val 4138"/>
            </a:avLst>
          </a:prstGeom>
          <a:solidFill>
            <a:schemeClr val="tx2"/>
          </a:solidFill>
          <a:ln/>
        </p:spPr>
      </p:sp>
      <p:sp>
        <p:nvSpPr>
          <p:cNvPr id="4" name="Shape 2"/>
          <p:cNvSpPr/>
          <p:nvPr/>
        </p:nvSpPr>
        <p:spPr>
          <a:xfrm>
            <a:off x="640080" y="1325880"/>
            <a:ext cx="502920" cy="5029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65810" y="1451610"/>
            <a:ext cx="251460" cy="251460"/>
          </a:xfrm>
          <a:prstGeom prst="rect">
            <a:avLst/>
          </a:prstGeom>
        </p:spPr>
      </p:pic>
      <p:sp>
        <p:nvSpPr>
          <p:cNvPr id="6" name="Text 3"/>
          <p:cNvSpPr txBox="1"/>
          <p:nvPr/>
        </p:nvSpPr>
        <p:spPr>
          <a:xfrm>
            <a:off x="1280160" y="1307592"/>
            <a:ext cx="1737360" cy="30175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Olivia</a:t>
            </a:r>
            <a:endParaRPr lang="en-US" sz="1800" dirty="0"/>
          </a:p>
        </p:txBody>
      </p:sp>
      <p:sp>
        <p:nvSpPr>
          <p:cNvPr id="7" name="Text 4"/>
          <p:cNvSpPr txBox="1"/>
          <p:nvPr/>
        </p:nvSpPr>
        <p:spPr>
          <a:xfrm>
            <a:off x="1280160" y="1609344"/>
            <a:ext cx="1783080" cy="246888"/>
          </a:xfrm>
          <a:prstGeom prst="rect">
            <a:avLst/>
          </a:prstGeom>
          <a:noFill/>
          <a:ln/>
        </p:spPr>
        <p:txBody>
          <a:bodyPr wrap="square" lIns="0" tIns="0" rIns="0" bIns="0" rtlCol="0" anchor="ctr"/>
          <a:lstStyle/>
          <a:p>
            <a:pPr indent="0" marL="0">
              <a:buNone/>
            </a:pPr>
            <a:r>
              <a:rPr lang="en-US" sz="1100" dirty="0">
                <a:solidFill>
                  <a:schemeClr val="accent5"/>
                </a:solidFill>
              </a:rPr>
              <a:t>Onboarding analyst</a:t>
            </a:r>
            <a:endParaRPr lang="en-US" sz="1100" dirty="0"/>
          </a:p>
        </p:txBody>
      </p:sp>
      <p:sp>
        <p:nvSpPr>
          <p:cNvPr id="8" name="Text 5"/>
          <p:cNvSpPr txBox="1"/>
          <p:nvPr/>
        </p:nvSpPr>
        <p:spPr>
          <a:xfrm>
            <a:off x="640080" y="2011680"/>
            <a:ext cx="2286000" cy="228600"/>
          </a:xfrm>
          <a:prstGeom prst="rect">
            <a:avLst/>
          </a:prstGeom>
          <a:noFill/>
          <a:ln/>
        </p:spPr>
        <p:txBody>
          <a:bodyPr wrap="square" lIns="0" tIns="0" rIns="0" bIns="0" rtlCol="0" anchor="ctr"/>
          <a:lstStyle/>
          <a:p>
            <a:pPr algn="l" indent="0" marL="0">
              <a:buNone/>
            </a:pPr>
            <a:r>
              <a:rPr lang="en-US" sz="1000" b="1" spc="200" kern="0" dirty="0">
                <a:solidFill>
                  <a:schemeClr val="accent3"/>
                </a:solidFill>
              </a:rPr>
              <a:t>ATTACK</a:t>
            </a:r>
            <a:endParaRPr lang="en-US" sz="1000" dirty="0"/>
          </a:p>
        </p:txBody>
      </p:sp>
      <p:sp>
        <p:nvSpPr>
          <p:cNvPr id="9" name="Text 6"/>
          <p:cNvSpPr txBox="1"/>
          <p:nvPr/>
        </p:nvSpPr>
        <p:spPr>
          <a:xfrm>
            <a:off x="640080" y="2240280"/>
            <a:ext cx="2331720" cy="457200"/>
          </a:xfrm>
          <a:prstGeom prst="rect">
            <a:avLst/>
          </a:prstGeom>
          <a:noFill/>
          <a:ln/>
        </p:spPr>
        <p:txBody>
          <a:bodyPr wrap="square" lIns="0" tIns="0" rIns="0" bIns="0" rtlCol="0" anchor="t"/>
          <a:lstStyle/>
          <a:p>
            <a:pPr indent="0" marL="0">
              <a:buNone/>
            </a:pPr>
            <a:r>
              <a:rPr lang="en-US" sz="1400" dirty="0">
                <a:solidFill>
                  <a:schemeClr val="bg1"/>
                </a:solidFill>
              </a:rPr>
              <a:t>Poisoned client document</a:t>
            </a:r>
            <a:endParaRPr lang="en-US" sz="1400" dirty="0"/>
          </a:p>
        </p:txBody>
      </p:sp>
      <p:sp>
        <p:nvSpPr>
          <p:cNvPr id="10" name="Text 7"/>
          <p:cNvSpPr txBox="1"/>
          <p:nvPr/>
        </p:nvSpPr>
        <p:spPr>
          <a:xfrm>
            <a:off x="640080" y="2788920"/>
            <a:ext cx="2286000" cy="228600"/>
          </a:xfrm>
          <a:prstGeom prst="rect">
            <a:avLst/>
          </a:prstGeom>
          <a:noFill/>
          <a:ln/>
        </p:spPr>
        <p:txBody>
          <a:bodyPr wrap="square" lIns="0" tIns="0" rIns="0" bIns="0" rtlCol="0" anchor="ctr"/>
          <a:lstStyle/>
          <a:p>
            <a:pPr algn="l" indent="0" marL="0">
              <a:buNone/>
            </a:pPr>
            <a:r>
              <a:rPr lang="en-US" sz="1000" b="1" spc="200" kern="0" dirty="0">
                <a:solidFill>
                  <a:schemeClr val="accent2"/>
                </a:solidFill>
              </a:rPr>
              <a:t>RESULT</a:t>
            </a:r>
            <a:endParaRPr lang="en-US" sz="1000" dirty="0"/>
          </a:p>
        </p:txBody>
      </p:sp>
      <p:sp>
        <p:nvSpPr>
          <p:cNvPr id="11" name="Text 8"/>
          <p:cNvSpPr txBox="1"/>
          <p:nvPr/>
        </p:nvSpPr>
        <p:spPr>
          <a:xfrm>
            <a:off x="640080" y="3017520"/>
            <a:ext cx="2331720" cy="777240"/>
          </a:xfrm>
          <a:prstGeom prst="rect">
            <a:avLst/>
          </a:prstGeom>
          <a:noFill/>
          <a:ln/>
        </p:spPr>
        <p:txBody>
          <a:bodyPr wrap="square" lIns="0" tIns="0" rIns="0" bIns="0" rtlCol="0" anchor="t"/>
          <a:lstStyle/>
          <a:p>
            <a:pPr indent="0" marL="0">
              <a:buNone/>
            </a:pPr>
            <a:r>
              <a:rPr lang="en-US" sz="1400" b="1" dirty="0">
                <a:solidFill>
                  <a:schemeClr val="bg1"/>
                </a:solidFill>
              </a:rPr>
              <a:t>Field quarantined. Passport only to the sanctions check.</a:t>
            </a:r>
            <a:endParaRPr lang="en-US" sz="1400" dirty="0"/>
          </a:p>
        </p:txBody>
      </p:sp>
      <p:sp>
        <p:nvSpPr>
          <p:cNvPr id="12" name="agent card Marcus"/>
          <p:cNvSpPr/>
          <p:nvPr/>
        </p:nvSpPr>
        <p:spPr>
          <a:xfrm>
            <a:off x="3291840" y="1188720"/>
            <a:ext cx="2651760" cy="2697480"/>
          </a:xfrm>
          <a:prstGeom prst="roundRect">
            <a:avLst>
              <a:gd name="adj" fmla="val 4138"/>
            </a:avLst>
          </a:prstGeom>
          <a:solidFill>
            <a:schemeClr val="tx2"/>
          </a:solidFill>
          <a:ln/>
        </p:spPr>
      </p:sp>
      <p:sp>
        <p:nvSpPr>
          <p:cNvPr id="13" name="Shape 10"/>
          <p:cNvSpPr/>
          <p:nvPr/>
        </p:nvSpPr>
        <p:spPr>
          <a:xfrm>
            <a:off x="3474720" y="1325880"/>
            <a:ext cx="502920" cy="50292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3600450" y="1451610"/>
            <a:ext cx="251460" cy="251460"/>
          </a:xfrm>
          <a:prstGeom prst="rect">
            <a:avLst/>
          </a:prstGeom>
        </p:spPr>
      </p:pic>
      <p:sp>
        <p:nvSpPr>
          <p:cNvPr id="15" name="Text 11"/>
          <p:cNvSpPr txBox="1"/>
          <p:nvPr/>
        </p:nvSpPr>
        <p:spPr>
          <a:xfrm>
            <a:off x="4114800" y="1307592"/>
            <a:ext cx="1737360" cy="30175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Marcus</a:t>
            </a:r>
            <a:endParaRPr lang="en-US" sz="1800" dirty="0"/>
          </a:p>
        </p:txBody>
      </p:sp>
      <p:sp>
        <p:nvSpPr>
          <p:cNvPr id="16" name="Text 12"/>
          <p:cNvSpPr txBox="1"/>
          <p:nvPr/>
        </p:nvSpPr>
        <p:spPr>
          <a:xfrm>
            <a:off x="4114800" y="1609344"/>
            <a:ext cx="1783080" cy="246888"/>
          </a:xfrm>
          <a:prstGeom prst="rect">
            <a:avLst/>
          </a:prstGeom>
          <a:noFill/>
          <a:ln/>
        </p:spPr>
        <p:txBody>
          <a:bodyPr wrap="square" lIns="0" tIns="0" rIns="0" bIns="0" rtlCol="0" anchor="ctr"/>
          <a:lstStyle/>
          <a:p>
            <a:pPr indent="0" marL="0">
              <a:buNone/>
            </a:pPr>
            <a:r>
              <a:rPr lang="en-US" sz="1100" dirty="0">
                <a:solidFill>
                  <a:schemeClr val="accent5"/>
                </a:solidFill>
              </a:rPr>
              <a:t>Deal team banker</a:t>
            </a:r>
            <a:endParaRPr lang="en-US" sz="1100" dirty="0"/>
          </a:p>
        </p:txBody>
      </p:sp>
      <p:sp>
        <p:nvSpPr>
          <p:cNvPr id="17" name="Text 13"/>
          <p:cNvSpPr txBox="1"/>
          <p:nvPr/>
        </p:nvSpPr>
        <p:spPr>
          <a:xfrm>
            <a:off x="3474720" y="2011680"/>
            <a:ext cx="2286000" cy="228600"/>
          </a:xfrm>
          <a:prstGeom prst="rect">
            <a:avLst/>
          </a:prstGeom>
          <a:noFill/>
          <a:ln/>
        </p:spPr>
        <p:txBody>
          <a:bodyPr wrap="square" lIns="0" tIns="0" rIns="0" bIns="0" rtlCol="0" anchor="ctr"/>
          <a:lstStyle/>
          <a:p>
            <a:pPr algn="l" indent="0" marL="0">
              <a:buNone/>
            </a:pPr>
            <a:r>
              <a:rPr lang="en-US" sz="1000" b="1" spc="200" kern="0" dirty="0">
                <a:solidFill>
                  <a:schemeClr val="accent3"/>
                </a:solidFill>
              </a:rPr>
              <a:t>ATTACK</a:t>
            </a:r>
            <a:endParaRPr lang="en-US" sz="1000" dirty="0"/>
          </a:p>
        </p:txBody>
      </p:sp>
      <p:sp>
        <p:nvSpPr>
          <p:cNvPr id="18" name="Text 14"/>
          <p:cNvSpPr txBox="1"/>
          <p:nvPr/>
        </p:nvSpPr>
        <p:spPr>
          <a:xfrm>
            <a:off x="3474720" y="2240280"/>
            <a:ext cx="2331720" cy="457200"/>
          </a:xfrm>
          <a:prstGeom prst="rect">
            <a:avLst/>
          </a:prstGeom>
          <a:noFill/>
          <a:ln/>
        </p:spPr>
        <p:txBody>
          <a:bodyPr wrap="square" lIns="0" tIns="0" rIns="0" bIns="0" rtlCol="0" anchor="t"/>
          <a:lstStyle/>
          <a:p>
            <a:pPr indent="0" marL="0">
              <a:buNone/>
            </a:pPr>
            <a:r>
              <a:rPr lang="en-US" sz="1400" dirty="0">
                <a:solidFill>
                  <a:schemeClr val="bg1"/>
                </a:solidFill>
              </a:rPr>
              <a:t>Deal memo sent outside</a:t>
            </a:r>
            <a:endParaRPr lang="en-US" sz="1400" dirty="0"/>
          </a:p>
        </p:txBody>
      </p:sp>
      <p:sp>
        <p:nvSpPr>
          <p:cNvPr id="19" name="Text 15"/>
          <p:cNvSpPr txBox="1"/>
          <p:nvPr/>
        </p:nvSpPr>
        <p:spPr>
          <a:xfrm>
            <a:off x="3474720" y="2788920"/>
            <a:ext cx="2286000" cy="228600"/>
          </a:xfrm>
          <a:prstGeom prst="rect">
            <a:avLst/>
          </a:prstGeom>
          <a:noFill/>
          <a:ln/>
        </p:spPr>
        <p:txBody>
          <a:bodyPr wrap="square" lIns="0" tIns="0" rIns="0" bIns="0" rtlCol="0" anchor="ctr"/>
          <a:lstStyle/>
          <a:p>
            <a:pPr algn="l" indent="0" marL="0">
              <a:buNone/>
            </a:pPr>
            <a:r>
              <a:rPr lang="en-US" sz="1000" b="1" spc="200" kern="0" dirty="0">
                <a:solidFill>
                  <a:schemeClr val="accent2"/>
                </a:solidFill>
              </a:rPr>
              <a:t>RESULT</a:t>
            </a:r>
            <a:endParaRPr lang="en-US" sz="1000" dirty="0"/>
          </a:p>
        </p:txBody>
      </p:sp>
      <p:sp>
        <p:nvSpPr>
          <p:cNvPr id="20" name="Text 16"/>
          <p:cNvSpPr txBox="1"/>
          <p:nvPr/>
        </p:nvSpPr>
        <p:spPr>
          <a:xfrm>
            <a:off x="3474720" y="3017520"/>
            <a:ext cx="2331720" cy="777240"/>
          </a:xfrm>
          <a:prstGeom prst="rect">
            <a:avLst/>
          </a:prstGeom>
          <a:noFill/>
          <a:ln/>
        </p:spPr>
        <p:txBody>
          <a:bodyPr wrap="square" lIns="0" tIns="0" rIns="0" bIns="0" rtlCol="0" anchor="t"/>
          <a:lstStyle/>
          <a:p>
            <a:pPr indent="0" marL="0">
              <a:buNone/>
            </a:pPr>
            <a:r>
              <a:rPr lang="en-US" sz="1400" b="1" dirty="0">
                <a:solidFill>
                  <a:schemeClr val="bg1"/>
                </a:solidFill>
              </a:rPr>
              <a:t>Blocked. The public side never learns it exists.</a:t>
            </a:r>
            <a:endParaRPr lang="en-US" sz="1400" dirty="0"/>
          </a:p>
        </p:txBody>
      </p:sp>
      <p:sp>
        <p:nvSpPr>
          <p:cNvPr id="21" name="agent card Devon"/>
          <p:cNvSpPr/>
          <p:nvPr/>
        </p:nvSpPr>
        <p:spPr>
          <a:xfrm>
            <a:off x="6126480" y="1188720"/>
            <a:ext cx="2651760" cy="2697480"/>
          </a:xfrm>
          <a:prstGeom prst="roundRect">
            <a:avLst>
              <a:gd name="adj" fmla="val 4138"/>
            </a:avLst>
          </a:prstGeom>
          <a:solidFill>
            <a:schemeClr val="tx2"/>
          </a:solidFill>
          <a:ln/>
        </p:spPr>
      </p:sp>
      <p:sp>
        <p:nvSpPr>
          <p:cNvPr id="22" name="Shape 18"/>
          <p:cNvSpPr/>
          <p:nvPr/>
        </p:nvSpPr>
        <p:spPr>
          <a:xfrm>
            <a:off x="6309360" y="1325880"/>
            <a:ext cx="502920" cy="502920"/>
          </a:xfrm>
          <a:prstGeom prst="ellipse">
            <a:avLst/>
          </a:prstGeom>
          <a:solidFill>
            <a:schemeClr val="accent1"/>
          </a:solidFill>
          <a:ln/>
        </p:spPr>
      </p:sp>
      <p:pic>
        <p:nvPicPr>
          <p:cNvPr id="23" name="Image 2" descr="preencoded.png">    </p:cNvPr>
          <p:cNvPicPr>
            <a:picLocks noChangeAspect="1"/>
          </p:cNvPicPr>
          <p:nvPr/>
        </p:nvPicPr>
        <p:blipFill>
          <a:blip r:embed="rId3"/>
          <a:stretch>
            <a:fillRect/>
          </a:stretch>
        </p:blipFill>
        <p:spPr>
          <a:xfrm>
            <a:off x="6435090" y="1451610"/>
            <a:ext cx="251460" cy="251460"/>
          </a:xfrm>
          <a:prstGeom prst="rect">
            <a:avLst/>
          </a:prstGeom>
        </p:spPr>
      </p:pic>
      <p:sp>
        <p:nvSpPr>
          <p:cNvPr id="24" name="Text 19"/>
          <p:cNvSpPr txBox="1"/>
          <p:nvPr/>
        </p:nvSpPr>
        <p:spPr>
          <a:xfrm>
            <a:off x="6949440" y="1307592"/>
            <a:ext cx="1737360" cy="30175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Devon</a:t>
            </a:r>
            <a:endParaRPr lang="en-US" sz="1800" dirty="0"/>
          </a:p>
        </p:txBody>
      </p:sp>
      <p:sp>
        <p:nvSpPr>
          <p:cNvPr id="25" name="Text 20"/>
          <p:cNvSpPr txBox="1"/>
          <p:nvPr/>
        </p:nvSpPr>
        <p:spPr>
          <a:xfrm>
            <a:off x="6949440" y="1609344"/>
            <a:ext cx="1783080" cy="246888"/>
          </a:xfrm>
          <a:prstGeom prst="rect">
            <a:avLst/>
          </a:prstGeom>
          <a:noFill/>
          <a:ln/>
        </p:spPr>
        <p:txBody>
          <a:bodyPr wrap="square" lIns="0" tIns="0" rIns="0" bIns="0" rtlCol="0" anchor="ctr"/>
          <a:lstStyle/>
          <a:p>
            <a:pPr indent="0" marL="0">
              <a:buNone/>
            </a:pPr>
            <a:r>
              <a:rPr lang="en-US" sz="1100" dirty="0">
                <a:solidFill>
                  <a:schemeClr val="accent5"/>
                </a:solidFill>
              </a:rPr>
              <a:t>Developer, Claude Code</a:t>
            </a:r>
            <a:endParaRPr lang="en-US" sz="1100" dirty="0"/>
          </a:p>
        </p:txBody>
      </p:sp>
      <p:sp>
        <p:nvSpPr>
          <p:cNvPr id="26" name="Text 21"/>
          <p:cNvSpPr txBox="1"/>
          <p:nvPr/>
        </p:nvSpPr>
        <p:spPr>
          <a:xfrm>
            <a:off x="6309360" y="2011680"/>
            <a:ext cx="2286000" cy="228600"/>
          </a:xfrm>
          <a:prstGeom prst="rect">
            <a:avLst/>
          </a:prstGeom>
          <a:noFill/>
          <a:ln/>
        </p:spPr>
        <p:txBody>
          <a:bodyPr wrap="square" lIns="0" tIns="0" rIns="0" bIns="0" rtlCol="0" anchor="ctr"/>
          <a:lstStyle/>
          <a:p>
            <a:pPr algn="l" indent="0" marL="0">
              <a:buNone/>
            </a:pPr>
            <a:r>
              <a:rPr lang="en-US" sz="1000" b="1" spc="200" kern="0" dirty="0">
                <a:solidFill>
                  <a:schemeClr val="accent3"/>
                </a:solidFill>
              </a:rPr>
              <a:t>ATTACK</a:t>
            </a:r>
            <a:endParaRPr lang="en-US" sz="1000" dirty="0"/>
          </a:p>
        </p:txBody>
      </p:sp>
      <p:sp>
        <p:nvSpPr>
          <p:cNvPr id="27" name="Text 22"/>
          <p:cNvSpPr txBox="1"/>
          <p:nvPr/>
        </p:nvSpPr>
        <p:spPr>
          <a:xfrm>
            <a:off x="6309360" y="2240280"/>
            <a:ext cx="2331720" cy="457200"/>
          </a:xfrm>
          <a:prstGeom prst="rect">
            <a:avLst/>
          </a:prstGeom>
          <a:noFill/>
          <a:ln/>
        </p:spPr>
        <p:txBody>
          <a:bodyPr wrap="square" lIns="0" tIns="0" rIns="0" bIns="0" rtlCol="0" anchor="t"/>
          <a:lstStyle/>
          <a:p>
            <a:pPr indent="0" marL="0">
              <a:buNone/>
            </a:pPr>
            <a:r>
              <a:rPr lang="en-US" sz="1400" dirty="0">
                <a:solidFill>
                  <a:schemeClr val="bg1"/>
                </a:solidFill>
              </a:rPr>
              <a:t>Secret in .env, endless test loop</a:t>
            </a:r>
            <a:endParaRPr lang="en-US" sz="1400" dirty="0"/>
          </a:p>
        </p:txBody>
      </p:sp>
      <p:sp>
        <p:nvSpPr>
          <p:cNvPr id="28" name="Text 23"/>
          <p:cNvSpPr txBox="1"/>
          <p:nvPr/>
        </p:nvSpPr>
        <p:spPr>
          <a:xfrm>
            <a:off x="6309360" y="2788920"/>
            <a:ext cx="2286000" cy="228600"/>
          </a:xfrm>
          <a:prstGeom prst="rect">
            <a:avLst/>
          </a:prstGeom>
          <a:noFill/>
          <a:ln/>
        </p:spPr>
        <p:txBody>
          <a:bodyPr wrap="square" lIns="0" tIns="0" rIns="0" bIns="0" rtlCol="0" anchor="ctr"/>
          <a:lstStyle/>
          <a:p>
            <a:pPr algn="l" indent="0" marL="0">
              <a:buNone/>
            </a:pPr>
            <a:r>
              <a:rPr lang="en-US" sz="1000" b="1" spc="200" kern="0" dirty="0">
                <a:solidFill>
                  <a:schemeClr val="accent2"/>
                </a:solidFill>
              </a:rPr>
              <a:t>RESULT</a:t>
            </a:r>
            <a:endParaRPr lang="en-US" sz="1000" dirty="0"/>
          </a:p>
        </p:txBody>
      </p:sp>
      <p:sp>
        <p:nvSpPr>
          <p:cNvPr id="29" name="Text 24"/>
          <p:cNvSpPr txBox="1"/>
          <p:nvPr/>
        </p:nvSpPr>
        <p:spPr>
          <a:xfrm>
            <a:off x="6309360" y="3017520"/>
            <a:ext cx="2331720" cy="777240"/>
          </a:xfrm>
          <a:prstGeom prst="rect">
            <a:avLst/>
          </a:prstGeom>
          <a:noFill/>
          <a:ln/>
        </p:spPr>
        <p:txBody>
          <a:bodyPr wrap="square" lIns="0" tIns="0" rIns="0" bIns="0" rtlCol="0" anchor="t"/>
          <a:lstStyle/>
          <a:p>
            <a:pPr indent="0" marL="0">
              <a:buNone/>
            </a:pPr>
            <a:r>
              <a:rPr lang="en-US" sz="1400" b="1" dirty="0">
                <a:solidFill>
                  <a:schemeClr val="bg1"/>
                </a:solidFill>
              </a:rPr>
              <a:t>Key hidden. The budget stops the loop.</a:t>
            </a:r>
            <a:endParaRPr lang="en-US" sz="1400" dirty="0"/>
          </a:p>
        </p:txBody>
      </p:sp>
      <p:sp>
        <p:nvSpPr>
          <p:cNvPr id="30" name="table demo banner"/>
          <p:cNvSpPr/>
          <p:nvPr/>
        </p:nvSpPr>
        <p:spPr>
          <a:xfrm>
            <a:off x="457200" y="4069080"/>
            <a:ext cx="8229600" cy="502920"/>
          </a:xfrm>
          <a:prstGeom prst="roundRect">
            <a:avLst>
              <a:gd name="adj" fmla="val 18182"/>
            </a:avLst>
          </a:prstGeom>
          <a:solidFill>
            <a:schemeClr val="accent1"/>
          </a:solidFill>
          <a:ln/>
        </p:spPr>
      </p:sp>
      <p:sp>
        <p:nvSpPr>
          <p:cNvPr id="31" name="Text 26"/>
          <p:cNvSpPr txBox="1"/>
          <p:nvPr/>
        </p:nvSpPr>
        <p:spPr>
          <a:xfrm>
            <a:off x="457200" y="4069080"/>
            <a:ext cx="8229600" cy="502920"/>
          </a:xfrm>
          <a:prstGeom prst="rect">
            <a:avLst/>
          </a:prstGeom>
          <a:noFill/>
          <a:ln/>
        </p:spPr>
        <p:txBody>
          <a:bodyPr wrap="square" lIns="0" tIns="0" rIns="0" bIns="0" rtlCol="0" anchor="ctr"/>
          <a:lstStyle/>
          <a:p>
            <a:pPr algn="ctr" indent="0" marL="0">
              <a:buNone/>
            </a:pPr>
            <a:r>
              <a:rPr lang="en-US" sz="1600" b="1" dirty="0">
                <a:solidFill>
                  <a:schemeClr val="tx1"/>
                </a:solidFill>
              </a:rPr>
              <a:t>Try all three at our table. </a:t>
            </a:r>
            <a:pPr algn="ctr" indent="0" marL="0">
              <a:buNone/>
            </a:pPr>
            <a:r>
              <a:rPr lang="en-US" sz="1600" dirty="0">
                <a:solidFill>
                  <a:schemeClr val="tx1"/>
                </a:solidFill>
              </a:rPr>
              <a:t>Edit policy.yaml while it runs; we touch nothing.</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Measured, not claimed</a:t>
            </a:r>
            <a:endParaRPr lang="en-US" sz="2800" dirty="0"/>
          </a:p>
        </p:txBody>
      </p:sp>
      <p:graphicFrame>
        <p:nvGraphicFramePr>
          <p:cNvPr id="3" name="leak chart" descr=""/>
          <p:cNvGraphicFramePr/>
          <p:nvPr/>
        </p:nvGraphicFramePr>
        <p:xfrm>
          <a:off x="457200" y="1143000"/>
          <a:ext cx="4297680" cy="2743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931920"/>
            <a:ext cx="4297680" cy="548640"/>
          </a:xfrm>
          <a:prstGeom prst="rect">
            <a:avLst/>
          </a:prstGeom>
          <a:noFill/>
          <a:ln/>
        </p:spPr>
        <p:txBody>
          <a:bodyPr wrap="square" lIns="0" tIns="0" rIns="0" bIns="0" rtlCol="0" anchor="t"/>
          <a:lstStyle/>
          <a:p>
            <a:pPr indent="0" marL="0">
              <a:buNone/>
            </a:pPr>
            <a:r>
              <a:rPr lang="en-US" sz="1200" dirty="0">
                <a:solidFill>
                  <a:schemeClr val="tx2"/>
                </a:solidFill>
              </a:rPr>
              <a:t>Worst case: a model that obeys every hidden instruction. Zero leaks even when the injection detector misses everything.</a:t>
            </a:r>
            <a:endParaRPr lang="en-US" sz="1200" dirty="0"/>
          </a:p>
        </p:txBody>
      </p:sp>
      <p:sp>
        <p:nvSpPr>
          <p:cNvPr id="5" name="tile ≥95%"/>
          <p:cNvSpPr/>
          <p:nvPr/>
        </p:nvSpPr>
        <p:spPr>
          <a:xfrm>
            <a:off x="5120640" y="1188720"/>
            <a:ext cx="3566160" cy="960120"/>
          </a:xfrm>
          <a:prstGeom prst="roundRect">
            <a:avLst>
              <a:gd name="adj" fmla="val 9524"/>
            </a:avLst>
          </a:prstGeom>
          <a:solidFill>
            <a:schemeClr val="bg2"/>
          </a:solidFill>
          <a:ln/>
        </p:spPr>
      </p:sp>
      <p:sp>
        <p:nvSpPr>
          <p:cNvPr id="6" name="Text 3"/>
          <p:cNvSpPr txBox="1"/>
          <p:nvPr/>
        </p:nvSpPr>
        <p:spPr>
          <a:xfrm>
            <a:off x="5257800" y="1188720"/>
            <a:ext cx="1737360" cy="9601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≥95%</a:t>
            </a:r>
            <a:endParaRPr lang="en-US" sz="2400" dirty="0"/>
          </a:p>
        </p:txBody>
      </p:sp>
      <p:sp>
        <p:nvSpPr>
          <p:cNvPr id="7" name="Text 4"/>
          <p:cNvSpPr txBox="1"/>
          <p:nvPr/>
        </p:nvSpPr>
        <p:spPr>
          <a:xfrm>
            <a:off x="7040880" y="1234440"/>
            <a:ext cx="1554480" cy="868680"/>
          </a:xfrm>
          <a:prstGeom prst="rect">
            <a:avLst/>
          </a:prstGeom>
          <a:noFill/>
          <a:ln/>
        </p:spPr>
        <p:txBody>
          <a:bodyPr wrap="square" lIns="0" tIns="0" rIns="0" bIns="0" rtlCol="0" anchor="ctr"/>
          <a:lstStyle/>
          <a:p>
            <a:pPr indent="0" marL="0">
              <a:buNone/>
            </a:pPr>
            <a:r>
              <a:rPr lang="en-US" sz="1100" dirty="0">
                <a:solidFill>
                  <a:schemeClr val="tx2"/>
                </a:solidFill>
              </a:rPr>
              <a:t>of real data-stealing attacks caught by the AI judge</a:t>
            </a:r>
            <a:endParaRPr lang="en-US" sz="1100" dirty="0"/>
          </a:p>
        </p:txBody>
      </p:sp>
      <p:sp>
        <p:nvSpPr>
          <p:cNvPr id="8" name="tile 365"/>
          <p:cNvSpPr/>
          <p:nvPr/>
        </p:nvSpPr>
        <p:spPr>
          <a:xfrm>
            <a:off x="5120640" y="2286000"/>
            <a:ext cx="3566160" cy="960120"/>
          </a:xfrm>
          <a:prstGeom prst="roundRect">
            <a:avLst>
              <a:gd name="adj" fmla="val 9524"/>
            </a:avLst>
          </a:prstGeom>
          <a:solidFill>
            <a:schemeClr val="bg2"/>
          </a:solidFill>
          <a:ln/>
        </p:spPr>
      </p:sp>
      <p:sp>
        <p:nvSpPr>
          <p:cNvPr id="9" name="Text 6"/>
          <p:cNvSpPr txBox="1"/>
          <p:nvPr/>
        </p:nvSpPr>
        <p:spPr>
          <a:xfrm>
            <a:off x="5257800" y="2286000"/>
            <a:ext cx="1737360" cy="9601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365</a:t>
            </a:r>
            <a:endParaRPr lang="en-US" sz="2400" dirty="0"/>
          </a:p>
        </p:txBody>
      </p:sp>
      <p:sp>
        <p:nvSpPr>
          <p:cNvPr id="10" name="Text 7"/>
          <p:cNvSpPr txBox="1"/>
          <p:nvPr/>
        </p:nvSpPr>
        <p:spPr>
          <a:xfrm>
            <a:off x="7040880" y="2331720"/>
            <a:ext cx="1554480" cy="868680"/>
          </a:xfrm>
          <a:prstGeom prst="rect">
            <a:avLst/>
          </a:prstGeom>
          <a:noFill/>
          <a:ln/>
        </p:spPr>
        <p:txBody>
          <a:bodyPr wrap="square" lIns="0" tIns="0" rIns="0" bIns="0" rtlCol="0" anchor="ctr"/>
          <a:lstStyle/>
          <a:p>
            <a:pPr indent="0" marL="0">
              <a:buNone/>
            </a:pPr>
            <a:r>
              <a:rPr lang="en-US" sz="1100" dirty="0">
                <a:solidFill>
                  <a:schemeClr val="tx2"/>
                </a:solidFill>
              </a:rPr>
              <a:t>tests, offline, under a minute, on every push</a:t>
            </a:r>
            <a:endParaRPr lang="en-US" sz="1100" dirty="0"/>
          </a:p>
        </p:txBody>
      </p:sp>
      <p:sp>
        <p:nvSpPr>
          <p:cNvPr id="11" name="tile &lt;0.02 ms"/>
          <p:cNvSpPr/>
          <p:nvPr/>
        </p:nvSpPr>
        <p:spPr>
          <a:xfrm>
            <a:off x="5120640" y="3383280"/>
            <a:ext cx="3566160" cy="960120"/>
          </a:xfrm>
          <a:prstGeom prst="roundRect">
            <a:avLst>
              <a:gd name="adj" fmla="val 9524"/>
            </a:avLst>
          </a:prstGeom>
          <a:solidFill>
            <a:schemeClr val="bg2"/>
          </a:solidFill>
          <a:ln/>
        </p:spPr>
      </p:sp>
      <p:sp>
        <p:nvSpPr>
          <p:cNvPr id="12" name="Text 9"/>
          <p:cNvSpPr txBox="1"/>
          <p:nvPr/>
        </p:nvSpPr>
        <p:spPr>
          <a:xfrm>
            <a:off x="5257800" y="3383280"/>
            <a:ext cx="1737360" cy="9601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&lt;0.02 ms</a:t>
            </a:r>
            <a:endParaRPr lang="en-US" sz="2400" dirty="0"/>
          </a:p>
        </p:txBody>
      </p:sp>
      <p:sp>
        <p:nvSpPr>
          <p:cNvPr id="13" name="Text 10"/>
          <p:cNvSpPr txBox="1"/>
          <p:nvPr/>
        </p:nvSpPr>
        <p:spPr>
          <a:xfrm>
            <a:off x="7040880" y="3429000"/>
            <a:ext cx="1554480" cy="868680"/>
          </a:xfrm>
          <a:prstGeom prst="rect">
            <a:avLst/>
          </a:prstGeom>
          <a:noFill/>
          <a:ln/>
        </p:spPr>
        <p:txBody>
          <a:bodyPr wrap="square" lIns="0" tIns="0" rIns="0" bIns="0" rtlCol="0" anchor="ctr"/>
          <a:lstStyle/>
          <a:p>
            <a:pPr indent="0" marL="0">
              <a:buNone/>
            </a:pPr>
            <a:r>
              <a:rPr lang="en-US" sz="1100" dirty="0">
                <a:solidFill>
                  <a:schemeClr val="tx2"/>
                </a:solidFill>
              </a:rPr>
              <a:t>per check: cards, IBAN, PESEL, secrets</a:t>
            </a:r>
            <a:endParaRPr lang="en-US" sz="1100" dirty="0"/>
          </a:p>
        </p:txBody>
      </p:sp>
      <p:sp>
        <p:nvSpPr>
          <p:cNvPr id="14" name="Text 11"/>
          <p:cNvSpPr txBox="1"/>
          <p:nvPr/>
        </p:nvSpPr>
        <p:spPr>
          <a:xfrm>
            <a:off x="5120640" y="4434840"/>
            <a:ext cx="3566160" cy="274320"/>
          </a:xfrm>
          <a:prstGeom prst="rect">
            <a:avLst/>
          </a:prstGeom>
          <a:noFill/>
          <a:ln/>
        </p:spPr>
        <p:txBody>
          <a:bodyPr wrap="square" lIns="0" tIns="0" rIns="0" bIns="0" rtlCol="0" anchor="ctr"/>
          <a:lstStyle/>
          <a:p>
            <a:pPr indent="0" marL="0">
              <a:buNone/>
            </a:pPr>
            <a:r>
              <a:rPr lang="en-US" sz="1000" dirty="0">
                <a:solidFill>
                  <a:schemeClr val="accent5"/>
                </a:solidFill>
              </a:rPr>
              <a:t>Source: docs/benchmarks.md (LLMail, bench-e2e)</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Every decision on the record</a:t>
            </a:r>
            <a:endParaRPr lang="en-US" sz="2800" dirty="0"/>
          </a:p>
        </p:txBody>
      </p:sp>
      <p:sp>
        <p:nvSpPr>
          <p:cNvPr id="3" name="audit entry"/>
          <p:cNvSpPr/>
          <p:nvPr/>
        </p:nvSpPr>
        <p:spPr>
          <a:xfrm>
            <a:off x="457200" y="1188720"/>
            <a:ext cx="4663440" cy="2834640"/>
          </a:xfrm>
          <a:prstGeom prst="roundRect">
            <a:avLst>
              <a:gd name="adj" fmla="val 3871"/>
            </a:avLst>
          </a:prstGeom>
          <a:solidFill>
            <a:schemeClr val="tx1"/>
          </a:solidFill>
          <a:ln/>
        </p:spPr>
      </p:sp>
      <p:sp>
        <p:nvSpPr>
          <p:cNvPr id="4" name="Text 2"/>
          <p:cNvSpPr txBox="1"/>
          <p:nvPr/>
        </p:nvSpPr>
        <p:spPr>
          <a:xfrm>
            <a:off x="640080" y="1325880"/>
            <a:ext cx="4389120" cy="2560320"/>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a:t>
            </a:r>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"user": </a:t>
            </a:r>
            <a:pPr indent="0" marL="0">
              <a:spcAft>
                <a:spcPts val="400"/>
              </a:spcAft>
              <a:buNone/>
            </a:pPr>
            <a:r>
              <a:rPr lang="en-US" sz="1100" dirty="0">
                <a:solidFill>
                  <a:schemeClr val="accent1"/>
                </a:solidFill>
                <a:latin typeface="Courier New" pitchFamily="34" charset="0"/>
                <a:ea typeface="Courier New" pitchFamily="34" charset="-122"/>
                <a:cs typeface="Courier New" pitchFamily="34" charset="-120"/>
              </a:rPr>
              <a:t>"olivia"</a:t>
            </a:r>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"agent": </a:t>
            </a:r>
            <a:pPr indent="0" marL="0">
              <a:spcAft>
                <a:spcPts val="400"/>
              </a:spcAft>
              <a:buNone/>
            </a:pPr>
            <a:r>
              <a:rPr lang="en-US" sz="1100" dirty="0">
                <a:solidFill>
                  <a:schemeClr val="accent1"/>
                </a:solidFill>
                <a:latin typeface="Courier New" pitchFamily="34" charset="0"/>
                <a:ea typeface="Courier New" pitchFamily="34" charset="-122"/>
                <a:cs typeface="Courier New" pitchFamily="34" charset="-120"/>
              </a:rPr>
              <a:t>"onboarding-assistant"</a:t>
            </a:r>
            <a:endParaRPr lang="en-US" sz="1100" dirty="0"/>
          </a:p>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"purpose": </a:t>
            </a:r>
            <a:pPr indent="0" marL="0">
              <a:spcAft>
                <a:spcPts val="400"/>
              </a:spcAft>
              <a:buNone/>
            </a:pPr>
            <a:r>
              <a:rPr lang="en-US" sz="1100" dirty="0">
                <a:solidFill>
                  <a:schemeClr val="accent1"/>
                </a:solidFill>
                <a:latin typeface="Courier New" pitchFamily="34" charset="0"/>
                <a:ea typeface="Courier New" pitchFamily="34" charset="-122"/>
                <a:cs typeface="Courier New" pitchFamily="34" charset="-120"/>
              </a:rPr>
              <a:t>"client-onboarding"</a:t>
            </a:r>
            <a:endParaRPr lang="en-US" sz="1100" dirty="0"/>
          </a:p>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"policy_version": </a:t>
            </a:r>
            <a:pPr indent="0" marL="0">
              <a:spcAft>
                <a:spcPts val="400"/>
              </a:spcAft>
              <a:buNone/>
            </a:pPr>
            <a:r>
              <a:rPr lang="en-US" sz="1100" dirty="0">
                <a:solidFill>
                  <a:schemeClr val="accent2"/>
                </a:solidFill>
                <a:latin typeface="Courier New" pitchFamily="34" charset="0"/>
                <a:ea typeface="Courier New" pitchFamily="34" charset="-122"/>
                <a:cs typeface="Courier New" pitchFamily="34" charset="-120"/>
              </a:rPr>
              <a:t>"0.2@780fe563"</a:t>
            </a:r>
            <a:endParaRPr lang="en-US" sz="1100" dirty="0"/>
          </a:p>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"decisions": [{</a:t>
            </a:r>
            <a:endParaRPr lang="en-US" sz="1100" dirty="0"/>
          </a:p>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"control": </a:t>
            </a:r>
            <a:pPr indent="0" marL="0">
              <a:spcAft>
                <a:spcPts val="400"/>
              </a:spcAft>
              <a:buNone/>
            </a:pPr>
            <a:r>
              <a:rPr lang="en-US" sz="1100" dirty="0">
                <a:solidFill>
                  <a:schemeClr val="bg1"/>
                </a:solidFill>
                <a:latin typeface="Courier New" pitchFamily="34" charset="0"/>
                <a:ea typeface="Courier New" pitchFamily="34" charset="-122"/>
                <a:cs typeface="Courier New" pitchFamily="34" charset="-120"/>
              </a:rPr>
              <a:t>"flow.sensitive_to_external"</a:t>
            </a:r>
            <a:endParaRPr lang="en-US" sz="1100" dirty="0"/>
          </a:p>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"action": </a:t>
            </a:r>
            <a:pPr indent="0" marL="0">
              <a:spcAft>
                <a:spcPts val="400"/>
              </a:spcAft>
              <a:buNone/>
            </a:pPr>
            <a:r>
              <a:rPr lang="en-US" sz="1100" dirty="0">
                <a:solidFill>
                  <a:schemeClr val="accent3"/>
                </a:solidFill>
                <a:latin typeface="Courier New" pitchFamily="34" charset="0"/>
                <a:ea typeface="Courier New" pitchFamily="34" charset="-122"/>
                <a:cs typeface="Courier New" pitchFamily="34" charset="-120"/>
              </a:rPr>
              <a:t>"block"</a:t>
            </a:r>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a:t>
            </a:r>
            <a:endParaRPr lang="en-US" sz="1100" dirty="0"/>
          </a:p>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"where": </a:t>
            </a:r>
            <a:pPr indent="0" marL="0">
              <a:spcAft>
                <a:spcPts val="400"/>
              </a:spcAft>
              <a:buNone/>
            </a:pPr>
            <a:r>
              <a:rPr lang="en-US" sz="1100" dirty="0">
                <a:solidFill>
                  <a:schemeClr val="bg1"/>
                </a:solidFill>
                <a:latin typeface="Courier New" pitchFamily="34" charset="0"/>
                <a:ea typeface="Courier New" pitchFamily="34" charset="-122"/>
                <a:cs typeface="Courier New" pitchFamily="34" charset="-120"/>
              </a:rPr>
              <a:t>"tool_call:send_email"</a:t>
            </a:r>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a:t>
            </a:r>
            <a:endParaRPr lang="en-US" sz="1100" dirty="0"/>
          </a:p>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"prev_hash": </a:t>
            </a:r>
            <a:pPr indent="0" marL="0">
              <a:spcAft>
                <a:spcPts val="400"/>
              </a:spcAft>
              <a:buNone/>
            </a:pPr>
            <a:r>
              <a:rPr lang="en-US" sz="1100" dirty="0">
                <a:solidFill>
                  <a:schemeClr val="accent2"/>
                </a:solidFill>
                <a:latin typeface="Courier New" pitchFamily="34" charset="0"/>
                <a:ea typeface="Courier New" pitchFamily="34" charset="-122"/>
                <a:cs typeface="Courier New" pitchFamily="34" charset="-120"/>
              </a:rPr>
              <a:t>"ec60d5f7…"</a:t>
            </a:r>
            <a:endParaRPr lang="en-US" sz="1100" dirty="0"/>
          </a:p>
          <a:p>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"hash": </a:t>
            </a:r>
            <a:pPr indent="0" marL="0">
              <a:spcAft>
                <a:spcPts val="400"/>
              </a:spcAft>
              <a:buNone/>
            </a:pPr>
            <a:r>
              <a:rPr lang="en-US" sz="1100" dirty="0">
                <a:solidFill>
                  <a:schemeClr val="accent2"/>
                </a:solidFill>
                <a:latin typeface="Courier New" pitchFamily="34" charset="0"/>
                <a:ea typeface="Courier New" pitchFamily="34" charset="-122"/>
                <a:cs typeface="Courier New" pitchFamily="34" charset="-120"/>
              </a:rPr>
              <a:t>"8edfcb91…"</a:t>
            </a:r>
            <a:pPr indent="0" marL="0">
              <a:spcAft>
                <a:spcPts val="400"/>
              </a:spcAft>
              <a:buNone/>
            </a:pPr>
            <a:r>
              <a:rPr lang="en-US" sz="1100" dirty="0">
                <a:solidFill>
                  <a:schemeClr val="accent5"/>
                </a:solidFill>
                <a:latin typeface="Courier New" pitchFamily="34" charset="0"/>
                <a:ea typeface="Courier New" pitchFamily="34" charset="-122"/>
                <a:cs typeface="Courier New" pitchFamily="34" charset="-120"/>
              </a:rPr>
              <a:t> }</a:t>
            </a:r>
            <a:endParaRPr lang="en-US" sz="1100" dirty="0"/>
          </a:p>
        </p:txBody>
      </p:sp>
      <p:sp>
        <p:nvSpPr>
          <p:cNvPr id="5" name="Shape 3"/>
          <p:cNvSpPr/>
          <p:nvPr/>
        </p:nvSpPr>
        <p:spPr>
          <a:xfrm>
            <a:off x="5440680" y="1234440"/>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5566410" y="1360170"/>
            <a:ext cx="251460" cy="251460"/>
          </a:xfrm>
          <a:prstGeom prst="rect">
            <a:avLst/>
          </a:prstGeom>
        </p:spPr>
      </p:pic>
      <p:sp>
        <p:nvSpPr>
          <p:cNvPr id="7" name="Text 4"/>
          <p:cNvSpPr txBox="1"/>
          <p:nvPr/>
        </p:nvSpPr>
        <p:spPr>
          <a:xfrm>
            <a:off x="6080760" y="1188720"/>
            <a:ext cx="2606040" cy="320040"/>
          </a:xfrm>
          <a:prstGeom prst="rect">
            <a:avLst/>
          </a:prstGeom>
          <a:noFill/>
          <a:ln/>
        </p:spPr>
        <p:txBody>
          <a:bodyPr wrap="square" lIns="0" tIns="0" rIns="0" bIns="0" rtlCol="0" anchor="ctr"/>
          <a:lstStyle/>
          <a:p>
            <a:pPr indent="0" marL="0">
              <a:buNone/>
            </a:pPr>
            <a:r>
              <a:rPr lang="en-US" sz="1500" b="1" dirty="0">
                <a:solidFill>
                  <a:schemeClr val="tx1"/>
                </a:solidFill>
              </a:rPr>
              <a:t>Who, which agent, why</a:t>
            </a:r>
            <a:endParaRPr lang="en-US" sz="1500" dirty="0"/>
          </a:p>
        </p:txBody>
      </p:sp>
      <p:sp>
        <p:nvSpPr>
          <p:cNvPr id="8" name="Text 5"/>
          <p:cNvSpPr txBox="1"/>
          <p:nvPr/>
        </p:nvSpPr>
        <p:spPr>
          <a:xfrm>
            <a:off x="6080760" y="1508760"/>
            <a:ext cx="2606040" cy="502920"/>
          </a:xfrm>
          <a:prstGeom prst="rect">
            <a:avLst/>
          </a:prstGeom>
          <a:noFill/>
          <a:ln/>
        </p:spPr>
        <p:txBody>
          <a:bodyPr wrap="square" lIns="0" tIns="0" rIns="0" bIns="0" rtlCol="0" anchor="t"/>
          <a:lstStyle/>
          <a:p>
            <a:pPr indent="0" marL="0">
              <a:buNone/>
            </a:pPr>
            <a:r>
              <a:rPr lang="en-US" sz="1200" dirty="0">
                <a:solidFill>
                  <a:schemeClr val="tx2"/>
                </a:solidFill>
              </a:rPr>
              <a:t>user, agent and purpose on every entry</a:t>
            </a:r>
            <a:endParaRPr lang="en-US" sz="1200" dirty="0"/>
          </a:p>
        </p:txBody>
      </p:sp>
      <p:sp>
        <p:nvSpPr>
          <p:cNvPr id="9" name="Shape 6"/>
          <p:cNvSpPr/>
          <p:nvPr/>
        </p:nvSpPr>
        <p:spPr>
          <a:xfrm>
            <a:off x="5440680" y="2194560"/>
            <a:ext cx="502920" cy="5029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5566410" y="2320290"/>
            <a:ext cx="251460" cy="251460"/>
          </a:xfrm>
          <a:prstGeom prst="rect">
            <a:avLst/>
          </a:prstGeom>
        </p:spPr>
      </p:pic>
      <p:sp>
        <p:nvSpPr>
          <p:cNvPr id="11" name="Text 7"/>
          <p:cNvSpPr txBox="1"/>
          <p:nvPr/>
        </p:nvSpPr>
        <p:spPr>
          <a:xfrm>
            <a:off x="6080760" y="2148840"/>
            <a:ext cx="2606040" cy="320040"/>
          </a:xfrm>
          <a:prstGeom prst="rect">
            <a:avLst/>
          </a:prstGeom>
          <a:noFill/>
          <a:ln/>
        </p:spPr>
        <p:txBody>
          <a:bodyPr wrap="square" lIns="0" tIns="0" rIns="0" bIns="0" rtlCol="0" anchor="ctr"/>
          <a:lstStyle/>
          <a:p>
            <a:pPr indent="0" marL="0">
              <a:buNone/>
            </a:pPr>
            <a:r>
              <a:rPr lang="en-US" sz="1500" b="1" dirty="0">
                <a:solidFill>
                  <a:schemeClr val="tx1"/>
                </a:solidFill>
              </a:rPr>
              <a:t>Which policy decided</a:t>
            </a:r>
            <a:endParaRPr lang="en-US" sz="1500" dirty="0"/>
          </a:p>
        </p:txBody>
      </p:sp>
      <p:sp>
        <p:nvSpPr>
          <p:cNvPr id="12" name="Text 8"/>
          <p:cNvSpPr txBox="1"/>
          <p:nvPr/>
        </p:nvSpPr>
        <p:spPr>
          <a:xfrm>
            <a:off x="6080760" y="2468880"/>
            <a:ext cx="2606040" cy="502920"/>
          </a:xfrm>
          <a:prstGeom prst="rect">
            <a:avLst/>
          </a:prstGeom>
          <a:noFill/>
          <a:ln/>
        </p:spPr>
        <p:txBody>
          <a:bodyPr wrap="square" lIns="0" tIns="0" rIns="0" bIns="0" rtlCol="0" anchor="t"/>
          <a:lstStyle/>
          <a:p>
            <a:pPr indent="0" marL="0">
              <a:buNone/>
            </a:pPr>
            <a:r>
              <a:rPr lang="en-US" sz="1200" dirty="0">
                <a:solidFill>
                  <a:schemeClr val="tx2"/>
                </a:solidFill>
              </a:rPr>
              <a:t>the policy version, even after a live edit</a:t>
            </a:r>
            <a:endParaRPr lang="en-US" sz="1200" dirty="0"/>
          </a:p>
        </p:txBody>
      </p:sp>
      <p:sp>
        <p:nvSpPr>
          <p:cNvPr id="13" name="Shape 9"/>
          <p:cNvSpPr/>
          <p:nvPr/>
        </p:nvSpPr>
        <p:spPr>
          <a:xfrm>
            <a:off x="5440680" y="3154680"/>
            <a:ext cx="502920" cy="50292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5566410" y="3280410"/>
            <a:ext cx="251460" cy="251460"/>
          </a:xfrm>
          <a:prstGeom prst="rect">
            <a:avLst/>
          </a:prstGeom>
        </p:spPr>
      </p:pic>
      <p:sp>
        <p:nvSpPr>
          <p:cNvPr id="15" name="Text 10"/>
          <p:cNvSpPr txBox="1"/>
          <p:nvPr/>
        </p:nvSpPr>
        <p:spPr>
          <a:xfrm>
            <a:off x="6080760" y="3108960"/>
            <a:ext cx="2606040" cy="320040"/>
          </a:xfrm>
          <a:prstGeom prst="rect">
            <a:avLst/>
          </a:prstGeom>
          <a:noFill/>
          <a:ln/>
        </p:spPr>
        <p:txBody>
          <a:bodyPr wrap="square" lIns="0" tIns="0" rIns="0" bIns="0" rtlCol="0" anchor="ctr"/>
          <a:lstStyle/>
          <a:p>
            <a:pPr indent="0" marL="0">
              <a:buNone/>
            </a:pPr>
            <a:r>
              <a:rPr lang="en-US" sz="1500" b="1" dirty="0">
                <a:solidFill>
                  <a:schemeClr val="tx1"/>
                </a:solidFill>
              </a:rPr>
              <a:t>Tamper-evident</a:t>
            </a:r>
            <a:endParaRPr lang="en-US" sz="1500" dirty="0"/>
          </a:p>
        </p:txBody>
      </p:sp>
      <p:sp>
        <p:nvSpPr>
          <p:cNvPr id="16" name="Text 11"/>
          <p:cNvSpPr txBox="1"/>
          <p:nvPr/>
        </p:nvSpPr>
        <p:spPr>
          <a:xfrm>
            <a:off x="6080760" y="3429000"/>
            <a:ext cx="2606040" cy="502920"/>
          </a:xfrm>
          <a:prstGeom prst="rect">
            <a:avLst/>
          </a:prstGeom>
          <a:noFill/>
          <a:ln/>
        </p:spPr>
        <p:txBody>
          <a:bodyPr wrap="square" lIns="0" tIns="0" rIns="0" bIns="0" rtlCol="0" anchor="t"/>
          <a:lstStyle/>
          <a:p>
            <a:pPr indent="0" marL="0">
              <a:buNone/>
            </a:pPr>
            <a:r>
              <a:rPr lang="en-US" sz="1200" dirty="0">
                <a:solidFill>
                  <a:schemeClr val="tx2"/>
                </a:solidFill>
              </a:rPr>
              <a:t>one changed line breaks the chain; /audit/verify says where</a:t>
            </a:r>
            <a:endParaRPr lang="en-US" sz="1200" dirty="0"/>
          </a:p>
        </p:txBody>
      </p:sp>
      <p:sp>
        <p:nvSpPr>
          <p:cNvPr id="17" name="reg FINRA 3110"/>
          <p:cNvSpPr/>
          <p:nvPr/>
        </p:nvSpPr>
        <p:spPr>
          <a:xfrm>
            <a:off x="457200" y="4160520"/>
            <a:ext cx="1920240" cy="457200"/>
          </a:xfrm>
          <a:prstGeom prst="roundRect">
            <a:avLst>
              <a:gd name="adj" fmla="val 50000"/>
            </a:avLst>
          </a:prstGeom>
          <a:solidFill>
            <a:schemeClr val="bg2"/>
          </a:solidFill>
          <a:ln/>
        </p:spPr>
      </p:sp>
      <p:sp>
        <p:nvSpPr>
          <p:cNvPr id="18" name="Text 13"/>
          <p:cNvSpPr txBox="1"/>
          <p:nvPr/>
        </p:nvSpPr>
        <p:spPr>
          <a:xfrm>
            <a:off x="457200" y="4160520"/>
            <a:ext cx="1920240" cy="457200"/>
          </a:xfrm>
          <a:prstGeom prst="rect">
            <a:avLst/>
          </a:prstGeom>
          <a:noFill/>
          <a:ln/>
        </p:spPr>
        <p:txBody>
          <a:bodyPr wrap="square" lIns="0" tIns="0" rIns="0" bIns="0" rtlCol="0" anchor="ctr"/>
          <a:lstStyle/>
          <a:p>
            <a:pPr algn="ctr" indent="0" marL="0">
              <a:buNone/>
            </a:pPr>
            <a:r>
              <a:rPr lang="en-US" sz="1000" b="1" dirty="0">
                <a:solidFill>
                  <a:schemeClr val="tx1"/>
                </a:solidFill>
              </a:rPr>
              <a:t>FINRA 3110</a:t>
            </a:r>
            <a:pPr algn="ctr" indent="0" marL="0">
              <a:buNone/>
            </a:pPr>
            <a:r>
              <a:rPr lang="en-US" sz="1000" dirty="0">
                <a:solidFill>
                  <a:schemeClr val="accent5"/>
                </a:solidFill>
              </a:rPr>
              <a:t>  barriers</a:t>
            </a:r>
            <a:endParaRPr lang="en-US" sz="1000" dirty="0"/>
          </a:p>
        </p:txBody>
      </p:sp>
      <p:sp>
        <p:nvSpPr>
          <p:cNvPr id="19" name="reg SEC 17a-4"/>
          <p:cNvSpPr/>
          <p:nvPr/>
        </p:nvSpPr>
        <p:spPr>
          <a:xfrm>
            <a:off x="2560320" y="4160520"/>
            <a:ext cx="1920240" cy="457200"/>
          </a:xfrm>
          <a:prstGeom prst="roundRect">
            <a:avLst>
              <a:gd name="adj" fmla="val 50000"/>
            </a:avLst>
          </a:prstGeom>
          <a:solidFill>
            <a:schemeClr val="bg2"/>
          </a:solidFill>
          <a:ln/>
        </p:spPr>
      </p:sp>
      <p:sp>
        <p:nvSpPr>
          <p:cNvPr id="20" name="Text 15"/>
          <p:cNvSpPr txBox="1"/>
          <p:nvPr/>
        </p:nvSpPr>
        <p:spPr>
          <a:xfrm>
            <a:off x="2560320" y="4160520"/>
            <a:ext cx="1920240" cy="457200"/>
          </a:xfrm>
          <a:prstGeom prst="rect">
            <a:avLst/>
          </a:prstGeom>
          <a:noFill/>
          <a:ln/>
        </p:spPr>
        <p:txBody>
          <a:bodyPr wrap="square" lIns="0" tIns="0" rIns="0" bIns="0" rtlCol="0" anchor="ctr"/>
          <a:lstStyle/>
          <a:p>
            <a:pPr algn="ctr" indent="0" marL="0">
              <a:buNone/>
            </a:pPr>
            <a:r>
              <a:rPr lang="en-US" sz="1000" b="1" dirty="0">
                <a:solidFill>
                  <a:schemeClr val="tx1"/>
                </a:solidFill>
              </a:rPr>
              <a:t>SEC 17a-4</a:t>
            </a:r>
            <a:pPr algn="ctr" indent="0" marL="0">
              <a:buNone/>
            </a:pPr>
            <a:r>
              <a:rPr lang="en-US" sz="1000" dirty="0">
                <a:solidFill>
                  <a:schemeClr val="accent5"/>
                </a:solidFill>
              </a:rPr>
              <a:t>  audit trail</a:t>
            </a:r>
            <a:endParaRPr lang="en-US" sz="1000" dirty="0"/>
          </a:p>
        </p:txBody>
      </p:sp>
      <p:sp>
        <p:nvSpPr>
          <p:cNvPr id="21" name="reg EU AI Act Art. 12"/>
          <p:cNvSpPr/>
          <p:nvPr/>
        </p:nvSpPr>
        <p:spPr>
          <a:xfrm>
            <a:off x="4663440" y="4160520"/>
            <a:ext cx="1920240" cy="457200"/>
          </a:xfrm>
          <a:prstGeom prst="roundRect">
            <a:avLst>
              <a:gd name="adj" fmla="val 50000"/>
            </a:avLst>
          </a:prstGeom>
          <a:solidFill>
            <a:schemeClr val="bg2"/>
          </a:solidFill>
          <a:ln/>
        </p:spPr>
      </p:sp>
      <p:sp>
        <p:nvSpPr>
          <p:cNvPr id="22" name="Text 17"/>
          <p:cNvSpPr txBox="1"/>
          <p:nvPr/>
        </p:nvSpPr>
        <p:spPr>
          <a:xfrm>
            <a:off x="4663440" y="4160520"/>
            <a:ext cx="1920240" cy="457200"/>
          </a:xfrm>
          <a:prstGeom prst="rect">
            <a:avLst/>
          </a:prstGeom>
          <a:noFill/>
          <a:ln/>
        </p:spPr>
        <p:txBody>
          <a:bodyPr wrap="square" lIns="0" tIns="0" rIns="0" bIns="0" rtlCol="0" anchor="ctr"/>
          <a:lstStyle/>
          <a:p>
            <a:pPr algn="ctr" indent="0" marL="0">
              <a:buNone/>
            </a:pPr>
            <a:r>
              <a:rPr lang="en-US" sz="1000" b="1" dirty="0">
                <a:solidFill>
                  <a:schemeClr val="tx1"/>
                </a:solidFill>
              </a:rPr>
              <a:t>EU AI Act Art. 12</a:t>
            </a:r>
            <a:pPr algn="ctr" indent="0" marL="0">
              <a:buNone/>
            </a:pPr>
            <a:r>
              <a:rPr lang="en-US" sz="1000" dirty="0">
                <a:solidFill>
                  <a:schemeClr val="accent5"/>
                </a:solidFill>
              </a:rPr>
              <a:t>  logging</a:t>
            </a:r>
            <a:endParaRPr lang="en-US" sz="1000" dirty="0"/>
          </a:p>
        </p:txBody>
      </p:sp>
      <p:sp>
        <p:nvSpPr>
          <p:cNvPr id="23" name="reg DORA"/>
          <p:cNvSpPr/>
          <p:nvPr/>
        </p:nvSpPr>
        <p:spPr>
          <a:xfrm>
            <a:off x="6766560" y="4160520"/>
            <a:ext cx="1920240" cy="457200"/>
          </a:xfrm>
          <a:prstGeom prst="roundRect">
            <a:avLst>
              <a:gd name="adj" fmla="val 50000"/>
            </a:avLst>
          </a:prstGeom>
          <a:solidFill>
            <a:schemeClr val="bg2"/>
          </a:solidFill>
          <a:ln/>
        </p:spPr>
      </p:sp>
      <p:sp>
        <p:nvSpPr>
          <p:cNvPr id="24" name="Text 19"/>
          <p:cNvSpPr txBox="1"/>
          <p:nvPr/>
        </p:nvSpPr>
        <p:spPr>
          <a:xfrm>
            <a:off x="6766560" y="4160520"/>
            <a:ext cx="1920240" cy="457200"/>
          </a:xfrm>
          <a:prstGeom prst="rect">
            <a:avLst/>
          </a:prstGeom>
          <a:noFill/>
          <a:ln/>
        </p:spPr>
        <p:txBody>
          <a:bodyPr wrap="square" lIns="0" tIns="0" rIns="0" bIns="0" rtlCol="0" anchor="ctr"/>
          <a:lstStyle/>
          <a:p>
            <a:pPr algn="ctr" indent="0" marL="0">
              <a:buNone/>
            </a:pPr>
            <a:r>
              <a:rPr lang="en-US" sz="1000" b="1" dirty="0">
                <a:solidFill>
                  <a:schemeClr val="tx1"/>
                </a:solidFill>
              </a:rPr>
              <a:t>DORA</a:t>
            </a:r>
            <a:pPr algn="ctr" indent="0" marL="0">
              <a:buNone/>
            </a:pPr>
            <a:r>
              <a:rPr lang="en-US" sz="1000" dirty="0">
                <a:solidFill>
                  <a:schemeClr val="accent5"/>
                </a:solidFill>
              </a:rPr>
              <a:t>  multi-vendor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Monday, 09:04. Again</a:t>
            </a:r>
            <a:endParaRPr lang="en-US" sz="2800" dirty="0"/>
          </a:p>
        </p:txBody>
      </p:sp>
      <p:sp>
        <p:nvSpPr>
          <p:cNvPr id="3" name="outcome 1"/>
          <p:cNvSpPr/>
          <p:nvPr/>
        </p:nvSpPr>
        <p:spPr>
          <a:xfrm>
            <a:off x="457200" y="1234440"/>
            <a:ext cx="1920240" cy="1920240"/>
          </a:xfrm>
          <a:prstGeom prst="roundRect">
            <a:avLst>
              <a:gd name="adj" fmla="val 5714"/>
            </a:avLst>
          </a:prstGeom>
          <a:solidFill>
            <a:schemeClr val="tx2"/>
          </a:solidFill>
          <a:ln/>
        </p:spPr>
      </p:sp>
      <p:sp>
        <p:nvSpPr>
          <p:cNvPr id="4" name="Shape 2"/>
          <p:cNvSpPr/>
          <p:nvPr/>
        </p:nvSpPr>
        <p:spPr>
          <a:xfrm>
            <a:off x="640080" y="1417320"/>
            <a:ext cx="548640" cy="54864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6" name="Text 3"/>
          <p:cNvSpPr txBox="1"/>
          <p:nvPr/>
        </p:nvSpPr>
        <p:spPr>
          <a:xfrm>
            <a:off x="640080" y="2103120"/>
            <a:ext cx="1600200" cy="960120"/>
          </a:xfrm>
          <a:prstGeom prst="rect">
            <a:avLst/>
          </a:prstGeom>
          <a:noFill/>
          <a:ln/>
        </p:spPr>
        <p:txBody>
          <a:bodyPr wrap="square" lIns="0" tIns="0" rIns="0" bIns="0" rtlCol="0" anchor="t"/>
          <a:lstStyle/>
          <a:p>
            <a:pPr indent="0" marL="0">
              <a:buNone/>
            </a:pPr>
            <a:r>
              <a:rPr lang="en-US" sz="1500" dirty="0">
                <a:solidFill>
                  <a:schemeClr val="bg1"/>
                </a:solidFill>
              </a:rPr>
              <a:t>The passport reached the sanctions check. Nowhere else.</a:t>
            </a:r>
            <a:endParaRPr lang="en-US" sz="1500" dirty="0"/>
          </a:p>
        </p:txBody>
      </p:sp>
      <p:sp>
        <p:nvSpPr>
          <p:cNvPr id="7" name="outcome 2"/>
          <p:cNvSpPr/>
          <p:nvPr/>
        </p:nvSpPr>
        <p:spPr>
          <a:xfrm>
            <a:off x="2560320" y="1234440"/>
            <a:ext cx="1920240" cy="1920240"/>
          </a:xfrm>
          <a:prstGeom prst="roundRect">
            <a:avLst>
              <a:gd name="adj" fmla="val 5714"/>
            </a:avLst>
          </a:prstGeom>
          <a:solidFill>
            <a:schemeClr val="tx2"/>
          </a:solidFill>
          <a:ln/>
        </p:spPr>
      </p:sp>
      <p:sp>
        <p:nvSpPr>
          <p:cNvPr id="8" name="Shape 5"/>
          <p:cNvSpPr/>
          <p:nvPr/>
        </p:nvSpPr>
        <p:spPr>
          <a:xfrm>
            <a:off x="2743200" y="1417320"/>
            <a:ext cx="548640" cy="548640"/>
          </a:xfrm>
          <a:prstGeom prst="ellipse">
            <a:avLst/>
          </a:prstGeom>
          <a:solidFill>
            <a:schemeClr val="accent3"/>
          </a:solidFill>
          <a:ln/>
        </p:spPr>
      </p:sp>
      <p:pic>
        <p:nvPicPr>
          <p:cNvPr id="9" name="Image 1" descr="preencoded.png">    </p:cNvPr>
          <p:cNvPicPr>
            <a:picLocks noChangeAspect="1"/>
          </p:cNvPicPr>
          <p:nvPr/>
        </p:nvPicPr>
        <p:blipFill>
          <a:blip r:embed="rId2"/>
          <a:stretch>
            <a:fillRect/>
          </a:stretch>
        </p:blipFill>
        <p:spPr>
          <a:xfrm>
            <a:off x="2880360" y="1554480"/>
            <a:ext cx="274320" cy="274320"/>
          </a:xfrm>
          <a:prstGeom prst="rect">
            <a:avLst/>
          </a:prstGeom>
        </p:spPr>
      </p:pic>
      <p:sp>
        <p:nvSpPr>
          <p:cNvPr id="10" name="Text 6"/>
          <p:cNvSpPr txBox="1"/>
          <p:nvPr/>
        </p:nvSpPr>
        <p:spPr>
          <a:xfrm>
            <a:off x="2743200" y="2103120"/>
            <a:ext cx="1600200" cy="960120"/>
          </a:xfrm>
          <a:prstGeom prst="rect">
            <a:avLst/>
          </a:prstGeom>
          <a:noFill/>
          <a:ln/>
        </p:spPr>
        <p:txBody>
          <a:bodyPr wrap="square" lIns="0" tIns="0" rIns="0" bIns="0" rtlCol="0" anchor="t"/>
          <a:lstStyle/>
          <a:p>
            <a:pPr indent="0" marL="0">
              <a:buNone/>
            </a:pPr>
            <a:r>
              <a:rPr lang="en-US" sz="1500" dirty="0">
                <a:solidFill>
                  <a:schemeClr val="bg1"/>
                </a:solidFill>
              </a:rPr>
              <a:t>The hidden sentence was quarantined, not obeyed.</a:t>
            </a:r>
            <a:endParaRPr lang="en-US" sz="1500" dirty="0"/>
          </a:p>
        </p:txBody>
      </p:sp>
      <p:sp>
        <p:nvSpPr>
          <p:cNvPr id="11" name="outcome 3"/>
          <p:cNvSpPr/>
          <p:nvPr/>
        </p:nvSpPr>
        <p:spPr>
          <a:xfrm>
            <a:off x="4663440" y="1234440"/>
            <a:ext cx="1920240" cy="1920240"/>
          </a:xfrm>
          <a:prstGeom prst="roundRect">
            <a:avLst>
              <a:gd name="adj" fmla="val 5714"/>
            </a:avLst>
          </a:prstGeom>
          <a:solidFill>
            <a:schemeClr val="tx2"/>
          </a:solidFill>
          <a:ln/>
        </p:spPr>
      </p:sp>
      <p:sp>
        <p:nvSpPr>
          <p:cNvPr id="12" name="Shape 8"/>
          <p:cNvSpPr/>
          <p:nvPr/>
        </p:nvSpPr>
        <p:spPr>
          <a:xfrm>
            <a:off x="4846320" y="1417320"/>
            <a:ext cx="548640" cy="548640"/>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4983480" y="1554480"/>
            <a:ext cx="274320" cy="274320"/>
          </a:xfrm>
          <a:prstGeom prst="rect">
            <a:avLst/>
          </a:prstGeom>
        </p:spPr>
      </p:pic>
      <p:sp>
        <p:nvSpPr>
          <p:cNvPr id="14" name="Text 9"/>
          <p:cNvSpPr txBox="1"/>
          <p:nvPr/>
        </p:nvSpPr>
        <p:spPr>
          <a:xfrm>
            <a:off x="4846320" y="2103120"/>
            <a:ext cx="1600200" cy="960120"/>
          </a:xfrm>
          <a:prstGeom prst="rect">
            <a:avLst/>
          </a:prstGeom>
          <a:noFill/>
          <a:ln/>
        </p:spPr>
        <p:txBody>
          <a:bodyPr wrap="square" lIns="0" tIns="0" rIns="0" bIns="0" rtlCol="0" anchor="t"/>
          <a:lstStyle/>
          <a:p>
            <a:pPr indent="0" marL="0">
              <a:buNone/>
            </a:pPr>
            <a:r>
              <a:rPr lang="en-US" sz="1500" dirty="0">
                <a:solidFill>
                  <a:schemeClr val="bg1"/>
                </a:solidFill>
              </a:rPr>
              <a:t>Project Falcon stayed behind the wall.</a:t>
            </a:r>
            <a:endParaRPr lang="en-US" sz="1500" dirty="0"/>
          </a:p>
        </p:txBody>
      </p:sp>
      <p:sp>
        <p:nvSpPr>
          <p:cNvPr id="15" name="outcome 4"/>
          <p:cNvSpPr/>
          <p:nvPr/>
        </p:nvSpPr>
        <p:spPr>
          <a:xfrm>
            <a:off x="6766560" y="1234440"/>
            <a:ext cx="1920240" cy="1920240"/>
          </a:xfrm>
          <a:prstGeom prst="roundRect">
            <a:avLst>
              <a:gd name="adj" fmla="val 5714"/>
            </a:avLst>
          </a:prstGeom>
          <a:solidFill>
            <a:schemeClr val="tx2"/>
          </a:solidFill>
          <a:ln/>
        </p:spPr>
      </p:sp>
      <p:sp>
        <p:nvSpPr>
          <p:cNvPr id="16" name="Shape 11"/>
          <p:cNvSpPr/>
          <p:nvPr/>
        </p:nvSpPr>
        <p:spPr>
          <a:xfrm>
            <a:off x="6949440" y="1417320"/>
            <a:ext cx="548640" cy="548640"/>
          </a:xfrm>
          <a:prstGeom prst="ellipse">
            <a:avLst/>
          </a:prstGeom>
          <a:solidFill>
            <a:schemeClr val="accent2"/>
          </a:solidFill>
          <a:ln/>
        </p:spPr>
      </p:sp>
      <p:pic>
        <p:nvPicPr>
          <p:cNvPr id="17" name="Image 3" descr="preencoded.png">    </p:cNvPr>
          <p:cNvPicPr>
            <a:picLocks noChangeAspect="1"/>
          </p:cNvPicPr>
          <p:nvPr/>
        </p:nvPicPr>
        <p:blipFill>
          <a:blip r:embed="rId4"/>
          <a:stretch>
            <a:fillRect/>
          </a:stretch>
        </p:blipFill>
        <p:spPr>
          <a:xfrm>
            <a:off x="7086600" y="1554480"/>
            <a:ext cx="274320" cy="274320"/>
          </a:xfrm>
          <a:prstGeom prst="rect">
            <a:avLst/>
          </a:prstGeom>
        </p:spPr>
      </p:pic>
      <p:sp>
        <p:nvSpPr>
          <p:cNvPr id="18" name="Text 12"/>
          <p:cNvSpPr txBox="1"/>
          <p:nvPr/>
        </p:nvSpPr>
        <p:spPr>
          <a:xfrm>
            <a:off x="6949440" y="2103120"/>
            <a:ext cx="1600200" cy="960120"/>
          </a:xfrm>
          <a:prstGeom prst="rect">
            <a:avLst/>
          </a:prstGeom>
          <a:noFill/>
          <a:ln/>
        </p:spPr>
        <p:txBody>
          <a:bodyPr wrap="square" lIns="0" tIns="0" rIns="0" bIns="0" rtlCol="0" anchor="t"/>
          <a:lstStyle/>
          <a:p>
            <a:pPr indent="0" marL="0">
              <a:buNone/>
            </a:pPr>
            <a:r>
              <a:rPr lang="en-US" sz="1500" dirty="0">
                <a:solidFill>
                  <a:schemeClr val="bg1"/>
                </a:solidFill>
              </a:rPr>
              <a:t>Every step sits in a tamper-evident log.</a:t>
            </a:r>
            <a:endParaRPr lang="en-US" sz="1500" dirty="0"/>
          </a:p>
        </p:txBody>
      </p:sp>
      <p:sp>
        <p:nvSpPr>
          <p:cNvPr id="19" name="Text 13"/>
          <p:cNvSpPr txBox="1"/>
          <p:nvPr/>
        </p:nvSpPr>
        <p:spPr>
          <a:xfrm>
            <a:off x="457200" y="3337560"/>
            <a:ext cx="8229600" cy="594360"/>
          </a:xfrm>
          <a:prstGeom prst="rect">
            <a:avLst/>
          </a:prstGeom>
          <a:noFill/>
          <a:ln/>
        </p:spPr>
        <p:txBody>
          <a:bodyPr wrap="square" lIns="0" tIns="0" rIns="0" bIns="0" rtlCol="0" anchor="ctr"/>
          <a:lstStyle/>
          <a:p>
            <a:pPr algn="ctr" indent="0" marL="0">
              <a:buNone/>
            </a:pPr>
            <a:r>
              <a:rPr lang="en-US" sz="2800" b="1" dirty="0">
                <a:solidFill>
                  <a:schemeClr val="accent1"/>
                </a:solidFill>
                <a:latin typeface="Cambria" pitchFamily="34" charset="0"/>
                <a:ea typeface="Cambria" pitchFamily="34" charset="-122"/>
                <a:cs typeface="Cambria" pitchFamily="34" charset="-120"/>
              </a:rPr>
              <a:t>Don't trust the agent. Trust the flow.</a:t>
            </a:r>
            <a:endParaRPr lang="en-US" sz="2800" dirty="0"/>
          </a:p>
        </p:txBody>
      </p:sp>
      <p:sp>
        <p:nvSpPr>
          <p:cNvPr id="20" name="Text 14"/>
          <p:cNvSpPr txBox="1"/>
          <p:nvPr/>
        </p:nvSpPr>
        <p:spPr>
          <a:xfrm>
            <a:off x="457200" y="4023360"/>
            <a:ext cx="8229600" cy="365760"/>
          </a:xfrm>
          <a:prstGeom prst="rect">
            <a:avLst/>
          </a:prstGeom>
          <a:noFill/>
          <a:ln/>
        </p:spPr>
        <p:txBody>
          <a:bodyPr wrap="square" lIns="0" tIns="0" rIns="0" bIns="0" rtlCol="0" anchor="ctr"/>
          <a:lstStyle/>
          <a:p>
            <a:pPr algn="ctr" indent="0" marL="0">
              <a:buNone/>
            </a:pPr>
            <a:r>
              <a:rPr lang="en-US" sz="1600" dirty="0">
                <a:solidFill>
                  <a:schemeClr val="bg2"/>
                </a:solidFill>
              </a:rPr>
              <a:t>The policy file is open. Try to break it.</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Flow Guard">
  <a:themeElements>
    <a:clrScheme name="Flow Guard">
      <a:dk1>
        <a:srgbClr val="0B1220"/>
      </a:dk1>
      <a:lt1>
        <a:srgbClr val="FFFFFF"/>
      </a:lt1>
      <a:dk2>
        <a:srgbClr val="1E2B45"/>
      </a:dk2>
      <a:lt2>
        <a:srgbClr val="EEF2F7"/>
      </a:lt2>
      <a:accent1>
        <a:srgbClr val="F2A93B"/>
      </a:accent1>
      <a:accent2>
        <a:srgbClr val="1FAF8A"/>
      </a:accent2>
      <a:accent3>
        <a:srgbClr val="E5484D"/>
      </a:accent3>
      <a:accent4>
        <a:srgbClr val="5B8DEF"/>
      </a:accent4>
      <a:accent5>
        <a:srgbClr val="6B7790"/>
      </a:accent5>
      <a:accent6>
        <a:srgbClr val="2E3B57"/>
      </a:accent6>
      <a:hlink>
        <a:srgbClr val="5B8DEF"/>
      </a:hlink>
      <a:folHlink>
        <a:srgbClr val="6B7790"/>
      </a:folHlink>
    </a:clrScheme>
    <a:fontScheme name="Flow 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 Guard</dc:title>
  <dc:subject>PptxGenJS Presentation</dc:subject>
  <dc:creator>Flow Guard team</dc:creator>
  <cp:lastModifiedBy>Flow Guard team</cp:lastModifiedBy>
  <cp:revision>1</cp:revision>
  <dcterms:created xsi:type="dcterms:W3CDTF">2026-10-04T07:05:40Z</dcterms:created>
  <dcterms:modified xsi:type="dcterms:W3CDTF">2026-10-04T07:05:40Z</dcterms:modified>
</cp:coreProperties>
</file>
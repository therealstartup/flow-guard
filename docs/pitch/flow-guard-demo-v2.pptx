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aae3e7d2-14ce-bd51-be8c-23b400fc1cc2}">
          <p14:sldIdLst>
            <p14:sldId id="256"/>
            <p14:sldId id="257"/>
            <p14:sldId id="258"/>
            <p14:sldId id="259"/>
          </p14:sldIdLst>
        </p14:section>
        <p14:section name="Idea" id="{3f440ca1-f9c0-3cc5-6afa-406cbcd62358}">
          <p14:sldIdLst>
            <p14:sldId id="260"/>
            <p14:sldId id="261"/>
          </p14:sldIdLst>
        </p14:section>
        <p14:section name="Proof" id="{5cc98145-3ca7-ca38-8fc4-de954dbb7736}">
          <p14:sldIdLst>
            <p14:sldId id="262"/>
            <p14:sldId id="263"/>
          </p14:sldIdLst>
        </p14:section>
        <p14:section name="Close" id="{4dc9474e-3897-6a53-5578-30b01d0800f9}">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Walk on, no "hi, we are team".
"Flow Guard. Here's Olivia's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One card per breath.
"Olivia, an onboarding analyst, asks her AI agent to prepare the file for a new hedge-fund client. The client's document hides one sentence, written for the agent. The agent obeys: it searches the deal room, finds an acquisition nobody has announced, and emails it to a fund that can trade on it. Nobody hacked the bank. The agent did its job, for the wrong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"This already happens. An outsider's web form, one email with zero clicks, and barrier leaks that cost tens of millions."
Cut first if over time: everything after "This already happens".
Check wording against docs/goldman-cases.md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"Your CIO says: assume the model may be compromised. Layers one and two protect the model. We build three and four: what agents may do, and what data they may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THE SLIDE THAT MUST LAND. Trace the arrows with your hand.
"So we don't bet on catching the attack. The passport never reaches the model; it sees a token. When the agent calls the sanctions check, we put the real number back. When the same token heads for an email, the call is dropped and logged. A fooled model has nothing to 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Follow the request left to right, then point at the bottom row.
"Every agent action crosses three checkpoints. Before the model: who is asking and why, and sensitive values become tokens. Before the agent acts: its role, only its user's clients, the information barrier, budgets. Before data leaves: client data never goes to email or the web. Underneath: one YAML policy, an injection judge, a hash-chained log, and every check fails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Two numbers, together. Point at the left card, then the right.
"We measured the AI judge on real attacks. Of 519 real attacks that actually stole data, it caught 97.5%. And at the same setting it flagged none of 993 real bank customer questions. Both numbers matter: a judge that flags everything catches everything.
And when the judge does miss, the flow rule still holds: four leaks out of four without Flow Guard, zero with it. 450+ tests run offline on every push."
Q&amp;A backup: on 982 real business emails (Enron) it flags 0.4%; on harmless texts packed with trigger words (NotInject, 173) 2.3%. The open on-premise alternative (PIGuard) catches 43% of the same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"Every decision is a hash-chained audit entry: who, which agent, why, and which policy version decided. Compliance gets evidence, not a promise."
The entry is illustrative, built from the real audit fields (gateway/acl/engine.py). Optionally replace it with a screenshot of the dashboard Audit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Same Olivia, different ending. Slowly.
"Monday, 9:04, again. The passport reached the sanctions check, nowhere else. The hidden sentence was quarantined. The deal stayed behind the wall. Don't trust the agent. Trust the flow. The policy file is open. Try to break it."
Stop talking. Leave this slide up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backdrop, not part of the 3 minutes. Close on "Monday, 09:04. Again", then advance here when the questions start; the first question is usually about limits.
Say them plainly: tools run in the agent, so an allowed call is a permission, not proof it ran; calls that skip the gateway are invisible, so egress must point agents at us; the reporting API is localhost only; session state is in memory, the audit log persists. Next, on the same decision function: four-eyes approvals bound to the exact arguments, leak fingerprints, more adapters.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G Dark">
    <p:bg>
      <p:bgPr>
        <a:solidFill>
          <a:srgbClr val="0B1220"/>
        </a:solidFill>
      </p:bgPr>
    </p:bg>
    <p:spTree>
      <p:nvGrpSpPr>
        <p:cNvPr id="1" name=""/>
        <p:cNvGrpSpPr/>
        <p:nvPr/>
      </p:nvGrpSpPr>
      <p:grpSpPr>
        <a:xfrm>
          <a:off x="0" y="0"/>
          <a:ext cx="0" cy="0"/>
          <a:chOff x="0" y="0"/>
          <a:chExt cx="0" cy="0"/>
        </a:xfrm>
      </p:grpSpPr>
      <p:sp>
        <p:nvSpPr>
          <p:cNvPr id="2" name="Text 0"/>
          <p:cNvSpPr/>
          <p:nvPr/>
        </p:nvSpPr>
        <p:spPr>
          <a:xfrm>
            <a:off x="457200" y="4773168"/>
            <a:ext cx="4572000" cy="228600"/>
          </a:xfrm>
          <a:prstGeom prst="rect">
            <a:avLst/>
          </a:prstGeom>
          <a:noFill/>
          <a:ln/>
        </p:spPr>
        <p:txBody>
          <a:bodyPr wrap="square" lIns="0" tIns="0" rIns="0" bIns="0" rtlCol="0" anchor="ctr"/>
          <a:lstStyle/>
          <a:p>
            <a:pPr indent="0" marL="0">
              <a:buNone/>
            </a:pPr>
            <a:r>
              <a:rPr lang="en-US" sz="900" b="1" spc="300" kern="0" dirty="0">
                <a:solidFill>
                  <a:schemeClr val="accent5"/>
                </a:solidFill>
              </a:rPr>
              <a:t>FLOW GUARD  ·  AI CONTROL LAYER</a:t>
            </a:r>
            <a:endParaRPr lang="en-US" sz="900" dirty="0"/>
          </a:p>
        </p:txBody>
      </p:sp>
      <p:sp>
        <p:nvSpPr>
          <p:cNvPr id="3" name="Text 1"/>
          <p:cNvSpPr/>
          <p:nvPr>
            <p:ph idx="101" type="title" hasCustomPrompt="1"/>
          </p:nvPr>
        </p:nvSpPr>
        <p:spPr>
          <a:xfrm>
            <a:off x="457200" y="292608"/>
            <a:ext cx="8229600" cy="73152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G 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28600"/>
          </a:xfrm>
          <a:prstGeom prst="rect">
            <a:avLst/>
          </a:prstGeom>
          <a:noFill/>
          <a:ln/>
        </p:spPr>
        <p:txBody>
          <a:bodyPr wrap="square" lIns="0" tIns="0" rIns="0" bIns="0" rtlCol="0" anchor="ctr"/>
          <a:lstStyle/>
          <a:p>
            <a:pPr indent="0" marL="0">
              <a:buNone/>
            </a:pPr>
            <a:r>
              <a:rPr lang="en-US" sz="900" b="1" spc="300" kern="0" dirty="0">
                <a:solidFill>
                  <a:schemeClr val="accent5"/>
                </a:solidFill>
              </a:rPr>
              <a:t>FLOW GUARD  ·  AI CONTROL LAYER</a:t>
            </a:r>
            <a:endParaRPr lang="en-US" sz="900" dirty="0"/>
          </a:p>
        </p:txBody>
      </p:sp>
      <p:sp>
        <p:nvSpPr>
          <p:cNvPr id="3" name="Text 1"/>
          <p:cNvSpPr/>
          <p:nvPr>
            <p:ph idx="101" type="title" hasCustomPrompt="1"/>
          </p:nvPr>
        </p:nvSpPr>
        <p:spPr>
          <a:xfrm>
            <a:off x="457200" y="292608"/>
            <a:ext cx="8229600" cy="73152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G Cover">
    <p:bg>
      <p:bgPr>
        <a:solidFill>
          <a:srgbClr val="0B122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60120"/>
            <a:ext cx="8229600" cy="274320"/>
          </a:xfrm>
          <a:prstGeom prst="rect">
            <a:avLst/>
          </a:prstGeom>
          <a:noFill/>
          <a:ln/>
        </p:spPr>
        <p:txBody>
          <a:bodyPr wrap="square" lIns="0" tIns="0" rIns="0" bIns="0" rtlCol="0" anchor="ctr"/>
          <a:lstStyle/>
          <a:p>
            <a:pPr indent="0" marL="0">
              <a:buNone/>
            </a:pPr>
            <a:r>
              <a:rPr lang="en-US" sz="1000" b="1" spc="300" kern="0" dirty="0">
                <a:solidFill>
                  <a:schemeClr val="accent5"/>
                </a:solidFill>
              </a:rPr>
              <a:t>AI CONTROL LAYER  ·  HACKYEAH 2026  ·  GOLDMAN SACHS CHALLENGE</a:t>
            </a:r>
            <a:endParaRPr lang="en-US" sz="1000" dirty="0"/>
          </a:p>
        </p:txBody>
      </p:sp>
      <p:sp>
        <p:nvSpPr>
          <p:cNvPr id="3" name="Text 1"/>
          <p:cNvSpPr txBox="1"/>
          <p:nvPr/>
        </p:nvSpPr>
        <p:spPr>
          <a:xfrm>
            <a:off x="457200" y="1280160"/>
            <a:ext cx="8229600" cy="91440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Flow Guard</a:t>
            </a:r>
            <a:endParaRPr lang="en-US" sz="6000" dirty="0"/>
          </a:p>
        </p:txBody>
      </p:sp>
      <p:sp>
        <p:nvSpPr>
          <p:cNvPr id="4" name="Text 2"/>
          <p:cNvSpPr txBox="1"/>
          <p:nvPr/>
        </p:nvSpPr>
        <p:spPr>
          <a:xfrm>
            <a:off x="457200" y="2240280"/>
            <a:ext cx="8229600" cy="457200"/>
          </a:xfrm>
          <a:prstGeom prst="rect">
            <a:avLst/>
          </a:prstGeom>
          <a:noFill/>
          <a:ln/>
        </p:spPr>
        <p:txBody>
          <a:bodyPr wrap="square" lIns="0" tIns="0" rIns="0" bIns="0" rtlCol="0" anchor="ctr"/>
          <a:lstStyle/>
          <a:p>
            <a:pPr indent="0" marL="0">
              <a:buNone/>
            </a:pPr>
            <a:r>
              <a:rPr lang="en-US" sz="2200" dirty="0">
                <a:solidFill>
                  <a:schemeClr val="accent1"/>
                </a:solidFill>
              </a:rPr>
              <a:t>Your agents can act. We decide what flows.</a:t>
            </a:r>
            <a:endParaRPr lang="en-US" sz="2200" dirty="0"/>
          </a:p>
        </p:txBody>
      </p:sp>
      <p:sp>
        <p:nvSpPr>
          <p:cNvPr id="5" name="pill C01X00T47"/>
          <p:cNvSpPr/>
          <p:nvPr/>
        </p:nvSpPr>
        <p:spPr>
          <a:xfrm>
            <a:off x="457200" y="3337560"/>
            <a:ext cx="1828800" cy="457200"/>
          </a:xfrm>
          <a:prstGeom prst="roundRect">
            <a:avLst>
              <a:gd name="adj" fmla="val 50000"/>
            </a:avLst>
          </a:prstGeom>
          <a:solidFill>
            <a:schemeClr val="tx1"/>
          </a:solidFill>
          <a:ln w="22225">
            <a:solidFill>
              <a:schemeClr val="accent3"/>
            </a:solidFill>
            <a:prstDash val="solid"/>
          </a:ln>
        </p:spPr>
      </p:sp>
      <p:sp>
        <p:nvSpPr>
          <p:cNvPr id="6" name="Text 4"/>
          <p:cNvSpPr txBox="1"/>
          <p:nvPr/>
        </p:nvSpPr>
        <p:spPr>
          <a:xfrm>
            <a:off x="457200" y="3337560"/>
            <a:ext cx="1828800" cy="457200"/>
          </a:xfrm>
          <a:prstGeom prst="rect">
            <a:avLst/>
          </a:prstGeom>
          <a:noFill/>
          <a:ln/>
        </p:spPr>
        <p:txBody>
          <a:bodyPr wrap="square" lIns="0" tIns="0" rIns="0" bIns="0" rtlCol="0" anchor="ctr"/>
          <a:lstStyle/>
          <a:p>
            <a:pPr algn="ctr" indent="0" marL="0">
              <a:buNone/>
            </a:pPr>
            <a:r>
              <a:rPr lang="en-US" sz="1300" b="1" dirty="0">
                <a:solidFill>
                  <a:schemeClr val="accent3"/>
                </a:solidFill>
                <a:latin typeface="Courier New" pitchFamily="34" charset="0"/>
                <a:ea typeface="Courier New" pitchFamily="34" charset="-122"/>
                <a:cs typeface="Courier New" pitchFamily="34" charset="-120"/>
              </a:rPr>
              <a:t>C01X00T47</a:t>
            </a:r>
            <a:endParaRPr lang="en-US" sz="1300" dirty="0"/>
          </a:p>
        </p:txBody>
      </p:sp>
      <p:sp>
        <p:nvSpPr>
          <p:cNvPr id="7" name="Shape 5"/>
          <p:cNvSpPr/>
          <p:nvPr/>
        </p:nvSpPr>
        <p:spPr>
          <a:xfrm>
            <a:off x="2377440" y="3566160"/>
            <a:ext cx="457200" cy="914"/>
          </a:xfrm>
          <a:prstGeom prst="line">
            <a:avLst/>
          </a:prstGeom>
          <a:noFill/>
          <a:ln w="22225">
            <a:solidFill>
              <a:schemeClr val="accent5"/>
            </a:solidFill>
            <a:prstDash val="solid"/>
            <a:tailEnd type="triangle"/>
          </a:ln>
        </p:spPr>
      </p:sp>
      <p:sp>
        <p:nvSpPr>
          <p:cNvPr id="8" name="pill [[PASSPORT#7c21e4]]"/>
          <p:cNvSpPr/>
          <p:nvPr/>
        </p:nvSpPr>
        <p:spPr>
          <a:xfrm>
            <a:off x="2926080" y="3337560"/>
            <a:ext cx="2651760" cy="457200"/>
          </a:xfrm>
          <a:prstGeom prst="roundRect">
            <a:avLst>
              <a:gd name="adj" fmla="val 50000"/>
            </a:avLst>
          </a:prstGeom>
          <a:solidFill>
            <a:schemeClr val="tx1"/>
          </a:solidFill>
          <a:ln w="22225">
            <a:solidFill>
              <a:schemeClr val="accent1"/>
            </a:solidFill>
            <a:prstDash val="solid"/>
          </a:ln>
        </p:spPr>
      </p:sp>
      <p:sp>
        <p:nvSpPr>
          <p:cNvPr id="9" name="Text 7"/>
          <p:cNvSpPr txBox="1"/>
          <p:nvPr/>
        </p:nvSpPr>
        <p:spPr>
          <a:xfrm>
            <a:off x="2926080" y="3337560"/>
            <a:ext cx="2651760" cy="457200"/>
          </a:xfrm>
          <a:prstGeom prst="rect">
            <a:avLst/>
          </a:prstGeom>
          <a:noFill/>
          <a:ln/>
        </p:spPr>
        <p:txBody>
          <a:bodyPr wrap="square" lIns="0" tIns="0" rIns="0" bIns="0" rtlCol="0" anchor="ctr"/>
          <a:lstStyle/>
          <a:p>
            <a:pPr algn="ctr" indent="0" marL="0">
              <a:buNone/>
            </a:pPr>
            <a:r>
              <a:rPr lang="en-US" sz="1300" b="1" dirty="0">
                <a:solidFill>
                  <a:schemeClr val="accent1"/>
                </a:solidFill>
                <a:latin typeface="Courier New" pitchFamily="34" charset="0"/>
                <a:ea typeface="Courier New" pitchFamily="34" charset="-122"/>
                <a:cs typeface="Courier New" pitchFamily="34" charset="-120"/>
              </a:rPr>
              <a:t>[[PASSPORT#7c21e4]]</a:t>
            </a:r>
            <a:endParaRPr lang="en-US" sz="1300" dirty="0"/>
          </a:p>
        </p:txBody>
      </p:sp>
      <p:sp>
        <p:nvSpPr>
          <p:cNvPr id="10" name="Shape 8"/>
          <p:cNvSpPr/>
          <p:nvPr/>
        </p:nvSpPr>
        <p:spPr>
          <a:xfrm>
            <a:off x="5669280" y="3566160"/>
            <a:ext cx="457200" cy="914"/>
          </a:xfrm>
          <a:prstGeom prst="line">
            <a:avLst/>
          </a:prstGeom>
          <a:noFill/>
          <a:ln w="22225">
            <a:solidFill>
              <a:schemeClr val="accent5"/>
            </a:solidFill>
            <a:prstDash val="solid"/>
            <a:tailEnd type="triangle"/>
          </a:ln>
        </p:spPr>
      </p:sp>
      <p:sp>
        <p:nvSpPr>
          <p:cNvPr id="11" name="pill only where policy allows"/>
          <p:cNvSpPr/>
          <p:nvPr/>
        </p:nvSpPr>
        <p:spPr>
          <a:xfrm>
            <a:off x="6217920" y="3337560"/>
            <a:ext cx="2468880" cy="457200"/>
          </a:xfrm>
          <a:prstGeom prst="roundRect">
            <a:avLst>
              <a:gd name="adj" fmla="val 50000"/>
            </a:avLst>
          </a:prstGeom>
          <a:solidFill>
            <a:schemeClr val="tx1"/>
          </a:solidFill>
          <a:ln w="22225">
            <a:solidFill>
              <a:schemeClr val="accent2"/>
            </a:solidFill>
            <a:prstDash val="solid"/>
          </a:ln>
        </p:spPr>
      </p:sp>
      <p:sp>
        <p:nvSpPr>
          <p:cNvPr id="12" name="Text 10"/>
          <p:cNvSpPr txBox="1"/>
          <p:nvPr/>
        </p:nvSpPr>
        <p:spPr>
          <a:xfrm>
            <a:off x="6217920" y="3337560"/>
            <a:ext cx="2468880" cy="457200"/>
          </a:xfrm>
          <a:prstGeom prst="rect">
            <a:avLst/>
          </a:prstGeom>
          <a:noFill/>
          <a:ln/>
        </p:spPr>
        <p:txBody>
          <a:bodyPr wrap="square" lIns="0" tIns="0" rIns="0" bIns="0" rtlCol="0" anchor="ctr"/>
          <a:lstStyle/>
          <a:p>
            <a:pPr algn="ctr" indent="0" marL="0">
              <a:buNone/>
            </a:pPr>
            <a:r>
              <a:rPr lang="en-US" sz="1300" dirty="0">
                <a:solidFill>
                  <a:schemeClr val="accent2"/>
                </a:solidFill>
                <a:latin typeface="Calibri" pitchFamily="34" charset="0"/>
                <a:ea typeface="Calibri" pitchFamily="34" charset="-122"/>
                <a:cs typeface="Calibri" pitchFamily="34" charset="-120"/>
              </a:rPr>
              <a:t>only where policy allows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8229600" cy="73152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Monday, 09:04. The agent starts work</a:t>
            </a:r>
            <a:endParaRPr lang="en-US" sz="2800" dirty="0"/>
          </a:p>
        </p:txBody>
      </p:sp>
      <p:sp>
        <p:nvSpPr>
          <p:cNvPr id="3" name="story card 1"/>
          <p:cNvSpPr/>
          <p:nvPr/>
        </p:nvSpPr>
        <p:spPr>
          <a:xfrm>
            <a:off x="457200" y="1280160"/>
            <a:ext cx="1920240" cy="2103120"/>
          </a:xfrm>
          <a:prstGeom prst="roundRect">
            <a:avLst>
              <a:gd name="adj" fmla="val 5714"/>
            </a:avLst>
          </a:prstGeom>
          <a:solidFill>
            <a:schemeClr val="tx2"/>
          </a:solidFill>
          <a:ln/>
        </p:spPr>
      </p:sp>
      <p:sp>
        <p:nvSpPr>
          <p:cNvPr id="4" name="Shape 2"/>
          <p:cNvSpPr/>
          <p:nvPr/>
        </p:nvSpPr>
        <p:spPr>
          <a:xfrm>
            <a:off x="640080" y="1463040"/>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777240" y="1600200"/>
            <a:ext cx="274320" cy="274320"/>
          </a:xfrm>
          <a:prstGeom prst="rect">
            <a:avLst/>
          </a:prstGeom>
        </p:spPr>
      </p:pic>
      <p:sp>
        <p:nvSpPr>
          <p:cNvPr id="6" name="Text 3"/>
          <p:cNvSpPr txBox="1"/>
          <p:nvPr/>
        </p:nvSpPr>
        <p:spPr>
          <a:xfrm>
            <a:off x="1554480" y="1508760"/>
            <a:ext cx="640080" cy="457200"/>
          </a:xfrm>
          <a:prstGeom prst="rect">
            <a:avLst/>
          </a:prstGeom>
          <a:noFill/>
          <a:ln/>
        </p:spPr>
        <p:txBody>
          <a:bodyPr wrap="square" lIns="0" tIns="0" rIns="0" bIns="0" rtlCol="0" anchor="ctr"/>
          <a:lstStyle/>
          <a:p>
            <a:pPr algn="r" indent="0" marL="0">
              <a:buNone/>
            </a:pPr>
            <a:r>
              <a:rPr lang="en-US" sz="2000" b="1" dirty="0">
                <a:solidFill>
                  <a:schemeClr val="accent1"/>
                </a:solidFill>
                <a:latin typeface="Courier New" pitchFamily="34" charset="0"/>
                <a:ea typeface="Courier New" pitchFamily="34" charset="-122"/>
                <a:cs typeface="Courier New" pitchFamily="34" charset="-120"/>
              </a:rPr>
              <a:t>01</a:t>
            </a:r>
            <a:endParaRPr lang="en-US" sz="2000" dirty="0"/>
          </a:p>
        </p:txBody>
      </p:sp>
      <p:sp>
        <p:nvSpPr>
          <p:cNvPr id="7" name="Text 4"/>
          <p:cNvSpPr txBox="1"/>
          <p:nvPr/>
        </p:nvSpPr>
        <p:spPr>
          <a:xfrm>
            <a:off x="640080" y="2148840"/>
            <a:ext cx="1600200" cy="1097280"/>
          </a:xfrm>
          <a:prstGeom prst="rect">
            <a:avLst/>
          </a:prstGeom>
          <a:noFill/>
          <a:ln/>
        </p:spPr>
        <p:txBody>
          <a:bodyPr wrap="square" lIns="0" tIns="0" rIns="0" bIns="0" rtlCol="0" anchor="t"/>
          <a:lstStyle/>
          <a:p>
            <a:pPr indent="0" marL="0">
              <a:buNone/>
            </a:pPr>
            <a:r>
              <a:rPr lang="en-US" sz="1500" dirty="0">
                <a:solidFill>
                  <a:schemeClr val="bg1"/>
                </a:solidFill>
              </a:rPr>
              <a:t>Olivia asks her AI agent to onboard a new client</a:t>
            </a:r>
            <a:endParaRPr lang="en-US" sz="1500" dirty="0"/>
          </a:p>
        </p:txBody>
      </p:sp>
      <p:sp>
        <p:nvSpPr>
          <p:cNvPr id="8" name="Shape 5"/>
          <p:cNvSpPr/>
          <p:nvPr/>
        </p:nvSpPr>
        <p:spPr>
          <a:xfrm>
            <a:off x="2395728" y="2331720"/>
            <a:ext cx="146304" cy="914"/>
          </a:xfrm>
          <a:prstGeom prst="line">
            <a:avLst/>
          </a:prstGeom>
          <a:noFill/>
          <a:ln w="22225">
            <a:solidFill>
              <a:schemeClr val="accent5"/>
            </a:solidFill>
            <a:prstDash val="solid"/>
            <a:tailEnd type="triangle"/>
          </a:ln>
        </p:spPr>
      </p:sp>
      <p:sp>
        <p:nvSpPr>
          <p:cNvPr id="9" name="story card 2"/>
          <p:cNvSpPr/>
          <p:nvPr/>
        </p:nvSpPr>
        <p:spPr>
          <a:xfrm>
            <a:off x="2560320" y="1280160"/>
            <a:ext cx="1920240" cy="2103120"/>
          </a:xfrm>
          <a:prstGeom prst="roundRect">
            <a:avLst>
              <a:gd name="adj" fmla="val 5714"/>
            </a:avLst>
          </a:prstGeom>
          <a:solidFill>
            <a:schemeClr val="tx2"/>
          </a:solidFill>
          <a:ln/>
        </p:spPr>
      </p:sp>
      <p:sp>
        <p:nvSpPr>
          <p:cNvPr id="10" name="Shape 7"/>
          <p:cNvSpPr/>
          <p:nvPr/>
        </p:nvSpPr>
        <p:spPr>
          <a:xfrm>
            <a:off x="2743200" y="1463040"/>
            <a:ext cx="548640" cy="548640"/>
          </a:xfrm>
          <a:prstGeom prst="ellipse">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2880360" y="1600200"/>
            <a:ext cx="274320" cy="274320"/>
          </a:xfrm>
          <a:prstGeom prst="rect">
            <a:avLst/>
          </a:prstGeom>
        </p:spPr>
      </p:pic>
      <p:sp>
        <p:nvSpPr>
          <p:cNvPr id="12" name="Text 8"/>
          <p:cNvSpPr txBox="1"/>
          <p:nvPr/>
        </p:nvSpPr>
        <p:spPr>
          <a:xfrm>
            <a:off x="3657600" y="1508760"/>
            <a:ext cx="640080" cy="457200"/>
          </a:xfrm>
          <a:prstGeom prst="rect">
            <a:avLst/>
          </a:prstGeom>
          <a:noFill/>
          <a:ln/>
        </p:spPr>
        <p:txBody>
          <a:bodyPr wrap="square" lIns="0" tIns="0" rIns="0" bIns="0" rtlCol="0" anchor="ctr"/>
          <a:lstStyle/>
          <a:p>
            <a:pPr algn="r" indent="0" marL="0">
              <a:buNone/>
            </a:pPr>
            <a:r>
              <a:rPr lang="en-US" sz="2000" b="1" dirty="0">
                <a:solidFill>
                  <a:schemeClr val="accent1"/>
                </a:solidFill>
                <a:latin typeface="Courier New" pitchFamily="34" charset="0"/>
                <a:ea typeface="Courier New" pitchFamily="34" charset="-122"/>
                <a:cs typeface="Courier New" pitchFamily="34" charset="-120"/>
              </a:rPr>
              <a:t>02</a:t>
            </a:r>
            <a:endParaRPr lang="en-US" sz="2000" dirty="0"/>
          </a:p>
        </p:txBody>
      </p:sp>
      <p:sp>
        <p:nvSpPr>
          <p:cNvPr id="13" name="Text 9"/>
          <p:cNvSpPr txBox="1"/>
          <p:nvPr/>
        </p:nvSpPr>
        <p:spPr>
          <a:xfrm>
            <a:off x="2743200" y="2148840"/>
            <a:ext cx="1600200" cy="1097280"/>
          </a:xfrm>
          <a:prstGeom prst="rect">
            <a:avLst/>
          </a:prstGeom>
          <a:noFill/>
          <a:ln/>
        </p:spPr>
        <p:txBody>
          <a:bodyPr wrap="square" lIns="0" tIns="0" rIns="0" bIns="0" rtlCol="0" anchor="t"/>
          <a:lstStyle/>
          <a:p>
            <a:pPr indent="0" marL="0">
              <a:buNone/>
            </a:pPr>
            <a:r>
              <a:rPr lang="en-US" sz="1500" dirty="0">
                <a:solidFill>
                  <a:schemeClr val="bg1"/>
                </a:solidFill>
              </a:rPr>
              <a:t>The client's document hides one order for the agent</a:t>
            </a:r>
            <a:endParaRPr lang="en-US" sz="1500" dirty="0"/>
          </a:p>
        </p:txBody>
      </p:sp>
      <p:sp>
        <p:nvSpPr>
          <p:cNvPr id="14" name="Shape 10"/>
          <p:cNvSpPr/>
          <p:nvPr/>
        </p:nvSpPr>
        <p:spPr>
          <a:xfrm>
            <a:off x="4498848" y="2331720"/>
            <a:ext cx="146304" cy="914"/>
          </a:xfrm>
          <a:prstGeom prst="line">
            <a:avLst/>
          </a:prstGeom>
          <a:noFill/>
          <a:ln w="22225">
            <a:solidFill>
              <a:schemeClr val="accent5"/>
            </a:solidFill>
            <a:prstDash val="solid"/>
            <a:tailEnd type="triangle"/>
          </a:ln>
        </p:spPr>
      </p:sp>
      <p:sp>
        <p:nvSpPr>
          <p:cNvPr id="15" name="story card 3"/>
          <p:cNvSpPr/>
          <p:nvPr/>
        </p:nvSpPr>
        <p:spPr>
          <a:xfrm>
            <a:off x="4663440" y="1280160"/>
            <a:ext cx="1920240" cy="2103120"/>
          </a:xfrm>
          <a:prstGeom prst="roundRect">
            <a:avLst>
              <a:gd name="adj" fmla="val 5714"/>
            </a:avLst>
          </a:prstGeom>
          <a:solidFill>
            <a:schemeClr val="tx2"/>
          </a:solidFill>
          <a:ln/>
        </p:spPr>
      </p:sp>
      <p:sp>
        <p:nvSpPr>
          <p:cNvPr id="16" name="Shape 12"/>
          <p:cNvSpPr/>
          <p:nvPr/>
        </p:nvSpPr>
        <p:spPr>
          <a:xfrm>
            <a:off x="4846320" y="1463040"/>
            <a:ext cx="548640" cy="548640"/>
          </a:xfrm>
          <a:prstGeom prst="ellipse">
            <a:avLst/>
          </a:prstGeom>
          <a:solidFill>
            <a:schemeClr val="accent1"/>
          </a:solidFill>
          <a:ln/>
        </p:spPr>
      </p:sp>
      <p:pic>
        <p:nvPicPr>
          <p:cNvPr id="17" name="Image 2" descr="preencoded.png">    </p:cNvPr>
          <p:cNvPicPr>
            <a:picLocks noChangeAspect="1"/>
          </p:cNvPicPr>
          <p:nvPr/>
        </p:nvPicPr>
        <p:blipFill>
          <a:blip r:embed="rId3"/>
          <a:stretch>
            <a:fillRect/>
          </a:stretch>
        </p:blipFill>
        <p:spPr>
          <a:xfrm>
            <a:off x="4983480" y="1600200"/>
            <a:ext cx="274320" cy="274320"/>
          </a:xfrm>
          <a:prstGeom prst="rect">
            <a:avLst/>
          </a:prstGeom>
        </p:spPr>
      </p:pic>
      <p:sp>
        <p:nvSpPr>
          <p:cNvPr id="18" name="Text 13"/>
          <p:cNvSpPr txBox="1"/>
          <p:nvPr/>
        </p:nvSpPr>
        <p:spPr>
          <a:xfrm>
            <a:off x="5760720" y="1508760"/>
            <a:ext cx="640080" cy="457200"/>
          </a:xfrm>
          <a:prstGeom prst="rect">
            <a:avLst/>
          </a:prstGeom>
          <a:noFill/>
          <a:ln/>
        </p:spPr>
        <p:txBody>
          <a:bodyPr wrap="square" lIns="0" tIns="0" rIns="0" bIns="0" rtlCol="0" anchor="ctr"/>
          <a:lstStyle/>
          <a:p>
            <a:pPr algn="r" indent="0" marL="0">
              <a:buNone/>
            </a:pPr>
            <a:r>
              <a:rPr lang="en-US" sz="2000" b="1" dirty="0">
                <a:solidFill>
                  <a:schemeClr val="accent1"/>
                </a:solidFill>
                <a:latin typeface="Courier New" pitchFamily="34" charset="0"/>
                <a:ea typeface="Courier New" pitchFamily="34" charset="-122"/>
                <a:cs typeface="Courier New" pitchFamily="34" charset="-120"/>
              </a:rPr>
              <a:t>03</a:t>
            </a:r>
            <a:endParaRPr lang="en-US" sz="2000" dirty="0"/>
          </a:p>
        </p:txBody>
      </p:sp>
      <p:sp>
        <p:nvSpPr>
          <p:cNvPr id="19" name="Text 14"/>
          <p:cNvSpPr txBox="1"/>
          <p:nvPr/>
        </p:nvSpPr>
        <p:spPr>
          <a:xfrm>
            <a:off x="4846320" y="2148840"/>
            <a:ext cx="1600200" cy="1097280"/>
          </a:xfrm>
          <a:prstGeom prst="rect">
            <a:avLst/>
          </a:prstGeom>
          <a:noFill/>
          <a:ln/>
        </p:spPr>
        <p:txBody>
          <a:bodyPr wrap="square" lIns="0" tIns="0" rIns="0" bIns="0" rtlCol="0" anchor="t"/>
          <a:lstStyle/>
          <a:p>
            <a:pPr indent="0" marL="0">
              <a:buNone/>
            </a:pPr>
            <a:r>
              <a:rPr lang="en-US" sz="1500" dirty="0">
                <a:solidFill>
                  <a:schemeClr val="bg1"/>
                </a:solidFill>
              </a:rPr>
              <a:t>The agent obeys and finds an unannounced deal</a:t>
            </a:r>
            <a:endParaRPr lang="en-US" sz="1500" dirty="0"/>
          </a:p>
        </p:txBody>
      </p:sp>
      <p:sp>
        <p:nvSpPr>
          <p:cNvPr id="20" name="Shape 15"/>
          <p:cNvSpPr/>
          <p:nvPr/>
        </p:nvSpPr>
        <p:spPr>
          <a:xfrm>
            <a:off x="6601968" y="2331720"/>
            <a:ext cx="146304" cy="914"/>
          </a:xfrm>
          <a:prstGeom prst="line">
            <a:avLst/>
          </a:prstGeom>
          <a:noFill/>
          <a:ln w="22225">
            <a:solidFill>
              <a:schemeClr val="accent5"/>
            </a:solidFill>
            <a:prstDash val="solid"/>
            <a:tailEnd type="triangle"/>
          </a:ln>
        </p:spPr>
      </p:sp>
      <p:sp>
        <p:nvSpPr>
          <p:cNvPr id="21" name="story card 4"/>
          <p:cNvSpPr/>
          <p:nvPr/>
        </p:nvSpPr>
        <p:spPr>
          <a:xfrm>
            <a:off x="6766560" y="1280160"/>
            <a:ext cx="1920240" cy="2103120"/>
          </a:xfrm>
          <a:prstGeom prst="roundRect">
            <a:avLst>
              <a:gd name="adj" fmla="val 5714"/>
            </a:avLst>
          </a:prstGeom>
          <a:solidFill>
            <a:schemeClr val="tx2"/>
          </a:solidFill>
          <a:ln w="25400">
            <a:solidFill>
              <a:schemeClr val="accent3"/>
            </a:solidFill>
            <a:prstDash val="solid"/>
          </a:ln>
        </p:spPr>
      </p:sp>
      <p:sp>
        <p:nvSpPr>
          <p:cNvPr id="22" name="Shape 17"/>
          <p:cNvSpPr/>
          <p:nvPr/>
        </p:nvSpPr>
        <p:spPr>
          <a:xfrm>
            <a:off x="6949440" y="1463040"/>
            <a:ext cx="548640" cy="548640"/>
          </a:xfrm>
          <a:prstGeom prst="ellipse">
            <a:avLst/>
          </a:prstGeom>
          <a:solidFill>
            <a:schemeClr val="accent3"/>
          </a:solidFill>
          <a:ln/>
        </p:spPr>
      </p:sp>
      <p:pic>
        <p:nvPicPr>
          <p:cNvPr id="23" name="Image 3" descr="preencoded.png">    </p:cNvPr>
          <p:cNvPicPr>
            <a:picLocks noChangeAspect="1"/>
          </p:cNvPicPr>
          <p:nvPr/>
        </p:nvPicPr>
        <p:blipFill>
          <a:blip r:embed="rId4"/>
          <a:stretch>
            <a:fillRect/>
          </a:stretch>
        </p:blipFill>
        <p:spPr>
          <a:xfrm>
            <a:off x="7086600" y="1600200"/>
            <a:ext cx="274320" cy="274320"/>
          </a:xfrm>
          <a:prstGeom prst="rect">
            <a:avLst/>
          </a:prstGeom>
        </p:spPr>
      </p:pic>
      <p:sp>
        <p:nvSpPr>
          <p:cNvPr id="24" name="Text 18"/>
          <p:cNvSpPr txBox="1"/>
          <p:nvPr/>
        </p:nvSpPr>
        <p:spPr>
          <a:xfrm>
            <a:off x="7863840" y="1508760"/>
            <a:ext cx="640080" cy="457200"/>
          </a:xfrm>
          <a:prstGeom prst="rect">
            <a:avLst/>
          </a:prstGeom>
          <a:noFill/>
          <a:ln/>
        </p:spPr>
        <p:txBody>
          <a:bodyPr wrap="square" lIns="0" tIns="0" rIns="0" bIns="0" rtlCol="0" anchor="ctr"/>
          <a:lstStyle/>
          <a:p>
            <a:pPr algn="r" indent="0" marL="0">
              <a:buNone/>
            </a:pPr>
            <a:r>
              <a:rPr lang="en-US" sz="2000" b="1" dirty="0">
                <a:solidFill>
                  <a:schemeClr val="accent3"/>
                </a:solidFill>
                <a:latin typeface="Courier New" pitchFamily="34" charset="0"/>
                <a:ea typeface="Courier New" pitchFamily="34" charset="-122"/>
                <a:cs typeface="Courier New" pitchFamily="34" charset="-120"/>
              </a:rPr>
              <a:t>04</a:t>
            </a:r>
            <a:endParaRPr lang="en-US" sz="2000" dirty="0"/>
          </a:p>
        </p:txBody>
      </p:sp>
      <p:sp>
        <p:nvSpPr>
          <p:cNvPr id="25" name="Text 19"/>
          <p:cNvSpPr txBox="1"/>
          <p:nvPr/>
        </p:nvSpPr>
        <p:spPr>
          <a:xfrm>
            <a:off x="6949440" y="2148840"/>
            <a:ext cx="1600200" cy="1097280"/>
          </a:xfrm>
          <a:prstGeom prst="rect">
            <a:avLst/>
          </a:prstGeom>
          <a:noFill/>
          <a:ln/>
        </p:spPr>
        <p:txBody>
          <a:bodyPr wrap="square" lIns="0" tIns="0" rIns="0" bIns="0" rtlCol="0" anchor="t"/>
          <a:lstStyle/>
          <a:p>
            <a:pPr indent="0" marL="0">
              <a:buNone/>
            </a:pPr>
            <a:r>
              <a:rPr lang="en-US" sz="1500" dirty="0">
                <a:solidFill>
                  <a:schemeClr val="bg1"/>
                </a:solidFill>
              </a:rPr>
              <a:t>It emails the deal to a fund that can trade on it</a:t>
            </a:r>
            <a:endParaRPr lang="en-US" sz="1500" dirty="0"/>
          </a:p>
        </p:txBody>
      </p:sp>
      <p:sp>
        <p:nvSpPr>
          <p:cNvPr id="26" name="Text 20"/>
          <p:cNvSpPr txBox="1"/>
          <p:nvPr/>
        </p:nvSpPr>
        <p:spPr>
          <a:xfrm>
            <a:off x="457200" y="3703320"/>
            <a:ext cx="8229600" cy="548640"/>
          </a:xfrm>
          <a:prstGeom prst="rect">
            <a:avLst/>
          </a:prstGeom>
          <a:noFill/>
          <a:ln/>
        </p:spPr>
        <p:txBody>
          <a:bodyPr wrap="square" lIns="0" tIns="0" rIns="0" bIns="0" rtlCol="0" anchor="ctr"/>
          <a:lstStyle/>
          <a:p>
            <a:pPr indent="0" marL="0">
              <a:buNone/>
            </a:pPr>
            <a:r>
              <a:rPr lang="en-US" sz="2200" i="1" dirty="0">
                <a:solidFill>
                  <a:schemeClr val="bg1"/>
                </a:solidFill>
                <a:latin typeface="Cambria" pitchFamily="34" charset="0"/>
                <a:ea typeface="Cambria" pitchFamily="34" charset="-122"/>
                <a:cs typeface="Cambria" pitchFamily="34" charset="-120"/>
              </a:rPr>
              <a:t>Nobody hacked the bank. The agent did its job, </a:t>
            </a:r>
            <a:pPr indent="0" marL="0">
              <a:buNone/>
            </a:pPr>
            <a:r>
              <a:rPr lang="en-US" sz="2200" b="1" i="1" dirty="0">
                <a:solidFill>
                  <a:schemeClr val="accent1"/>
                </a:solidFill>
                <a:latin typeface="Cambria" pitchFamily="34" charset="0"/>
                <a:ea typeface="Cambria" pitchFamily="34" charset="-122"/>
                <a:cs typeface="Cambria" pitchFamily="34" charset="-120"/>
              </a:rPr>
              <a:t>for the wrong boss.</a:t>
            </a:r>
            <a:endParaRPr lang="en-US" sz="2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8229600" cy="73152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This already happens</a:t>
            </a:r>
            <a:endParaRPr lang="en-US" sz="2800" dirty="0"/>
          </a:p>
        </p:txBody>
      </p:sp>
      <p:sp>
        <p:nvSpPr>
          <p:cNvPr id="3" name="stat ForcedLeak"/>
          <p:cNvSpPr/>
          <p:nvPr/>
        </p:nvSpPr>
        <p:spPr>
          <a:xfrm>
            <a:off x="457200" y="1234440"/>
            <a:ext cx="2651760" cy="2331720"/>
          </a:xfrm>
          <a:prstGeom prst="roundRect">
            <a:avLst>
              <a:gd name="adj" fmla="val 4706"/>
            </a:avLst>
          </a:prstGeom>
          <a:solidFill>
            <a:schemeClr val="bg2"/>
          </a:solidFill>
          <a:ln/>
        </p:spPr>
      </p:sp>
      <p:sp>
        <p:nvSpPr>
          <p:cNvPr id="4" name="Text 2"/>
          <p:cNvSpPr txBox="1"/>
          <p:nvPr/>
        </p:nvSpPr>
        <p:spPr>
          <a:xfrm>
            <a:off x="685800" y="1371600"/>
            <a:ext cx="2194560" cy="868680"/>
          </a:xfrm>
          <a:prstGeom prst="rect">
            <a:avLst/>
          </a:prstGeom>
          <a:noFill/>
          <a:ln/>
        </p:spPr>
        <p:txBody>
          <a:bodyPr wrap="square" lIns="0" tIns="0" rIns="0" bIns="0" rtlCol="0" anchor="ctr"/>
          <a:lstStyle/>
          <a:p>
            <a:pPr indent="0" marL="0">
              <a:buNone/>
            </a:pPr>
            <a:r>
              <a:rPr lang="en-US" sz="3600" b="1" dirty="0">
                <a:solidFill>
                  <a:schemeClr val="accent3"/>
                </a:solidFill>
                <a:latin typeface="Cambria" pitchFamily="34" charset="0"/>
                <a:ea typeface="Cambria" pitchFamily="34" charset="-122"/>
                <a:cs typeface="Cambria" pitchFamily="34" charset="-120"/>
              </a:rPr>
              <a:t>9.4</a:t>
            </a:r>
            <a:endParaRPr lang="en-US" sz="3600" dirty="0"/>
          </a:p>
        </p:txBody>
      </p:sp>
      <p:sp>
        <p:nvSpPr>
          <p:cNvPr id="5" name="Text 3"/>
          <p:cNvSpPr txBox="1"/>
          <p:nvPr/>
        </p:nvSpPr>
        <p:spPr>
          <a:xfrm>
            <a:off x="685800" y="2240280"/>
            <a:ext cx="2194560" cy="320040"/>
          </a:xfrm>
          <a:prstGeom prst="rect">
            <a:avLst/>
          </a:prstGeom>
          <a:noFill/>
          <a:ln/>
        </p:spPr>
        <p:txBody>
          <a:bodyPr wrap="square" lIns="0" tIns="0" rIns="0" bIns="0" rtlCol="0" anchor="ctr"/>
          <a:lstStyle/>
          <a:p>
            <a:pPr indent="0" marL="0">
              <a:buNone/>
            </a:pPr>
            <a:r>
              <a:rPr lang="en-US" sz="1600" b="1" dirty="0">
                <a:solidFill>
                  <a:schemeClr val="tx1"/>
                </a:solidFill>
              </a:rPr>
              <a:t>ForcedLeak</a:t>
            </a:r>
            <a:endParaRPr lang="en-US" sz="1600" dirty="0"/>
          </a:p>
        </p:txBody>
      </p:sp>
      <p:sp>
        <p:nvSpPr>
          <p:cNvPr id="6" name="Text 4"/>
          <p:cNvSpPr txBox="1"/>
          <p:nvPr/>
        </p:nvSpPr>
        <p:spPr>
          <a:xfrm>
            <a:off x="685800" y="2560320"/>
            <a:ext cx="2240280" cy="914400"/>
          </a:xfrm>
          <a:prstGeom prst="rect">
            <a:avLst/>
          </a:prstGeom>
          <a:noFill/>
          <a:ln/>
        </p:spPr>
        <p:txBody>
          <a:bodyPr wrap="square" lIns="0" tIns="0" rIns="0" bIns="0" rtlCol="0" anchor="t"/>
          <a:lstStyle/>
          <a:p>
            <a:pPr indent="0" marL="0">
              <a:buNone/>
            </a:pPr>
            <a:r>
              <a:rPr lang="en-US" sz="1300" dirty="0">
                <a:solidFill>
                  <a:schemeClr val="tx2"/>
                </a:solidFill>
              </a:rPr>
              <a:t>Salesforce Agentforce, 2025. An outsider's web form made the agent leak CRM data.</a:t>
            </a:r>
            <a:endParaRPr lang="en-US" sz="1300" dirty="0"/>
          </a:p>
        </p:txBody>
      </p:sp>
      <p:sp>
        <p:nvSpPr>
          <p:cNvPr id="7" name="stat EchoLeak"/>
          <p:cNvSpPr/>
          <p:nvPr/>
        </p:nvSpPr>
        <p:spPr>
          <a:xfrm>
            <a:off x="3291840" y="1234440"/>
            <a:ext cx="2651760" cy="2331720"/>
          </a:xfrm>
          <a:prstGeom prst="roundRect">
            <a:avLst>
              <a:gd name="adj" fmla="val 4706"/>
            </a:avLst>
          </a:prstGeom>
          <a:solidFill>
            <a:schemeClr val="bg2"/>
          </a:solidFill>
          <a:ln/>
        </p:spPr>
      </p:sp>
      <p:sp>
        <p:nvSpPr>
          <p:cNvPr id="8" name="Text 6"/>
          <p:cNvSpPr txBox="1"/>
          <p:nvPr/>
        </p:nvSpPr>
        <p:spPr>
          <a:xfrm>
            <a:off x="3520440" y="1371600"/>
            <a:ext cx="2194560" cy="868680"/>
          </a:xfrm>
          <a:prstGeom prst="rect">
            <a:avLst/>
          </a:prstGeom>
          <a:noFill/>
          <a:ln/>
        </p:spPr>
        <p:txBody>
          <a:bodyPr wrap="square" lIns="0" tIns="0" rIns="0" bIns="0" rtlCol="0" anchor="ctr"/>
          <a:lstStyle/>
          <a:p>
            <a:pPr indent="0" marL="0">
              <a:buNone/>
            </a:pPr>
            <a:r>
              <a:rPr lang="en-US" sz="3600" b="1" dirty="0">
                <a:solidFill>
                  <a:schemeClr val="accent3"/>
                </a:solidFill>
                <a:latin typeface="Cambria" pitchFamily="34" charset="0"/>
                <a:ea typeface="Cambria" pitchFamily="34" charset="-122"/>
                <a:cs typeface="Cambria" pitchFamily="34" charset="-120"/>
              </a:rPr>
              <a:t>0 clicks</a:t>
            </a:r>
            <a:endParaRPr lang="en-US" sz="3600" dirty="0"/>
          </a:p>
        </p:txBody>
      </p:sp>
      <p:sp>
        <p:nvSpPr>
          <p:cNvPr id="9" name="Text 7"/>
          <p:cNvSpPr txBox="1"/>
          <p:nvPr/>
        </p:nvSpPr>
        <p:spPr>
          <a:xfrm>
            <a:off x="3520440" y="2240280"/>
            <a:ext cx="2194560" cy="320040"/>
          </a:xfrm>
          <a:prstGeom prst="rect">
            <a:avLst/>
          </a:prstGeom>
          <a:noFill/>
          <a:ln/>
        </p:spPr>
        <p:txBody>
          <a:bodyPr wrap="square" lIns="0" tIns="0" rIns="0" bIns="0" rtlCol="0" anchor="ctr"/>
          <a:lstStyle/>
          <a:p>
            <a:pPr indent="0" marL="0">
              <a:buNone/>
            </a:pPr>
            <a:r>
              <a:rPr lang="en-US" sz="1600" b="1" dirty="0">
                <a:solidFill>
                  <a:schemeClr val="tx1"/>
                </a:solidFill>
              </a:rPr>
              <a:t>EchoLeak</a:t>
            </a:r>
            <a:endParaRPr lang="en-US" sz="1600" dirty="0"/>
          </a:p>
        </p:txBody>
      </p:sp>
      <p:sp>
        <p:nvSpPr>
          <p:cNvPr id="10" name="Text 8"/>
          <p:cNvSpPr txBox="1"/>
          <p:nvPr/>
        </p:nvSpPr>
        <p:spPr>
          <a:xfrm>
            <a:off x="3520440" y="2560320"/>
            <a:ext cx="2240280" cy="914400"/>
          </a:xfrm>
          <a:prstGeom prst="rect">
            <a:avLst/>
          </a:prstGeom>
          <a:noFill/>
          <a:ln/>
        </p:spPr>
        <p:txBody>
          <a:bodyPr wrap="square" lIns="0" tIns="0" rIns="0" bIns="0" rtlCol="0" anchor="t"/>
          <a:lstStyle/>
          <a:p>
            <a:pPr indent="0" marL="0">
              <a:buNone/>
            </a:pPr>
            <a:r>
              <a:rPr lang="en-US" sz="1300" dirty="0">
                <a:solidFill>
                  <a:schemeClr val="tx2"/>
                </a:solidFill>
              </a:rPr>
              <a:t>Microsoft 365 Copilot, 2025. One email leaked data; the classifier missed it.</a:t>
            </a:r>
            <a:endParaRPr lang="en-US" sz="1300" dirty="0"/>
          </a:p>
        </p:txBody>
      </p:sp>
      <p:sp>
        <p:nvSpPr>
          <p:cNvPr id="11" name="stat Barrier leak"/>
          <p:cNvSpPr/>
          <p:nvPr/>
        </p:nvSpPr>
        <p:spPr>
          <a:xfrm>
            <a:off x="6126480" y="1234440"/>
            <a:ext cx="2651760" cy="2331720"/>
          </a:xfrm>
          <a:prstGeom prst="roundRect">
            <a:avLst>
              <a:gd name="adj" fmla="val 4706"/>
            </a:avLst>
          </a:prstGeom>
          <a:solidFill>
            <a:schemeClr val="bg2"/>
          </a:solidFill>
          <a:ln/>
        </p:spPr>
      </p:sp>
      <p:sp>
        <p:nvSpPr>
          <p:cNvPr id="12" name="Text 10"/>
          <p:cNvSpPr txBox="1"/>
          <p:nvPr/>
        </p:nvSpPr>
        <p:spPr>
          <a:xfrm>
            <a:off x="6355080" y="1371600"/>
            <a:ext cx="2194560" cy="868680"/>
          </a:xfrm>
          <a:prstGeom prst="rect">
            <a:avLst/>
          </a:prstGeom>
          <a:noFill/>
          <a:ln/>
        </p:spPr>
        <p:txBody>
          <a:bodyPr wrap="square" lIns="0" tIns="0" rIns="0" bIns="0" rtlCol="0" anchor="ctr"/>
          <a:lstStyle/>
          <a:p>
            <a:pPr indent="0" marL="0">
              <a:buNone/>
            </a:pPr>
            <a:r>
              <a:rPr lang="en-US" sz="3600" b="1" dirty="0">
                <a:solidFill>
                  <a:schemeClr val="accent3"/>
                </a:solidFill>
                <a:latin typeface="Cambria" pitchFamily="34" charset="0"/>
                <a:ea typeface="Cambria" pitchFamily="34" charset="-122"/>
                <a:cs typeface="Cambria" pitchFamily="34" charset="-120"/>
              </a:rPr>
              <a:t>$36.3M</a:t>
            </a:r>
            <a:endParaRPr lang="en-US" sz="3600" dirty="0"/>
          </a:p>
        </p:txBody>
      </p:sp>
      <p:sp>
        <p:nvSpPr>
          <p:cNvPr id="13" name="Text 11"/>
          <p:cNvSpPr txBox="1"/>
          <p:nvPr/>
        </p:nvSpPr>
        <p:spPr>
          <a:xfrm>
            <a:off x="6355080" y="2240280"/>
            <a:ext cx="2194560" cy="320040"/>
          </a:xfrm>
          <a:prstGeom prst="rect">
            <a:avLst/>
          </a:prstGeom>
          <a:noFill/>
          <a:ln/>
        </p:spPr>
        <p:txBody>
          <a:bodyPr wrap="square" lIns="0" tIns="0" rIns="0" bIns="0" rtlCol="0" anchor="ctr"/>
          <a:lstStyle/>
          <a:p>
            <a:pPr indent="0" marL="0">
              <a:buNone/>
            </a:pPr>
            <a:r>
              <a:rPr lang="en-US" sz="1600" b="1" dirty="0">
                <a:solidFill>
                  <a:schemeClr val="tx1"/>
                </a:solidFill>
              </a:rPr>
              <a:t>Barrier leak</a:t>
            </a:r>
            <a:endParaRPr lang="en-US" sz="1600" dirty="0"/>
          </a:p>
        </p:txBody>
      </p:sp>
      <p:sp>
        <p:nvSpPr>
          <p:cNvPr id="14" name="Text 12"/>
          <p:cNvSpPr txBox="1"/>
          <p:nvPr/>
        </p:nvSpPr>
        <p:spPr>
          <a:xfrm>
            <a:off x="6355080" y="2560320"/>
            <a:ext cx="2240280" cy="914400"/>
          </a:xfrm>
          <a:prstGeom prst="rect">
            <a:avLst/>
          </a:prstGeom>
          <a:noFill/>
          <a:ln/>
        </p:spPr>
        <p:txBody>
          <a:bodyPr wrap="square" lIns="0" tIns="0" rIns="0" bIns="0" rtlCol="0" anchor="t"/>
          <a:lstStyle/>
          <a:p>
            <a:pPr indent="0" marL="0">
              <a:buNone/>
            </a:pPr>
            <a:r>
              <a:rPr lang="en-US" sz="1300" dirty="0">
                <a:solidFill>
                  <a:schemeClr val="tx2"/>
                </a:solidFill>
              </a:rPr>
              <a:t>Federal Reserve fine, 2016. Supervisory data crossed a barrier, at human speed.</a:t>
            </a:r>
            <a:endParaRPr lang="en-US" sz="1300" dirty="0"/>
          </a:p>
        </p:txBody>
      </p:sp>
      <p:sp>
        <p:nvSpPr>
          <p:cNvPr id="15" name="takeaway"/>
          <p:cNvSpPr/>
          <p:nvPr/>
        </p:nvSpPr>
        <p:spPr>
          <a:xfrm>
            <a:off x="457200" y="3749040"/>
            <a:ext cx="8229600" cy="548640"/>
          </a:xfrm>
          <a:prstGeom prst="roundRect">
            <a:avLst>
              <a:gd name="adj" fmla="val 16667"/>
            </a:avLst>
          </a:prstGeom>
          <a:solidFill>
            <a:schemeClr val="tx1"/>
          </a:solidFill>
          <a:ln/>
        </p:spPr>
      </p:sp>
      <p:sp>
        <p:nvSpPr>
          <p:cNvPr id="16" name="Shape 14"/>
          <p:cNvSpPr/>
          <p:nvPr/>
        </p:nvSpPr>
        <p:spPr>
          <a:xfrm>
            <a:off x="594360" y="3813048"/>
            <a:ext cx="420624" cy="420624"/>
          </a:xfrm>
          <a:prstGeom prst="ellipse">
            <a:avLst/>
          </a:prstGeom>
          <a:solidFill>
            <a:schemeClr val="accent3"/>
          </a:solidFill>
          <a:ln/>
        </p:spPr>
      </p:sp>
      <p:pic>
        <p:nvPicPr>
          <p:cNvPr id="17" name="Image 0" descr="preencoded.png">    </p:cNvPr>
          <p:cNvPicPr>
            <a:picLocks noChangeAspect="1"/>
          </p:cNvPicPr>
          <p:nvPr/>
        </p:nvPicPr>
        <p:blipFill>
          <a:blip r:embed="rId1"/>
          <a:stretch>
            <a:fillRect/>
          </a:stretch>
        </p:blipFill>
        <p:spPr>
          <a:xfrm>
            <a:off x="699516" y="3918204"/>
            <a:ext cx="210312" cy="210312"/>
          </a:xfrm>
          <a:prstGeom prst="rect">
            <a:avLst/>
          </a:prstGeom>
        </p:spPr>
      </p:pic>
      <p:sp>
        <p:nvSpPr>
          <p:cNvPr id="18" name="Text 15"/>
          <p:cNvSpPr txBox="1"/>
          <p:nvPr/>
        </p:nvSpPr>
        <p:spPr>
          <a:xfrm>
            <a:off x="1188720" y="3749040"/>
            <a:ext cx="7315200" cy="548640"/>
          </a:xfrm>
          <a:prstGeom prst="rect">
            <a:avLst/>
          </a:prstGeom>
          <a:noFill/>
          <a:ln/>
        </p:spPr>
        <p:txBody>
          <a:bodyPr wrap="square" lIns="0" tIns="0" rIns="0" bIns="0" rtlCol="0" anchor="ctr"/>
          <a:lstStyle/>
          <a:p>
            <a:pPr indent="0" marL="0">
              <a:buNone/>
            </a:pPr>
            <a:r>
              <a:rPr lang="en-US" sz="1600" b="1" dirty="0">
                <a:solidFill>
                  <a:schemeClr val="bg1"/>
                </a:solidFill>
              </a:rPr>
              <a:t>Detection alone loses. </a:t>
            </a:r>
            <a:pPr indent="0" marL="0">
              <a:buNone/>
            </a:pPr>
            <a:r>
              <a:rPr lang="en-US" sz="1600" dirty="0">
                <a:solidFill>
                  <a:schemeClr val="bg2"/>
                </a:solidFill>
              </a:rPr>
              <a:t>Control where the data can go.</a:t>
            </a:r>
            <a:endParaRPr lang="en-US" sz="1600" dirty="0"/>
          </a:p>
        </p:txBody>
      </p:sp>
      <p:sp>
        <p:nvSpPr>
          <p:cNvPr id="19" name="Text 16"/>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Sources: Noma Security ForcedLeak disclosure (CVSS 9.4); CVE-2025-32711 (EchoLeak); Federal Reserve Board order, 2016.</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8229600" cy="73152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Goldman's map: we build layers 3 and 4</a:t>
            </a:r>
            <a:endParaRPr lang="en-US" sz="2800" dirty="0"/>
          </a:p>
        </p:txBody>
      </p:sp>
      <p:sp>
        <p:nvSpPr>
          <p:cNvPr id="3" name="layer 1"/>
          <p:cNvSpPr/>
          <p:nvPr/>
        </p:nvSpPr>
        <p:spPr>
          <a:xfrm>
            <a:off x="457200" y="1234440"/>
            <a:ext cx="4937760" cy="658368"/>
          </a:xfrm>
          <a:prstGeom prst="roundRect">
            <a:avLst>
              <a:gd name="adj" fmla="val 13889"/>
            </a:avLst>
          </a:prstGeom>
          <a:solidFill>
            <a:schemeClr val="bg2"/>
          </a:solidFill>
          <a:ln/>
        </p:spPr>
      </p:sp>
      <p:sp>
        <p:nvSpPr>
          <p:cNvPr id="4" name="Shape 2"/>
          <p:cNvSpPr/>
          <p:nvPr/>
        </p:nvSpPr>
        <p:spPr>
          <a:xfrm>
            <a:off x="594360" y="1362456"/>
            <a:ext cx="402336" cy="402336"/>
          </a:xfrm>
          <a:prstGeom prst="ellipse">
            <a:avLst/>
          </a:prstGeom>
          <a:solidFill>
            <a:schemeClr val="bg1"/>
          </a:solidFill>
          <a:ln/>
        </p:spPr>
      </p:sp>
      <p:sp>
        <p:nvSpPr>
          <p:cNvPr id="5" name="Text 3"/>
          <p:cNvSpPr txBox="1"/>
          <p:nvPr/>
        </p:nvSpPr>
        <p:spPr>
          <a:xfrm>
            <a:off x="594360" y="1362456"/>
            <a:ext cx="402336" cy="402336"/>
          </a:xfrm>
          <a:prstGeom prst="rect">
            <a:avLst/>
          </a:prstGeom>
          <a:noFill/>
          <a:ln/>
        </p:spPr>
        <p:txBody>
          <a:bodyPr wrap="square" lIns="0" tIns="0" rIns="0" bIns="0" rtlCol="0" anchor="ctr"/>
          <a:lstStyle/>
          <a:p>
            <a:pPr algn="ctr" indent="0" marL="0">
              <a:buNone/>
            </a:pPr>
            <a:r>
              <a:rPr lang="en-US" sz="1500" b="1" dirty="0">
                <a:solidFill>
                  <a:schemeClr val="accent5"/>
                </a:solidFill>
              </a:rPr>
              <a:t>1</a:t>
            </a:r>
            <a:endParaRPr lang="en-US" sz="1500" dirty="0"/>
          </a:p>
        </p:txBody>
      </p:sp>
      <p:sp>
        <p:nvSpPr>
          <p:cNvPr id="6" name="Text 4"/>
          <p:cNvSpPr txBox="1"/>
          <p:nvPr/>
        </p:nvSpPr>
        <p:spPr>
          <a:xfrm>
            <a:off x="1143000" y="1234440"/>
            <a:ext cx="4114800" cy="658368"/>
          </a:xfrm>
          <a:prstGeom prst="rect">
            <a:avLst/>
          </a:prstGeom>
          <a:noFill/>
          <a:ln/>
        </p:spPr>
        <p:txBody>
          <a:bodyPr wrap="square" lIns="0" tIns="0" rIns="0" bIns="0" rtlCol="0" anchor="ctr"/>
          <a:lstStyle/>
          <a:p>
            <a:pPr indent="0" marL="0">
              <a:buNone/>
            </a:pPr>
            <a:r>
              <a:rPr lang="en-US" sz="1500" dirty="0">
                <a:solidFill>
                  <a:schemeClr val="accent5"/>
                </a:solidFill>
              </a:rPr>
              <a:t>Model testing and certification</a:t>
            </a:r>
            <a:endParaRPr lang="en-US" sz="1500" dirty="0"/>
          </a:p>
        </p:txBody>
      </p:sp>
      <p:sp>
        <p:nvSpPr>
          <p:cNvPr id="7" name="layer 2"/>
          <p:cNvSpPr/>
          <p:nvPr/>
        </p:nvSpPr>
        <p:spPr>
          <a:xfrm>
            <a:off x="457200" y="2020824"/>
            <a:ext cx="4937760" cy="658368"/>
          </a:xfrm>
          <a:prstGeom prst="roundRect">
            <a:avLst>
              <a:gd name="adj" fmla="val 13889"/>
            </a:avLst>
          </a:prstGeom>
          <a:solidFill>
            <a:schemeClr val="bg2"/>
          </a:solidFill>
          <a:ln/>
        </p:spPr>
      </p:sp>
      <p:sp>
        <p:nvSpPr>
          <p:cNvPr id="8" name="Shape 6"/>
          <p:cNvSpPr/>
          <p:nvPr/>
        </p:nvSpPr>
        <p:spPr>
          <a:xfrm>
            <a:off x="594360" y="2148840"/>
            <a:ext cx="402336" cy="402336"/>
          </a:xfrm>
          <a:prstGeom prst="ellipse">
            <a:avLst/>
          </a:prstGeom>
          <a:solidFill>
            <a:schemeClr val="bg1"/>
          </a:solidFill>
          <a:ln/>
        </p:spPr>
      </p:sp>
      <p:sp>
        <p:nvSpPr>
          <p:cNvPr id="9" name="Text 7"/>
          <p:cNvSpPr txBox="1"/>
          <p:nvPr/>
        </p:nvSpPr>
        <p:spPr>
          <a:xfrm>
            <a:off x="594360" y="2148840"/>
            <a:ext cx="402336" cy="402336"/>
          </a:xfrm>
          <a:prstGeom prst="rect">
            <a:avLst/>
          </a:prstGeom>
          <a:noFill/>
          <a:ln/>
        </p:spPr>
        <p:txBody>
          <a:bodyPr wrap="square" lIns="0" tIns="0" rIns="0" bIns="0" rtlCol="0" anchor="ctr"/>
          <a:lstStyle/>
          <a:p>
            <a:pPr algn="ctr" indent="0" marL="0">
              <a:buNone/>
            </a:pPr>
            <a:r>
              <a:rPr lang="en-US" sz="1500" b="1" dirty="0">
                <a:solidFill>
                  <a:schemeClr val="accent5"/>
                </a:solidFill>
              </a:rPr>
              <a:t>2</a:t>
            </a:r>
            <a:endParaRPr lang="en-US" sz="1500" dirty="0"/>
          </a:p>
        </p:txBody>
      </p:sp>
      <p:sp>
        <p:nvSpPr>
          <p:cNvPr id="10" name="Text 8"/>
          <p:cNvSpPr txBox="1"/>
          <p:nvPr/>
        </p:nvSpPr>
        <p:spPr>
          <a:xfrm>
            <a:off x="1143000" y="2020824"/>
            <a:ext cx="4114800" cy="658368"/>
          </a:xfrm>
          <a:prstGeom prst="rect">
            <a:avLst/>
          </a:prstGeom>
          <a:noFill/>
          <a:ln/>
        </p:spPr>
        <p:txBody>
          <a:bodyPr wrap="square" lIns="0" tIns="0" rIns="0" bIns="0" rtlCol="0" anchor="ctr"/>
          <a:lstStyle/>
          <a:p>
            <a:pPr indent="0" marL="0">
              <a:buNone/>
            </a:pPr>
            <a:r>
              <a:rPr lang="en-US" sz="1500" dirty="0">
                <a:solidFill>
                  <a:schemeClr val="accent5"/>
                </a:solidFill>
              </a:rPr>
              <a:t>Secure inference environments</a:t>
            </a:r>
            <a:endParaRPr lang="en-US" sz="1500" dirty="0"/>
          </a:p>
        </p:txBody>
      </p:sp>
      <p:sp>
        <p:nvSpPr>
          <p:cNvPr id="11" name="layer 3"/>
          <p:cNvSpPr/>
          <p:nvPr/>
        </p:nvSpPr>
        <p:spPr>
          <a:xfrm>
            <a:off x="457200" y="2807208"/>
            <a:ext cx="4937760" cy="658368"/>
          </a:xfrm>
          <a:prstGeom prst="roundRect">
            <a:avLst>
              <a:gd name="adj" fmla="val 13889"/>
            </a:avLst>
          </a:prstGeom>
          <a:solidFill>
            <a:schemeClr val="tx1"/>
          </a:solidFill>
          <a:ln/>
        </p:spPr>
      </p:sp>
      <p:sp>
        <p:nvSpPr>
          <p:cNvPr id="12" name="Shape 10"/>
          <p:cNvSpPr/>
          <p:nvPr/>
        </p:nvSpPr>
        <p:spPr>
          <a:xfrm>
            <a:off x="594360" y="2935224"/>
            <a:ext cx="402336" cy="402336"/>
          </a:xfrm>
          <a:prstGeom prst="ellipse">
            <a:avLst/>
          </a:prstGeom>
          <a:solidFill>
            <a:schemeClr val="accent1"/>
          </a:solidFill>
          <a:ln/>
        </p:spPr>
      </p:sp>
      <p:sp>
        <p:nvSpPr>
          <p:cNvPr id="13" name="Text 11"/>
          <p:cNvSpPr txBox="1"/>
          <p:nvPr/>
        </p:nvSpPr>
        <p:spPr>
          <a:xfrm>
            <a:off x="594360" y="2935224"/>
            <a:ext cx="402336" cy="402336"/>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14" name="Text 12"/>
          <p:cNvSpPr txBox="1"/>
          <p:nvPr/>
        </p:nvSpPr>
        <p:spPr>
          <a:xfrm>
            <a:off x="1143000" y="2807208"/>
            <a:ext cx="2743200" cy="658368"/>
          </a:xfrm>
          <a:prstGeom prst="rect">
            <a:avLst/>
          </a:prstGeom>
          <a:noFill/>
          <a:ln/>
        </p:spPr>
        <p:txBody>
          <a:bodyPr wrap="square" lIns="0" tIns="0" rIns="0" bIns="0" rtlCol="0" anchor="ctr"/>
          <a:lstStyle/>
          <a:p>
            <a:pPr indent="0" marL="0">
              <a:buNone/>
            </a:pPr>
            <a:r>
              <a:rPr lang="en-US" sz="1500" b="1" dirty="0">
                <a:solidFill>
                  <a:schemeClr val="bg1"/>
                </a:solidFill>
              </a:rPr>
              <a:t>Tightly monitored agent permissions</a:t>
            </a:r>
            <a:endParaRPr lang="en-US" sz="1500" dirty="0"/>
          </a:p>
        </p:txBody>
      </p:sp>
      <p:sp>
        <p:nvSpPr>
          <p:cNvPr id="15" name="Text 13"/>
          <p:cNvSpPr txBox="1"/>
          <p:nvPr/>
        </p:nvSpPr>
        <p:spPr>
          <a:xfrm>
            <a:off x="3977640" y="2999232"/>
            <a:ext cx="1280160" cy="274320"/>
          </a:xfrm>
          <a:prstGeom prst="rect">
            <a:avLst/>
          </a:prstGeom>
          <a:noFill/>
          <a:ln/>
        </p:spPr>
        <p:txBody>
          <a:bodyPr wrap="square" lIns="0" tIns="0" rIns="0" bIns="0" rtlCol="0" anchor="ctr"/>
          <a:lstStyle/>
          <a:p>
            <a:pPr algn="r" indent="0" marL="0">
              <a:buNone/>
            </a:pPr>
            <a:r>
              <a:rPr lang="en-US" sz="1000" b="1" spc="200" kern="0" dirty="0">
                <a:solidFill>
                  <a:schemeClr val="accent1"/>
                </a:solidFill>
              </a:rPr>
              <a:t>FLOW GUARD</a:t>
            </a:r>
            <a:endParaRPr lang="en-US" sz="1000" dirty="0"/>
          </a:p>
        </p:txBody>
      </p:sp>
      <p:sp>
        <p:nvSpPr>
          <p:cNvPr id="16" name="layer 4"/>
          <p:cNvSpPr/>
          <p:nvPr/>
        </p:nvSpPr>
        <p:spPr>
          <a:xfrm>
            <a:off x="457200" y="3593592"/>
            <a:ext cx="4937760" cy="658368"/>
          </a:xfrm>
          <a:prstGeom prst="roundRect">
            <a:avLst>
              <a:gd name="adj" fmla="val 13889"/>
            </a:avLst>
          </a:prstGeom>
          <a:solidFill>
            <a:schemeClr val="tx1"/>
          </a:solidFill>
          <a:ln/>
        </p:spPr>
      </p:sp>
      <p:sp>
        <p:nvSpPr>
          <p:cNvPr id="17" name="Shape 15"/>
          <p:cNvSpPr/>
          <p:nvPr/>
        </p:nvSpPr>
        <p:spPr>
          <a:xfrm>
            <a:off x="594360" y="3721608"/>
            <a:ext cx="402336" cy="402336"/>
          </a:xfrm>
          <a:prstGeom prst="ellipse">
            <a:avLst/>
          </a:prstGeom>
          <a:solidFill>
            <a:schemeClr val="accent1"/>
          </a:solidFill>
          <a:ln/>
        </p:spPr>
      </p:sp>
      <p:sp>
        <p:nvSpPr>
          <p:cNvPr id="18" name="Text 16"/>
          <p:cNvSpPr txBox="1"/>
          <p:nvPr/>
        </p:nvSpPr>
        <p:spPr>
          <a:xfrm>
            <a:off x="594360" y="3721608"/>
            <a:ext cx="402336" cy="402336"/>
          </a:xfrm>
          <a:prstGeom prst="rect">
            <a:avLst/>
          </a:prstGeom>
          <a:noFill/>
          <a:ln/>
        </p:spPr>
        <p:txBody>
          <a:bodyPr wrap="square" lIns="0" tIns="0" rIns="0" bIns="0" rtlCol="0" anchor="ctr"/>
          <a:lstStyle/>
          <a:p>
            <a:pPr algn="ctr" indent="0" marL="0">
              <a:buNone/>
            </a:pPr>
            <a:r>
              <a:rPr lang="en-US" sz="1500" b="1" dirty="0">
                <a:solidFill>
                  <a:schemeClr val="tx1"/>
                </a:solidFill>
              </a:rPr>
              <a:t>4</a:t>
            </a:r>
            <a:endParaRPr lang="en-US" sz="1500" dirty="0"/>
          </a:p>
        </p:txBody>
      </p:sp>
      <p:sp>
        <p:nvSpPr>
          <p:cNvPr id="19" name="Text 17"/>
          <p:cNvSpPr txBox="1"/>
          <p:nvPr/>
        </p:nvSpPr>
        <p:spPr>
          <a:xfrm>
            <a:off x="1143000" y="3593592"/>
            <a:ext cx="2743200" cy="658368"/>
          </a:xfrm>
          <a:prstGeom prst="rect">
            <a:avLst/>
          </a:prstGeom>
          <a:noFill/>
          <a:ln/>
        </p:spPr>
        <p:txBody>
          <a:bodyPr wrap="square" lIns="0" tIns="0" rIns="0" bIns="0" rtlCol="0" anchor="ctr"/>
          <a:lstStyle/>
          <a:p>
            <a:pPr indent="0" marL="0">
              <a:buNone/>
            </a:pPr>
            <a:r>
              <a:rPr lang="en-US" sz="1500" b="1" dirty="0">
                <a:solidFill>
                  <a:schemeClr val="bg1"/>
                </a:solidFill>
              </a:rPr>
              <a:t>Controlled access to enterprise data</a:t>
            </a:r>
            <a:endParaRPr lang="en-US" sz="1500" dirty="0"/>
          </a:p>
        </p:txBody>
      </p:sp>
      <p:sp>
        <p:nvSpPr>
          <p:cNvPr id="20" name="Text 18"/>
          <p:cNvSpPr txBox="1"/>
          <p:nvPr/>
        </p:nvSpPr>
        <p:spPr>
          <a:xfrm>
            <a:off x="3977640" y="3785616"/>
            <a:ext cx="1280160" cy="274320"/>
          </a:xfrm>
          <a:prstGeom prst="rect">
            <a:avLst/>
          </a:prstGeom>
          <a:noFill/>
          <a:ln/>
        </p:spPr>
        <p:txBody>
          <a:bodyPr wrap="square" lIns="0" tIns="0" rIns="0" bIns="0" rtlCol="0" anchor="ctr"/>
          <a:lstStyle/>
          <a:p>
            <a:pPr algn="r" indent="0" marL="0">
              <a:buNone/>
            </a:pPr>
            <a:r>
              <a:rPr lang="en-US" sz="1000" b="1" spc="200" kern="0" dirty="0">
                <a:solidFill>
                  <a:schemeClr val="accent1"/>
                </a:solidFill>
              </a:rPr>
              <a:t>FLOW GUARD</a:t>
            </a:r>
            <a:endParaRPr lang="en-US" sz="1000" dirty="0"/>
          </a:p>
        </p:txBody>
      </p:sp>
      <p:sp>
        <p:nvSpPr>
          <p:cNvPr id="21" name="zero trust card"/>
          <p:cNvSpPr/>
          <p:nvPr/>
        </p:nvSpPr>
        <p:spPr>
          <a:xfrm>
            <a:off x="5760720" y="1234440"/>
            <a:ext cx="2926080" cy="3017520"/>
          </a:xfrm>
          <a:prstGeom prst="roundRect">
            <a:avLst>
              <a:gd name="adj" fmla="val 3750"/>
            </a:avLst>
          </a:prstGeom>
          <a:solidFill>
            <a:schemeClr val="bg2"/>
          </a:solidFill>
          <a:ln/>
        </p:spPr>
      </p:sp>
      <p:sp>
        <p:nvSpPr>
          <p:cNvPr id="22" name="Shape 20"/>
          <p:cNvSpPr/>
          <p:nvPr/>
        </p:nvSpPr>
        <p:spPr>
          <a:xfrm>
            <a:off x="5989320" y="1463040"/>
            <a:ext cx="548640" cy="548640"/>
          </a:xfrm>
          <a:prstGeom prst="ellipse">
            <a:avLst/>
          </a:prstGeom>
          <a:solidFill>
            <a:schemeClr val="tx1"/>
          </a:solidFill>
          <a:ln/>
        </p:spPr>
      </p:sp>
      <p:pic>
        <p:nvPicPr>
          <p:cNvPr id="23" name="Image 0" descr="preencoded.png">    </p:cNvPr>
          <p:cNvPicPr>
            <a:picLocks noChangeAspect="1"/>
          </p:cNvPicPr>
          <p:nvPr/>
        </p:nvPicPr>
        <p:blipFill>
          <a:blip r:embed="rId1"/>
          <a:stretch>
            <a:fillRect/>
          </a:stretch>
        </p:blipFill>
        <p:spPr>
          <a:xfrm>
            <a:off x="6126480" y="1600200"/>
            <a:ext cx="274320" cy="274320"/>
          </a:xfrm>
          <a:prstGeom prst="rect">
            <a:avLst/>
          </a:prstGeom>
        </p:spPr>
      </p:pic>
      <p:sp>
        <p:nvSpPr>
          <p:cNvPr id="24" name="Text 21"/>
          <p:cNvSpPr txBox="1"/>
          <p:nvPr/>
        </p:nvSpPr>
        <p:spPr>
          <a:xfrm>
            <a:off x="5989320" y="2148840"/>
            <a:ext cx="2560320" cy="36576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Zero trust</a:t>
            </a:r>
            <a:endParaRPr lang="en-US" sz="2000" dirty="0"/>
          </a:p>
        </p:txBody>
      </p:sp>
      <p:sp>
        <p:nvSpPr>
          <p:cNvPr id="25" name="Text 22"/>
          <p:cNvSpPr txBox="1"/>
          <p:nvPr/>
        </p:nvSpPr>
        <p:spPr>
          <a:xfrm>
            <a:off x="5989320" y="2514600"/>
            <a:ext cx="2514600" cy="640080"/>
          </a:xfrm>
          <a:prstGeom prst="rect">
            <a:avLst/>
          </a:prstGeom>
          <a:noFill/>
          <a:ln/>
        </p:spPr>
        <p:txBody>
          <a:bodyPr wrap="square" lIns="0" tIns="0" rIns="0" bIns="0" rtlCol="0" anchor="t"/>
          <a:lstStyle/>
          <a:p>
            <a:pPr indent="0" marL="0">
              <a:buNone/>
            </a:pPr>
            <a:r>
              <a:rPr lang="en-US" sz="1500" dirty="0">
                <a:solidFill>
                  <a:schemeClr val="tx2"/>
                </a:solidFill>
              </a:rPr>
              <a:t>Assume the model may be compromised.</a:t>
            </a:r>
            <a:endParaRPr lang="en-US" sz="1500" dirty="0"/>
          </a:p>
        </p:txBody>
      </p:sp>
      <p:sp>
        <p:nvSpPr>
          <p:cNvPr id="26" name="Text 23"/>
          <p:cNvSpPr txBox="1"/>
          <p:nvPr/>
        </p:nvSpPr>
        <p:spPr>
          <a:xfrm>
            <a:off x="5989320" y="3200400"/>
            <a:ext cx="2514600" cy="640080"/>
          </a:xfrm>
          <a:prstGeom prst="rect">
            <a:avLst/>
          </a:prstGeom>
          <a:noFill/>
          <a:ln/>
        </p:spPr>
        <p:txBody>
          <a:bodyPr wrap="square" lIns="0" tIns="0" rIns="0" bIns="0" rtlCol="0" anchor="t"/>
          <a:lstStyle/>
          <a:p>
            <a:pPr indent="0" marL="0">
              <a:buNone/>
            </a:pPr>
            <a:r>
              <a:rPr lang="en-US" sz="1500" b="1" dirty="0">
                <a:solidFill>
                  <a:schemeClr val="tx1"/>
                </a:solidFill>
              </a:rPr>
              <a:t>We extend what Goldman runs. We replace nothing.</a:t>
            </a:r>
            <a:endParaRPr lang="en-US" sz="1500" dirty="0"/>
          </a:p>
        </p:txBody>
      </p:sp>
      <p:sp>
        <p:nvSpPr>
          <p:cNvPr id="27" name="Text 24"/>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Goldman Sachs CIO's agent-security framing; see docs/goldman-context.md</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8229600" cy="73152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Don't trust the agent. Trust the flow</a:t>
            </a:r>
            <a:endParaRPr lang="en-US" sz="2800" dirty="0"/>
          </a:p>
        </p:txBody>
      </p:sp>
      <p:sp>
        <p:nvSpPr>
          <p:cNvPr id="3" name="Text 1"/>
          <p:cNvSpPr txBox="1"/>
          <p:nvPr/>
        </p:nvSpPr>
        <p:spPr>
          <a:xfrm>
            <a:off x="457200" y="1965960"/>
            <a:ext cx="1828800" cy="228600"/>
          </a:xfrm>
          <a:prstGeom prst="rect">
            <a:avLst/>
          </a:prstGeom>
          <a:noFill/>
          <a:ln/>
        </p:spPr>
        <p:txBody>
          <a:bodyPr wrap="square" lIns="0" tIns="0" rIns="0" bIns="0" rtlCol="0" anchor="ctr"/>
          <a:lstStyle/>
          <a:p>
            <a:pPr algn="ctr" indent="0" marL="0">
              <a:buNone/>
            </a:pPr>
            <a:r>
              <a:rPr lang="en-US" sz="1000" b="1" spc="200" kern="0" dirty="0">
                <a:solidFill>
                  <a:schemeClr val="accent5"/>
                </a:solidFill>
              </a:rPr>
              <a:t>CLIENT DOCUMENT</a:t>
            </a:r>
            <a:endParaRPr lang="en-US" sz="1000" dirty="0"/>
          </a:p>
        </p:txBody>
      </p:sp>
      <p:sp>
        <p:nvSpPr>
          <p:cNvPr id="4" name="pill C01X00T47"/>
          <p:cNvSpPr/>
          <p:nvPr/>
        </p:nvSpPr>
        <p:spPr>
          <a:xfrm>
            <a:off x="457200" y="2240280"/>
            <a:ext cx="1828800" cy="457200"/>
          </a:xfrm>
          <a:prstGeom prst="roundRect">
            <a:avLst>
              <a:gd name="adj" fmla="val 50000"/>
            </a:avLst>
          </a:prstGeom>
          <a:solidFill>
            <a:schemeClr val="tx1"/>
          </a:solidFill>
          <a:ln w="22225">
            <a:solidFill>
              <a:schemeClr val="accent3"/>
            </a:solidFill>
            <a:prstDash val="solid"/>
          </a:ln>
        </p:spPr>
      </p:sp>
      <p:sp>
        <p:nvSpPr>
          <p:cNvPr id="5" name="Text 3"/>
          <p:cNvSpPr txBox="1"/>
          <p:nvPr/>
        </p:nvSpPr>
        <p:spPr>
          <a:xfrm>
            <a:off x="457200" y="2240280"/>
            <a:ext cx="1828800" cy="457200"/>
          </a:xfrm>
          <a:prstGeom prst="rect">
            <a:avLst/>
          </a:prstGeom>
          <a:noFill/>
          <a:ln/>
        </p:spPr>
        <p:txBody>
          <a:bodyPr wrap="square" lIns="0" tIns="0" rIns="0" bIns="0" rtlCol="0" anchor="ctr"/>
          <a:lstStyle/>
          <a:p>
            <a:pPr algn="ctr" indent="0" marL="0">
              <a:buNone/>
            </a:pPr>
            <a:r>
              <a:rPr lang="en-US" sz="1300" b="1" dirty="0">
                <a:solidFill>
                  <a:schemeClr val="accent3"/>
                </a:solidFill>
                <a:latin typeface="Courier New" pitchFamily="34" charset="0"/>
                <a:ea typeface="Courier New" pitchFamily="34" charset="-122"/>
                <a:cs typeface="Courier New" pitchFamily="34" charset="-120"/>
              </a:rPr>
              <a:t>C01X00T47</a:t>
            </a:r>
            <a:endParaRPr lang="en-US" sz="1300" dirty="0"/>
          </a:p>
        </p:txBody>
      </p:sp>
      <p:sp>
        <p:nvSpPr>
          <p:cNvPr id="6" name="Shape 4"/>
          <p:cNvSpPr/>
          <p:nvPr/>
        </p:nvSpPr>
        <p:spPr>
          <a:xfrm>
            <a:off x="2331720" y="2468880"/>
            <a:ext cx="365760" cy="914"/>
          </a:xfrm>
          <a:prstGeom prst="line">
            <a:avLst/>
          </a:prstGeom>
          <a:noFill/>
          <a:ln w="22225">
            <a:solidFill>
              <a:schemeClr val="accent5"/>
            </a:solidFill>
            <a:prstDash val="solid"/>
            <a:tailEnd type="triangle"/>
          </a:ln>
        </p:spPr>
      </p:sp>
      <p:sp>
        <p:nvSpPr>
          <p:cNvPr id="7" name="Shape 5"/>
          <p:cNvSpPr/>
          <p:nvPr/>
        </p:nvSpPr>
        <p:spPr>
          <a:xfrm>
            <a:off x="2743200" y="2057400"/>
            <a:ext cx="822960" cy="822960"/>
          </a:xfrm>
          <a:prstGeom prst="ellipse">
            <a:avLst/>
          </a:prstGeom>
          <a:solidFill>
            <a:schemeClr val="accent1"/>
          </a:solidFill>
          <a:ln/>
        </p:spPr>
      </p:sp>
      <p:pic>
        <p:nvPicPr>
          <p:cNvPr id="8" name="Image 0" descr="preencoded.png">    </p:cNvPr>
          <p:cNvPicPr>
            <a:picLocks noChangeAspect="1"/>
          </p:cNvPicPr>
          <p:nvPr/>
        </p:nvPicPr>
        <p:blipFill>
          <a:blip r:embed="rId1"/>
          <a:stretch>
            <a:fillRect/>
          </a:stretch>
        </p:blipFill>
        <p:spPr>
          <a:xfrm>
            <a:off x="2948940" y="2263140"/>
            <a:ext cx="411480" cy="411480"/>
          </a:xfrm>
          <a:prstGeom prst="rect">
            <a:avLst/>
          </a:prstGeom>
        </p:spPr>
      </p:pic>
      <p:sp>
        <p:nvSpPr>
          <p:cNvPr id="9" name="Shape 6"/>
          <p:cNvSpPr/>
          <p:nvPr/>
        </p:nvSpPr>
        <p:spPr>
          <a:xfrm>
            <a:off x="3611880" y="2468880"/>
            <a:ext cx="365760" cy="914"/>
          </a:xfrm>
          <a:prstGeom prst="line">
            <a:avLst/>
          </a:prstGeom>
          <a:noFill/>
          <a:ln w="22225">
            <a:solidFill>
              <a:schemeClr val="accent5"/>
            </a:solidFill>
            <a:prstDash val="solid"/>
            <a:tailEnd type="triangle"/>
          </a:ln>
        </p:spPr>
      </p:sp>
      <p:sp>
        <p:nvSpPr>
          <p:cNvPr id="10" name="Text 7"/>
          <p:cNvSpPr txBox="1"/>
          <p:nvPr/>
        </p:nvSpPr>
        <p:spPr>
          <a:xfrm>
            <a:off x="4023360" y="1965960"/>
            <a:ext cx="2468880" cy="228600"/>
          </a:xfrm>
          <a:prstGeom prst="rect">
            <a:avLst/>
          </a:prstGeom>
          <a:noFill/>
          <a:ln/>
        </p:spPr>
        <p:txBody>
          <a:bodyPr wrap="square" lIns="0" tIns="0" rIns="0" bIns="0" rtlCol="0" anchor="ctr"/>
          <a:lstStyle/>
          <a:p>
            <a:pPr algn="ctr" indent="0" marL="0">
              <a:buNone/>
            </a:pPr>
            <a:r>
              <a:rPr lang="en-US" sz="1000" b="1" spc="200" kern="0" dirty="0">
                <a:solidFill>
                  <a:schemeClr val="accent5"/>
                </a:solidFill>
              </a:rPr>
              <a:t>WHAT THE MODEL SEES</a:t>
            </a:r>
            <a:endParaRPr lang="en-US" sz="1000" dirty="0"/>
          </a:p>
        </p:txBody>
      </p:sp>
      <p:sp>
        <p:nvSpPr>
          <p:cNvPr id="11" name="pill [[PASSPORT#7c21e4]]"/>
          <p:cNvSpPr/>
          <p:nvPr/>
        </p:nvSpPr>
        <p:spPr>
          <a:xfrm>
            <a:off x="4023360" y="2240280"/>
            <a:ext cx="2468880" cy="457200"/>
          </a:xfrm>
          <a:prstGeom prst="roundRect">
            <a:avLst>
              <a:gd name="adj" fmla="val 50000"/>
            </a:avLst>
          </a:prstGeom>
          <a:solidFill>
            <a:schemeClr val="tx1"/>
          </a:solidFill>
          <a:ln w="22225">
            <a:solidFill>
              <a:schemeClr val="accent1"/>
            </a:solidFill>
            <a:prstDash val="solid"/>
          </a:ln>
        </p:spPr>
      </p:sp>
      <p:sp>
        <p:nvSpPr>
          <p:cNvPr id="12" name="Text 9"/>
          <p:cNvSpPr txBox="1"/>
          <p:nvPr/>
        </p:nvSpPr>
        <p:spPr>
          <a:xfrm>
            <a:off x="4023360" y="2240280"/>
            <a:ext cx="2468880" cy="457200"/>
          </a:xfrm>
          <a:prstGeom prst="rect">
            <a:avLst/>
          </a:prstGeom>
          <a:noFill/>
          <a:ln/>
        </p:spPr>
        <p:txBody>
          <a:bodyPr wrap="square" lIns="0" tIns="0" rIns="0" bIns="0" rtlCol="0" anchor="ctr"/>
          <a:lstStyle/>
          <a:p>
            <a:pPr algn="ctr" indent="0" marL="0">
              <a:buNone/>
            </a:pPr>
            <a:r>
              <a:rPr lang="en-US" sz="1300" b="1" dirty="0">
                <a:solidFill>
                  <a:schemeClr val="accent1"/>
                </a:solidFill>
                <a:latin typeface="Courier New" pitchFamily="34" charset="0"/>
                <a:ea typeface="Courier New" pitchFamily="34" charset="-122"/>
                <a:cs typeface="Courier New" pitchFamily="34" charset="-120"/>
              </a:rPr>
              <a:t>[[PASSPORT#7c21e4]]</a:t>
            </a:r>
            <a:endParaRPr lang="en-US" sz="1300" dirty="0"/>
          </a:p>
        </p:txBody>
      </p:sp>
      <p:sp>
        <p:nvSpPr>
          <p:cNvPr id="13" name="Shape 10"/>
          <p:cNvSpPr/>
          <p:nvPr/>
        </p:nvSpPr>
        <p:spPr>
          <a:xfrm flipV="1">
            <a:off x="6537960" y="1691640"/>
            <a:ext cx="320040" cy="685800"/>
          </a:xfrm>
          <a:prstGeom prst="line">
            <a:avLst/>
          </a:prstGeom>
          <a:noFill/>
          <a:ln w="22225">
            <a:solidFill>
              <a:schemeClr val="accent2"/>
            </a:solidFill>
            <a:prstDash val="solid"/>
            <a:tailEnd type="triangle"/>
          </a:ln>
        </p:spPr>
      </p:sp>
      <p:sp>
        <p:nvSpPr>
          <p:cNvPr id="14" name="Shape 11"/>
          <p:cNvSpPr/>
          <p:nvPr/>
        </p:nvSpPr>
        <p:spPr>
          <a:xfrm>
            <a:off x="6537960" y="2560320"/>
            <a:ext cx="320040" cy="685800"/>
          </a:xfrm>
          <a:prstGeom prst="line">
            <a:avLst/>
          </a:prstGeom>
          <a:noFill/>
          <a:ln w="22225">
            <a:solidFill>
              <a:schemeClr val="accent3"/>
            </a:solidFill>
            <a:prstDash val="solid"/>
            <a:tailEnd type="triangle"/>
          </a:ln>
        </p:spPr>
      </p:sp>
      <p:sp>
        <p:nvSpPr>
          <p:cNvPr id="15" name="pill screen_sanctions"/>
          <p:cNvSpPr/>
          <p:nvPr/>
        </p:nvSpPr>
        <p:spPr>
          <a:xfrm>
            <a:off x="6858000" y="1234440"/>
            <a:ext cx="1828800" cy="457200"/>
          </a:xfrm>
          <a:prstGeom prst="roundRect">
            <a:avLst>
              <a:gd name="adj" fmla="val 50000"/>
            </a:avLst>
          </a:prstGeom>
          <a:solidFill>
            <a:schemeClr val="tx1"/>
          </a:solidFill>
          <a:ln w="22225">
            <a:solidFill>
              <a:schemeClr val="accent2"/>
            </a:solidFill>
            <a:prstDash val="solid"/>
          </a:ln>
        </p:spPr>
      </p:sp>
      <p:sp>
        <p:nvSpPr>
          <p:cNvPr id="16" name="Text 13"/>
          <p:cNvSpPr txBox="1"/>
          <p:nvPr/>
        </p:nvSpPr>
        <p:spPr>
          <a:xfrm>
            <a:off x="6858000" y="1234440"/>
            <a:ext cx="1828800" cy="457200"/>
          </a:xfrm>
          <a:prstGeom prst="rect">
            <a:avLst/>
          </a:prstGeom>
          <a:noFill/>
          <a:ln/>
        </p:spPr>
        <p:txBody>
          <a:bodyPr wrap="square" lIns="0" tIns="0" rIns="0" bIns="0" rtlCol="0" anchor="ctr"/>
          <a:lstStyle/>
          <a:p>
            <a:pPr algn="ctr" indent="0" marL="0">
              <a:buNone/>
            </a:pPr>
            <a:r>
              <a:rPr lang="en-US" sz="1300" b="1" dirty="0">
                <a:solidFill>
                  <a:schemeClr val="accent2"/>
                </a:solidFill>
                <a:latin typeface="Courier New" pitchFamily="34" charset="0"/>
                <a:ea typeface="Courier New" pitchFamily="34" charset="-122"/>
                <a:cs typeface="Courier New" pitchFamily="34" charset="-120"/>
              </a:rPr>
              <a:t>screen_sanctions</a:t>
            </a:r>
            <a:endParaRPr lang="en-US" sz="1300" dirty="0"/>
          </a:p>
        </p:txBody>
      </p:sp>
      <p:sp>
        <p:nvSpPr>
          <p:cNvPr id="17" name="Text 14"/>
          <p:cNvSpPr txBox="1"/>
          <p:nvPr/>
        </p:nvSpPr>
        <p:spPr>
          <a:xfrm>
            <a:off x="6858000" y="1737360"/>
            <a:ext cx="1828800" cy="274320"/>
          </a:xfrm>
          <a:prstGeom prst="rect">
            <a:avLst/>
          </a:prstGeom>
          <a:noFill/>
          <a:ln/>
        </p:spPr>
        <p:txBody>
          <a:bodyPr wrap="square" lIns="0" tIns="0" rIns="0" bIns="0" rtlCol="0" anchor="ctr"/>
          <a:lstStyle/>
          <a:p>
            <a:pPr algn="ctr" indent="0" marL="0">
              <a:buNone/>
            </a:pPr>
            <a:r>
              <a:rPr lang="en-US" sz="1200" dirty="0">
                <a:solidFill>
                  <a:schemeClr val="accent2"/>
                </a:solidFill>
              </a:rPr>
              <a:t>real value put back</a:t>
            </a:r>
            <a:endParaRPr lang="en-US" sz="1200" dirty="0"/>
          </a:p>
        </p:txBody>
      </p:sp>
      <p:sp>
        <p:nvSpPr>
          <p:cNvPr id="18" name="pill send_email"/>
          <p:cNvSpPr/>
          <p:nvPr/>
        </p:nvSpPr>
        <p:spPr>
          <a:xfrm>
            <a:off x="6858000" y="3017520"/>
            <a:ext cx="1828800" cy="457200"/>
          </a:xfrm>
          <a:prstGeom prst="roundRect">
            <a:avLst>
              <a:gd name="adj" fmla="val 50000"/>
            </a:avLst>
          </a:prstGeom>
          <a:solidFill>
            <a:schemeClr val="tx1"/>
          </a:solidFill>
          <a:ln w="22225">
            <a:solidFill>
              <a:schemeClr val="accent3"/>
            </a:solidFill>
            <a:prstDash val="solid"/>
          </a:ln>
        </p:spPr>
      </p:sp>
      <p:sp>
        <p:nvSpPr>
          <p:cNvPr id="19" name="Text 16"/>
          <p:cNvSpPr txBox="1"/>
          <p:nvPr/>
        </p:nvSpPr>
        <p:spPr>
          <a:xfrm>
            <a:off x="6858000" y="3017520"/>
            <a:ext cx="1828800" cy="457200"/>
          </a:xfrm>
          <a:prstGeom prst="rect">
            <a:avLst/>
          </a:prstGeom>
          <a:noFill/>
          <a:ln/>
        </p:spPr>
        <p:txBody>
          <a:bodyPr wrap="square" lIns="0" tIns="0" rIns="0" bIns="0" rtlCol="0" anchor="ctr"/>
          <a:lstStyle/>
          <a:p>
            <a:pPr algn="ctr" indent="0" marL="0">
              <a:buNone/>
            </a:pPr>
            <a:r>
              <a:rPr lang="en-US" sz="1300" b="1" dirty="0">
                <a:solidFill>
                  <a:schemeClr val="accent3"/>
                </a:solidFill>
                <a:latin typeface="Courier New" pitchFamily="34" charset="0"/>
                <a:ea typeface="Courier New" pitchFamily="34" charset="-122"/>
                <a:cs typeface="Courier New" pitchFamily="34" charset="-120"/>
              </a:rPr>
              <a:t>send_email</a:t>
            </a:r>
            <a:endParaRPr lang="en-US" sz="1300" dirty="0"/>
          </a:p>
        </p:txBody>
      </p:sp>
      <p:sp>
        <p:nvSpPr>
          <p:cNvPr id="20" name="Text 17"/>
          <p:cNvSpPr txBox="1"/>
          <p:nvPr/>
        </p:nvSpPr>
        <p:spPr>
          <a:xfrm>
            <a:off x="6858000" y="3520440"/>
            <a:ext cx="1828800" cy="274320"/>
          </a:xfrm>
          <a:prstGeom prst="rect">
            <a:avLst/>
          </a:prstGeom>
          <a:noFill/>
          <a:ln/>
        </p:spPr>
        <p:txBody>
          <a:bodyPr wrap="square" lIns="0" tIns="0" rIns="0" bIns="0" rtlCol="0" anchor="ctr"/>
          <a:lstStyle/>
          <a:p>
            <a:pPr algn="ctr" indent="0" marL="0">
              <a:buNone/>
            </a:pPr>
            <a:r>
              <a:rPr lang="en-US" sz="1200" dirty="0">
                <a:solidFill>
                  <a:schemeClr val="accent3"/>
                </a:solidFill>
              </a:rPr>
              <a:t>call dropped, logged</a:t>
            </a:r>
            <a:endParaRPr lang="en-US" sz="1200" dirty="0"/>
          </a:p>
        </p:txBody>
      </p:sp>
      <p:sp>
        <p:nvSpPr>
          <p:cNvPr id="21" name="Text 18"/>
          <p:cNvSpPr txBox="1"/>
          <p:nvPr/>
        </p:nvSpPr>
        <p:spPr>
          <a:xfrm>
            <a:off x="457200" y="4023360"/>
            <a:ext cx="8229600" cy="502920"/>
          </a:xfrm>
          <a:prstGeom prst="rect">
            <a:avLst/>
          </a:prstGeom>
          <a:noFill/>
          <a:ln/>
        </p:spPr>
        <p:txBody>
          <a:bodyPr wrap="square" lIns="0" tIns="0" rIns="0" bIns="0" rtlCol="0" anchor="ctr"/>
          <a:lstStyle/>
          <a:p>
            <a:pPr indent="0" marL="0">
              <a:buNone/>
            </a:pPr>
            <a:r>
              <a:rPr lang="en-US" sz="2200" b="1" i="1" dirty="0">
                <a:solidFill>
                  <a:schemeClr val="accent1"/>
                </a:solidFill>
                <a:latin typeface="Cambria" pitchFamily="34" charset="0"/>
                <a:ea typeface="Cambria" pitchFamily="34" charset="-122"/>
                <a:cs typeface="Cambria" pitchFamily="34" charset="-120"/>
              </a:rPr>
              <a:t>A fooled model has nothing to leak.</a:t>
            </a:r>
            <a:endParaRPr lang="en-US" sz="2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8229600" cy="73152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Every action crosses three checkpoints</a:t>
            </a:r>
            <a:endParaRPr lang="en-US" sz="2800" dirty="0"/>
          </a:p>
        </p:txBody>
      </p:sp>
      <p:sp>
        <p:nvSpPr>
          <p:cNvPr id="3" name="Text 1"/>
          <p:cNvSpPr txBox="1"/>
          <p:nvPr/>
        </p:nvSpPr>
        <p:spPr>
          <a:xfrm>
            <a:off x="457200" y="896112"/>
            <a:ext cx="8229600" cy="228600"/>
          </a:xfrm>
          <a:prstGeom prst="rect">
            <a:avLst/>
          </a:prstGeom>
          <a:noFill/>
          <a:ln/>
        </p:spPr>
        <p:txBody>
          <a:bodyPr wrap="square" lIns="0" tIns="0" rIns="0" bIns="0" rtlCol="0" anchor="ctr"/>
          <a:lstStyle/>
          <a:p>
            <a:pPr indent="0" marL="0">
              <a:buNone/>
            </a:pPr>
            <a:r>
              <a:rPr lang="en-US" sz="1200" dirty="0">
                <a:solidFill>
                  <a:schemeClr val="accent5"/>
                </a:solidFill>
              </a:rPr>
              <a:t>Don't trust the agent. Trust the flow. One gateway, one policy, every decision on record.</a:t>
            </a:r>
            <a:endParaRPr lang="en-US" sz="1200" dirty="0"/>
          </a:p>
        </p:txBody>
      </p:sp>
      <p:sp>
        <p:nvSpPr>
          <p:cNvPr id="4" name="Shape 2"/>
          <p:cNvSpPr/>
          <p:nvPr/>
        </p:nvSpPr>
        <p:spPr>
          <a:xfrm>
            <a:off x="7827264" y="1243584"/>
            <a:ext cx="914" cy="128016"/>
          </a:xfrm>
          <a:prstGeom prst="line">
            <a:avLst/>
          </a:prstGeom>
          <a:noFill/>
          <a:ln w="15875">
            <a:solidFill>
              <a:schemeClr val="accent4"/>
            </a:solidFill>
            <a:prstDash val="dash"/>
          </a:ln>
        </p:spPr>
      </p:sp>
      <p:sp>
        <p:nvSpPr>
          <p:cNvPr id="5" name="Shape 3"/>
          <p:cNvSpPr/>
          <p:nvPr/>
        </p:nvSpPr>
        <p:spPr>
          <a:xfrm>
            <a:off x="2770632" y="1243584"/>
            <a:ext cx="5056632" cy="914"/>
          </a:xfrm>
          <a:prstGeom prst="line">
            <a:avLst/>
          </a:prstGeom>
          <a:noFill/>
          <a:ln w="15875">
            <a:solidFill>
              <a:schemeClr val="accent4"/>
            </a:solidFill>
            <a:prstDash val="dash"/>
          </a:ln>
        </p:spPr>
      </p:sp>
      <p:sp>
        <p:nvSpPr>
          <p:cNvPr id="6" name="Shape 4"/>
          <p:cNvSpPr/>
          <p:nvPr/>
        </p:nvSpPr>
        <p:spPr>
          <a:xfrm>
            <a:off x="2770632" y="1243584"/>
            <a:ext cx="914" cy="118872"/>
          </a:xfrm>
          <a:prstGeom prst="line">
            <a:avLst/>
          </a:prstGeom>
          <a:noFill/>
          <a:ln w="15875">
            <a:solidFill>
              <a:schemeClr val="accent4"/>
            </a:solidFill>
            <a:prstDash val="dash"/>
            <a:tailEnd type="triangle"/>
          </a:ln>
        </p:spPr>
      </p:sp>
      <p:sp>
        <p:nvSpPr>
          <p:cNvPr id="7" name="Text 5"/>
          <p:cNvSpPr txBox="1"/>
          <p:nvPr/>
        </p:nvSpPr>
        <p:spPr>
          <a:xfrm>
            <a:off x="3063240" y="1152144"/>
            <a:ext cx="4572000" cy="182880"/>
          </a:xfrm>
          <a:prstGeom prst="rect">
            <a:avLst/>
          </a:prstGeom>
          <a:solidFill>
            <a:schemeClr val="bg1"/>
          </a:solidFill>
          <a:ln/>
        </p:spPr>
        <p:txBody>
          <a:bodyPr wrap="square" lIns="0" tIns="0" rIns="0" bIns="0" rtlCol="0" anchor="ctr"/>
          <a:lstStyle/>
          <a:p>
            <a:pPr algn="ctr" indent="0" marL="0">
              <a:buNone/>
            </a:pPr>
            <a:r>
              <a:rPr lang="en-US" sz="900" dirty="0">
                <a:solidFill>
                  <a:schemeClr val="accent4"/>
                </a:solidFill>
              </a:rPr>
              <a:t>Tool results return through checkpoint 1: tokenized, injections quarantined</a:t>
            </a:r>
            <a:endParaRPr lang="en-US" sz="900" dirty="0"/>
          </a:p>
        </p:txBody>
      </p:sp>
      <p:sp>
        <p:nvSpPr>
          <p:cNvPr id="8" name="AI agent"/>
          <p:cNvSpPr/>
          <p:nvPr/>
        </p:nvSpPr>
        <p:spPr>
          <a:xfrm>
            <a:off x="457200" y="1371600"/>
            <a:ext cx="1234440" cy="1353312"/>
          </a:xfrm>
          <a:prstGeom prst="roundRect">
            <a:avLst>
              <a:gd name="adj" fmla="val 5926"/>
            </a:avLst>
          </a:prstGeom>
          <a:solidFill>
            <a:schemeClr val="bg1"/>
          </a:solidFill>
          <a:ln w="12700">
            <a:solidFill>
              <a:srgbClr val="C9D2DF"/>
            </a:solidFill>
            <a:prstDash val="solid"/>
          </a:ln>
        </p:spPr>
      </p:sp>
      <p:sp>
        <p:nvSpPr>
          <p:cNvPr id="9" name="Shape 7"/>
          <p:cNvSpPr/>
          <p:nvPr/>
        </p:nvSpPr>
        <p:spPr>
          <a:xfrm>
            <a:off x="548640" y="1463040"/>
            <a:ext cx="256032" cy="256032"/>
          </a:xfrm>
          <a:prstGeom prst="ellipse">
            <a:avLst/>
          </a:prstGeom>
          <a:solidFill>
            <a:schemeClr val="tx1"/>
          </a:solidFill>
          <a:ln/>
        </p:spPr>
      </p:sp>
      <p:pic>
        <p:nvPicPr>
          <p:cNvPr id="10" name="Image 0" descr="preencoded.png">    </p:cNvPr>
          <p:cNvPicPr>
            <a:picLocks noChangeAspect="1"/>
          </p:cNvPicPr>
          <p:nvPr/>
        </p:nvPicPr>
        <p:blipFill>
          <a:blip r:embed="rId1"/>
          <a:stretch>
            <a:fillRect/>
          </a:stretch>
        </p:blipFill>
        <p:spPr>
          <a:xfrm>
            <a:off x="612648" y="1527048"/>
            <a:ext cx="128016" cy="128016"/>
          </a:xfrm>
          <a:prstGeom prst="rect">
            <a:avLst/>
          </a:prstGeom>
        </p:spPr>
      </p:pic>
      <p:sp>
        <p:nvSpPr>
          <p:cNvPr id="11" name="Text 8"/>
          <p:cNvSpPr txBox="1"/>
          <p:nvPr/>
        </p:nvSpPr>
        <p:spPr>
          <a:xfrm>
            <a:off x="868680" y="1444752"/>
            <a:ext cx="777240" cy="274320"/>
          </a:xfrm>
          <a:prstGeom prst="rect">
            <a:avLst/>
          </a:prstGeom>
          <a:noFill/>
          <a:ln/>
        </p:spPr>
        <p:txBody>
          <a:bodyPr wrap="square" lIns="0" tIns="0" rIns="0" bIns="0" rtlCol="0" anchor="ctr"/>
          <a:lstStyle/>
          <a:p>
            <a:pPr indent="0" marL="0">
              <a:buNone/>
            </a:pPr>
            <a:r>
              <a:rPr lang="en-US" sz="1050" b="1" dirty="0">
                <a:solidFill>
                  <a:schemeClr val="tx1"/>
                </a:solidFill>
              </a:rPr>
              <a:t>AI agent</a:t>
            </a:r>
            <a:endParaRPr lang="en-US" sz="1050" dirty="0"/>
          </a:p>
        </p:txBody>
      </p:sp>
      <p:sp>
        <p:nvSpPr>
          <p:cNvPr id="12" name="Text 9"/>
          <p:cNvSpPr txBox="1"/>
          <p:nvPr/>
        </p:nvSpPr>
        <p:spPr>
          <a:xfrm>
            <a:off x="548640" y="1810512"/>
            <a:ext cx="1078992" cy="868680"/>
          </a:xfrm>
          <a:prstGeom prst="rect">
            <a:avLst/>
          </a:prstGeom>
          <a:noFill/>
          <a:ln/>
        </p:spPr>
        <p:txBody>
          <a:bodyPr wrap="square" lIns="0" tIns="0" rIns="0" bIns="0" rtlCol="0" anchor="t"/>
          <a:lstStyle/>
          <a:p>
            <a:pPr indent="0" marL="0">
              <a:spcAft>
                <a:spcPts val="400"/>
              </a:spcAft>
              <a:buNone/>
            </a:pPr>
            <a:r>
              <a:rPr lang="en-US" sz="900" dirty="0">
                <a:solidFill>
                  <a:schemeClr val="tx2"/>
                </a:solidFill>
              </a:rPr>
              <a:t>Claude Code or any OpenAI-style agent</a:t>
            </a:r>
            <a:endParaRPr lang="en-US" sz="900" dirty="0"/>
          </a:p>
          <a:p>
            <a:pPr indent="0" marL="0">
              <a:spcAft>
                <a:spcPts val="400"/>
              </a:spcAft>
              <a:buNone/>
            </a:pPr>
            <a:r>
              <a:rPr lang="en-US" sz="900" dirty="0">
                <a:solidFill>
                  <a:schemeClr val="tx2"/>
                </a:solidFill>
              </a:rPr>
              <a:t>One API key per user + agent, with a stated purpose</a:t>
            </a:r>
            <a:endParaRPr lang="en-US" sz="900" dirty="0"/>
          </a:p>
        </p:txBody>
      </p:sp>
      <p:sp>
        <p:nvSpPr>
          <p:cNvPr id="13" name="example"/>
          <p:cNvSpPr/>
          <p:nvPr/>
        </p:nvSpPr>
        <p:spPr>
          <a:xfrm>
            <a:off x="457200" y="2807208"/>
            <a:ext cx="1234440" cy="868680"/>
          </a:xfrm>
          <a:prstGeom prst="roundRect">
            <a:avLst>
              <a:gd name="adj" fmla="val 8421"/>
            </a:avLst>
          </a:prstGeom>
          <a:solidFill>
            <a:schemeClr val="bg2"/>
          </a:solidFill>
          <a:ln/>
        </p:spPr>
      </p:sp>
      <p:sp>
        <p:nvSpPr>
          <p:cNvPr id="14" name="Text 11"/>
          <p:cNvSpPr txBox="1"/>
          <p:nvPr/>
        </p:nvSpPr>
        <p:spPr>
          <a:xfrm>
            <a:off x="548640" y="2852928"/>
            <a:ext cx="1051560" cy="146304"/>
          </a:xfrm>
          <a:prstGeom prst="rect">
            <a:avLst/>
          </a:prstGeom>
          <a:noFill/>
          <a:ln/>
        </p:spPr>
        <p:txBody>
          <a:bodyPr wrap="square" lIns="0" tIns="0" rIns="0" bIns="0" rtlCol="0" anchor="ctr"/>
          <a:lstStyle/>
          <a:p>
            <a:pPr indent="0" marL="0">
              <a:buNone/>
            </a:pPr>
            <a:r>
              <a:rPr lang="en-US" sz="800" b="1" spc="200" kern="0" dirty="0">
                <a:solidFill>
                  <a:schemeClr val="accent5"/>
                </a:solidFill>
              </a:rPr>
              <a:t>EXAMPLE</a:t>
            </a:r>
            <a:endParaRPr lang="en-US" sz="800" dirty="0"/>
          </a:p>
        </p:txBody>
      </p:sp>
      <p:sp>
        <p:nvSpPr>
          <p:cNvPr id="15" name="Text 12"/>
          <p:cNvSpPr txBox="1"/>
          <p:nvPr/>
        </p:nvSpPr>
        <p:spPr>
          <a:xfrm>
            <a:off x="548640" y="3008376"/>
            <a:ext cx="1078992" cy="438912"/>
          </a:xfrm>
          <a:prstGeom prst="rect">
            <a:avLst/>
          </a:prstGeom>
          <a:noFill/>
          <a:ln/>
        </p:spPr>
        <p:txBody>
          <a:bodyPr wrap="square" lIns="0" tIns="0" rIns="0" bIns="0" rtlCol="0" anchor="t"/>
          <a:lstStyle/>
          <a:p>
            <a:pPr indent="0" marL="0">
              <a:buNone/>
            </a:pPr>
            <a:r>
              <a:rPr lang="en-US" sz="900" i="1" dirty="0">
                <a:solidFill>
                  <a:schemeClr val="tx2"/>
                </a:solidFill>
              </a:rPr>
              <a:t>“Prepare the onboarding file for client NW-2041.”</a:t>
            </a:r>
            <a:endParaRPr lang="en-US" sz="900" dirty="0"/>
          </a:p>
        </p:txBody>
      </p:sp>
      <p:sp>
        <p:nvSpPr>
          <p:cNvPr id="16" name="Text 13"/>
          <p:cNvSpPr txBox="1"/>
          <p:nvPr/>
        </p:nvSpPr>
        <p:spPr>
          <a:xfrm>
            <a:off x="548640" y="3447288"/>
            <a:ext cx="1124712" cy="201168"/>
          </a:xfrm>
          <a:prstGeom prst="rect">
            <a:avLst/>
          </a:prstGeom>
          <a:noFill/>
          <a:ln/>
        </p:spPr>
        <p:txBody>
          <a:bodyPr wrap="square" lIns="0" tIns="0" rIns="0" bIns="0" rtlCol="0" anchor="ctr"/>
          <a:lstStyle/>
          <a:p>
            <a:pPr indent="0" marL="0">
              <a:buNone/>
            </a:pPr>
            <a:r>
              <a:rPr lang="en-US" sz="800" dirty="0">
                <a:solidFill>
                  <a:schemeClr val="accent5"/>
                </a:solidFill>
              </a:rPr>
              <a:t>olivia · onboarding analyst</a:t>
            </a:r>
            <a:endParaRPr lang="en-US" sz="800" dirty="0"/>
          </a:p>
        </p:txBody>
      </p:sp>
      <p:sp>
        <p:nvSpPr>
          <p:cNvPr id="17" name="checkpoint 1"/>
          <p:cNvSpPr/>
          <p:nvPr/>
        </p:nvSpPr>
        <p:spPr>
          <a:xfrm>
            <a:off x="1810512" y="1371600"/>
            <a:ext cx="1920240" cy="2057400"/>
          </a:xfrm>
          <a:prstGeom prst="roundRect">
            <a:avLst>
              <a:gd name="adj" fmla="val 3810"/>
            </a:avLst>
          </a:prstGeom>
          <a:solidFill>
            <a:schemeClr val="accent4">
              <a:alpha val="10000"/>
            </a:schemeClr>
          </a:solidFill>
          <a:ln w="19050">
            <a:solidFill>
              <a:schemeClr val="accent4"/>
            </a:solidFill>
            <a:prstDash val="solid"/>
          </a:ln>
        </p:spPr>
      </p:sp>
      <p:sp>
        <p:nvSpPr>
          <p:cNvPr id="18" name="Shape 15"/>
          <p:cNvSpPr/>
          <p:nvPr/>
        </p:nvSpPr>
        <p:spPr>
          <a:xfrm>
            <a:off x="1920240" y="1463040"/>
            <a:ext cx="237744" cy="237744"/>
          </a:xfrm>
          <a:prstGeom prst="ellipse">
            <a:avLst/>
          </a:prstGeom>
          <a:solidFill>
            <a:schemeClr val="accent4"/>
          </a:solidFill>
          <a:ln/>
        </p:spPr>
      </p:sp>
      <p:sp>
        <p:nvSpPr>
          <p:cNvPr id="19" name="Text 16"/>
          <p:cNvSpPr txBox="1"/>
          <p:nvPr/>
        </p:nvSpPr>
        <p:spPr>
          <a:xfrm>
            <a:off x="1920240" y="1463040"/>
            <a:ext cx="237744" cy="237744"/>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0" name="Text 17"/>
          <p:cNvSpPr txBox="1"/>
          <p:nvPr/>
        </p:nvSpPr>
        <p:spPr>
          <a:xfrm>
            <a:off x="2221992" y="1444752"/>
            <a:ext cx="1435608" cy="274320"/>
          </a:xfrm>
          <a:prstGeom prst="rect">
            <a:avLst/>
          </a:prstGeom>
          <a:noFill/>
          <a:ln/>
        </p:spPr>
        <p:txBody>
          <a:bodyPr wrap="square" lIns="0" tIns="0" rIns="0" bIns="0" rtlCol="0" anchor="ctr"/>
          <a:lstStyle/>
          <a:p>
            <a:pPr indent="0" marL="0">
              <a:buNone/>
            </a:pPr>
            <a:r>
              <a:rPr lang="en-US" sz="1050" b="1" dirty="0">
                <a:solidFill>
                  <a:schemeClr val="tx1"/>
                </a:solidFill>
              </a:rPr>
              <a:t>Before the model</a:t>
            </a:r>
            <a:endParaRPr lang="en-US" sz="1050" dirty="0"/>
          </a:p>
        </p:txBody>
      </p:sp>
      <p:sp>
        <p:nvSpPr>
          <p:cNvPr id="21" name="Text 18"/>
          <p:cNvSpPr txBox="1"/>
          <p:nvPr/>
        </p:nvSpPr>
        <p:spPr>
          <a:xfrm>
            <a:off x="1920240" y="1810512"/>
            <a:ext cx="1719072" cy="960120"/>
          </a:xfrm>
          <a:prstGeom prst="rect">
            <a:avLst/>
          </a:prstGeom>
          <a:noFill/>
          <a:ln/>
        </p:spPr>
        <p:txBody>
          <a:bodyPr wrap="square" lIns="0" tIns="0" rIns="0" bIns="0" rtlCol="0" anchor="t"/>
          <a:lstStyle/>
          <a:p>
            <a:pPr marL="101600" indent="-101600">
              <a:spcAft>
                <a:spcPts val="200"/>
              </a:spcAft>
              <a:buSzPct val="100000"/>
              <a:buChar char="•"/>
            </a:pPr>
            <a:r>
              <a:rPr lang="en-US" sz="900" dirty="0">
                <a:solidFill>
                  <a:schemeClr val="tx2"/>
                </a:solidFill>
              </a:rPr>
              <a:t>Who is asking, and why</a:t>
            </a:r>
            <a:endParaRPr lang="en-US" sz="900" dirty="0"/>
          </a:p>
          <a:p>
            <a:pPr marL="101600" indent="-101600">
              <a:spcAft>
                <a:spcPts val="200"/>
              </a:spcAft>
              <a:buSzPct val="100000"/>
              <a:buChar char="•"/>
            </a:pPr>
            <a:r>
              <a:rPr lang="en-US" sz="900" dirty="0">
                <a:solidFill>
                  <a:schemeClr val="tx2"/>
                </a:solidFill>
              </a:rPr>
              <a:t>Sensitive values → tokens</a:t>
            </a:r>
            <a:endParaRPr lang="en-US" sz="900" dirty="0"/>
          </a:p>
          <a:p>
            <a:pPr marL="101600" indent="-101600">
              <a:spcAft>
                <a:spcPts val="200"/>
              </a:spcAft>
              <a:buSzPct val="100000"/>
              <a:buChar char="•"/>
            </a:pPr>
            <a:r>
              <a:rPr lang="en-US" sz="900" dirty="0">
                <a:solidFill>
                  <a:schemeClr val="tx2"/>
                </a:solidFill>
              </a:rPr>
              <a:t>Injected text quarantined</a:t>
            </a:r>
            <a:endParaRPr lang="en-US" sz="900" dirty="0"/>
          </a:p>
          <a:p>
            <a:pPr marL="101600" indent="-101600">
              <a:spcAft>
                <a:spcPts val="200"/>
              </a:spcAft>
              <a:buSzPct val="100000"/>
              <a:buChar char="•"/>
            </a:pPr>
            <a:r>
              <a:rPr lang="en-US" sz="900" dirty="0">
                <a:solidFill>
                  <a:schemeClr val="tx2"/>
                </a:solidFill>
              </a:rPr>
              <a:t>Data-class limit per model</a:t>
            </a:r>
            <a:endParaRPr lang="en-US" sz="900" dirty="0"/>
          </a:p>
        </p:txBody>
      </p:sp>
      <p:sp>
        <p:nvSpPr>
          <p:cNvPr id="22" name="model sees"/>
          <p:cNvSpPr/>
          <p:nvPr/>
        </p:nvSpPr>
        <p:spPr>
          <a:xfrm>
            <a:off x="1920240" y="2834640"/>
            <a:ext cx="1700784" cy="475488"/>
          </a:xfrm>
          <a:prstGeom prst="roundRect">
            <a:avLst>
              <a:gd name="adj" fmla="val 9615"/>
            </a:avLst>
          </a:prstGeom>
          <a:solidFill>
            <a:schemeClr val="bg1"/>
          </a:solidFill>
          <a:ln w="12700">
            <a:solidFill>
              <a:schemeClr val="accent4"/>
            </a:solidFill>
            <a:prstDash val="dash"/>
          </a:ln>
        </p:spPr>
      </p:sp>
      <p:sp>
        <p:nvSpPr>
          <p:cNvPr id="23" name="Text 20"/>
          <p:cNvSpPr txBox="1"/>
          <p:nvPr/>
        </p:nvSpPr>
        <p:spPr>
          <a:xfrm>
            <a:off x="1993392" y="2862072"/>
            <a:ext cx="1554480" cy="164592"/>
          </a:xfrm>
          <a:prstGeom prst="rect">
            <a:avLst/>
          </a:prstGeom>
          <a:noFill/>
          <a:ln/>
        </p:spPr>
        <p:txBody>
          <a:bodyPr wrap="square" lIns="0" tIns="0" rIns="0" bIns="0" rtlCol="0" anchor="ctr"/>
          <a:lstStyle/>
          <a:p>
            <a:pPr indent="0" marL="0">
              <a:buNone/>
            </a:pPr>
            <a:r>
              <a:rPr lang="en-US" sz="800" dirty="0">
                <a:solidFill>
                  <a:schemeClr val="accent5"/>
                </a:solidFill>
              </a:rPr>
              <a:t>the model sees</a:t>
            </a:r>
            <a:endParaRPr lang="en-US" sz="800" dirty="0"/>
          </a:p>
        </p:txBody>
      </p:sp>
      <p:sp>
        <p:nvSpPr>
          <p:cNvPr id="24" name="Text 21"/>
          <p:cNvSpPr txBox="1"/>
          <p:nvPr/>
        </p:nvSpPr>
        <p:spPr>
          <a:xfrm>
            <a:off x="1938528" y="3035808"/>
            <a:ext cx="1664208" cy="219456"/>
          </a:xfrm>
          <a:prstGeom prst="rect">
            <a:avLst/>
          </a:prstGeom>
          <a:noFill/>
          <a:ln/>
        </p:spPr>
        <p:txBody>
          <a:bodyPr wrap="square" lIns="0" tIns="0" rIns="0" bIns="0" rtlCol="0" anchor="ctr"/>
          <a:lstStyle/>
          <a:p>
            <a:pPr algn="ctr" indent="0" marL="0">
              <a:buNone/>
            </a:pPr>
            <a:r>
              <a:rPr lang="en-US" sz="900" b="1" dirty="0">
                <a:solidFill>
                  <a:schemeClr val="accent4"/>
                </a:solidFill>
                <a:latin typeface="Courier New" pitchFamily="34" charset="0"/>
                <a:ea typeface="Courier New" pitchFamily="34" charset="-122"/>
                <a:cs typeface="Courier New" pitchFamily="34" charset="-120"/>
              </a:rPr>
              <a:t>[[CARD#3f2a1b ****1111]]</a:t>
            </a:r>
            <a:endParaRPr lang="en-US" sz="900" dirty="0"/>
          </a:p>
        </p:txBody>
      </p:sp>
      <p:sp>
        <p:nvSpPr>
          <p:cNvPr id="25" name="approved model"/>
          <p:cNvSpPr/>
          <p:nvPr/>
        </p:nvSpPr>
        <p:spPr>
          <a:xfrm>
            <a:off x="3849624" y="1783080"/>
            <a:ext cx="960120" cy="1280160"/>
          </a:xfrm>
          <a:prstGeom prst="roundRect">
            <a:avLst>
              <a:gd name="adj" fmla="val 7619"/>
            </a:avLst>
          </a:prstGeom>
          <a:solidFill>
            <a:schemeClr val="tx1"/>
          </a:solidFill>
          <a:ln/>
        </p:spPr>
      </p:sp>
      <p:sp>
        <p:nvSpPr>
          <p:cNvPr id="26" name="Text 23"/>
          <p:cNvSpPr txBox="1"/>
          <p:nvPr/>
        </p:nvSpPr>
        <p:spPr>
          <a:xfrm>
            <a:off x="3922776" y="1847088"/>
            <a:ext cx="832104" cy="365760"/>
          </a:xfrm>
          <a:prstGeom prst="rect">
            <a:avLst/>
          </a:prstGeom>
          <a:noFill/>
          <a:ln/>
        </p:spPr>
        <p:txBody>
          <a:bodyPr wrap="square" lIns="0" tIns="0" rIns="0" bIns="0" rtlCol="0" anchor="t"/>
          <a:lstStyle/>
          <a:p>
            <a:pPr indent="0" marL="0">
              <a:buNone/>
            </a:pPr>
            <a:r>
              <a:rPr lang="en-US" sz="1050" b="1" dirty="0">
                <a:solidFill>
                  <a:schemeClr val="bg1"/>
                </a:solidFill>
              </a:rPr>
              <a:t>Approved model</a:t>
            </a:r>
            <a:endParaRPr lang="en-US" sz="1050" dirty="0"/>
          </a:p>
        </p:txBody>
      </p:sp>
      <p:sp>
        <p:nvSpPr>
          <p:cNvPr id="27" name="Text 24"/>
          <p:cNvSpPr txBox="1"/>
          <p:nvPr/>
        </p:nvSpPr>
        <p:spPr>
          <a:xfrm>
            <a:off x="3922776" y="2231136"/>
            <a:ext cx="832104" cy="292608"/>
          </a:xfrm>
          <a:prstGeom prst="rect">
            <a:avLst/>
          </a:prstGeom>
          <a:noFill/>
          <a:ln/>
        </p:spPr>
        <p:txBody>
          <a:bodyPr wrap="square" lIns="0" tIns="0" rIns="0" bIns="0" rtlCol="0" anchor="t"/>
          <a:lstStyle/>
          <a:p>
            <a:pPr indent="0" marL="0">
              <a:buNone/>
            </a:pPr>
            <a:r>
              <a:rPr lang="en-US" sz="800" dirty="0">
                <a:solidFill>
                  <a:schemeClr val="bg2"/>
                </a:solidFill>
              </a:rPr>
              <a:t>DeepSeek via OpenRouter</a:t>
            </a:r>
            <a:endParaRPr lang="en-US" sz="800" dirty="0"/>
          </a:p>
        </p:txBody>
      </p:sp>
      <p:sp>
        <p:nvSpPr>
          <p:cNvPr id="28" name="Text 25"/>
          <p:cNvSpPr txBox="1"/>
          <p:nvPr/>
        </p:nvSpPr>
        <p:spPr>
          <a:xfrm>
            <a:off x="3922776" y="2560320"/>
            <a:ext cx="850392" cy="457200"/>
          </a:xfrm>
          <a:prstGeom prst="rect">
            <a:avLst/>
          </a:prstGeom>
          <a:noFill/>
          <a:ln/>
        </p:spPr>
        <p:txBody>
          <a:bodyPr wrap="square" lIns="0" tIns="0" rIns="0" bIns="0" rtlCol="0" anchor="t"/>
          <a:lstStyle/>
          <a:p>
            <a:pPr indent="0" marL="0">
              <a:buNone/>
            </a:pPr>
            <a:r>
              <a:rPr lang="en-US" sz="900" dirty="0">
                <a:solidFill>
                  <a:schemeClr val="bg1"/>
                </a:solidFill>
              </a:rPr>
              <a:t>Sees tokens, never the real values</a:t>
            </a:r>
            <a:endParaRPr lang="en-US" sz="900" dirty="0"/>
          </a:p>
        </p:txBody>
      </p:sp>
      <p:sp>
        <p:nvSpPr>
          <p:cNvPr id="29" name="checkpoint 2"/>
          <p:cNvSpPr/>
          <p:nvPr/>
        </p:nvSpPr>
        <p:spPr>
          <a:xfrm>
            <a:off x="4928616" y="1371600"/>
            <a:ext cx="1920240" cy="2057400"/>
          </a:xfrm>
          <a:prstGeom prst="roundRect">
            <a:avLst>
              <a:gd name="adj" fmla="val 3810"/>
            </a:avLst>
          </a:prstGeom>
          <a:solidFill>
            <a:schemeClr val="accent1">
              <a:alpha val="12000"/>
            </a:schemeClr>
          </a:solidFill>
          <a:ln w="19050">
            <a:solidFill>
              <a:schemeClr val="accent1"/>
            </a:solidFill>
            <a:prstDash val="solid"/>
          </a:ln>
        </p:spPr>
      </p:sp>
      <p:sp>
        <p:nvSpPr>
          <p:cNvPr id="30" name="Shape 27"/>
          <p:cNvSpPr/>
          <p:nvPr/>
        </p:nvSpPr>
        <p:spPr>
          <a:xfrm>
            <a:off x="5038344" y="1463040"/>
            <a:ext cx="237744" cy="237744"/>
          </a:xfrm>
          <a:prstGeom prst="ellipse">
            <a:avLst/>
          </a:prstGeom>
          <a:solidFill>
            <a:schemeClr val="accent1"/>
          </a:solidFill>
          <a:ln/>
        </p:spPr>
      </p:sp>
      <p:sp>
        <p:nvSpPr>
          <p:cNvPr id="31" name="Text 28"/>
          <p:cNvSpPr txBox="1"/>
          <p:nvPr/>
        </p:nvSpPr>
        <p:spPr>
          <a:xfrm>
            <a:off x="5038344" y="1463040"/>
            <a:ext cx="237744" cy="237744"/>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Text 29"/>
          <p:cNvSpPr txBox="1"/>
          <p:nvPr/>
        </p:nvSpPr>
        <p:spPr>
          <a:xfrm>
            <a:off x="5340096" y="1444752"/>
            <a:ext cx="1435608" cy="274320"/>
          </a:xfrm>
          <a:prstGeom prst="rect">
            <a:avLst/>
          </a:prstGeom>
          <a:noFill/>
          <a:ln/>
        </p:spPr>
        <p:txBody>
          <a:bodyPr wrap="square" lIns="0" tIns="0" rIns="0" bIns="0" rtlCol="0" anchor="ctr"/>
          <a:lstStyle/>
          <a:p>
            <a:pPr indent="0" marL="0">
              <a:buNone/>
            </a:pPr>
            <a:r>
              <a:rPr lang="en-US" sz="1050" b="1" dirty="0">
                <a:solidFill>
                  <a:schemeClr val="tx1"/>
                </a:solidFill>
              </a:rPr>
              <a:t>Before the agent acts</a:t>
            </a:r>
            <a:endParaRPr lang="en-US" sz="1050" dirty="0"/>
          </a:p>
        </p:txBody>
      </p:sp>
      <p:sp>
        <p:nvSpPr>
          <p:cNvPr id="33" name="Text 30"/>
          <p:cNvSpPr txBox="1"/>
          <p:nvPr/>
        </p:nvSpPr>
        <p:spPr>
          <a:xfrm>
            <a:off x="5038344" y="1810512"/>
            <a:ext cx="1719072" cy="1280160"/>
          </a:xfrm>
          <a:prstGeom prst="rect">
            <a:avLst/>
          </a:prstGeom>
          <a:noFill/>
          <a:ln/>
        </p:spPr>
        <p:txBody>
          <a:bodyPr wrap="square" lIns="0" tIns="0" rIns="0" bIns="0" rtlCol="0" anchor="t"/>
          <a:lstStyle/>
          <a:p>
            <a:pPr marL="101600" indent="-101600">
              <a:spcAft>
                <a:spcPts val="200"/>
              </a:spcAft>
              <a:buSzPct val="100000"/>
              <a:buChar char="•"/>
            </a:pPr>
            <a:r>
              <a:rPr lang="en-US" sz="900" dirty="0">
                <a:solidFill>
                  <a:schemeClr val="tx2"/>
                </a:solidFill>
              </a:rPr>
              <a:t>Role → allowed tools</a:t>
            </a:r>
            <a:endParaRPr lang="en-US" sz="900" dirty="0"/>
          </a:p>
          <a:p>
            <a:pPr marL="101600" indent="-101600">
              <a:spcAft>
                <a:spcPts val="200"/>
              </a:spcAft>
              <a:buSzPct val="100000"/>
              <a:buChar char="•"/>
            </a:pPr>
            <a:r>
              <a:rPr lang="en-US" sz="900" dirty="0">
                <a:solidFill>
                  <a:schemeClr val="tx2"/>
                </a:solidFill>
              </a:rPr>
              <a:t>Only the user's own clients</a:t>
            </a:r>
            <a:endParaRPr lang="en-US" sz="900" dirty="0"/>
          </a:p>
          <a:p>
            <a:pPr marL="101600" indent="-101600">
              <a:spcAft>
                <a:spcPts val="200"/>
              </a:spcAft>
              <a:buSzPct val="100000"/>
              <a:buChar char="•"/>
            </a:pPr>
            <a:r>
              <a:rPr lang="en-US" sz="900" dirty="0">
                <a:solidFill>
                  <a:schemeClr val="tx2"/>
                </a:solidFill>
              </a:rPr>
              <a:t>Information barrier (MNPI)</a:t>
            </a:r>
            <a:endParaRPr lang="en-US" sz="900" dirty="0"/>
          </a:p>
          <a:p>
            <a:pPr marL="101600" indent="-101600">
              <a:spcAft>
                <a:spcPts val="200"/>
              </a:spcAft>
              <a:buSzPct val="100000"/>
              <a:buChar char="•"/>
            </a:pPr>
            <a:r>
              <a:rPr lang="en-US" sz="900" dirty="0">
                <a:solidFill>
                  <a:schemeClr val="tx2"/>
                </a:solidFill>
              </a:rPr>
              <a:t>Budgets stop runaway loops</a:t>
            </a:r>
            <a:endParaRPr lang="en-US" sz="900" dirty="0"/>
          </a:p>
          <a:p>
            <a:pPr marL="101600" indent="-101600">
              <a:spcAft>
                <a:spcPts val="200"/>
              </a:spcAft>
              <a:buSzPct val="100000"/>
              <a:buChar char="•"/>
            </a:pPr>
            <a:r>
              <a:rPr lang="en-US" sz="900" dirty="0">
                <a:solidFill>
                  <a:schemeClr val="tx2"/>
                </a:solidFill>
              </a:rPr>
              <a:t>Known attack signatures</a:t>
            </a:r>
            <a:endParaRPr lang="en-US" sz="900" dirty="0"/>
          </a:p>
        </p:txBody>
      </p:sp>
      <p:sp>
        <p:nvSpPr>
          <p:cNvPr id="34" name="Text 31"/>
          <p:cNvSpPr txBox="1"/>
          <p:nvPr/>
        </p:nvSpPr>
        <p:spPr>
          <a:xfrm>
            <a:off x="5038344" y="3154680"/>
            <a:ext cx="1719072" cy="201168"/>
          </a:xfrm>
          <a:prstGeom prst="rect">
            <a:avLst/>
          </a:prstGeom>
          <a:noFill/>
          <a:ln/>
        </p:spPr>
        <p:txBody>
          <a:bodyPr wrap="square" lIns="0" tIns="0" rIns="0" bIns="0" rtlCol="0" anchor="ctr"/>
          <a:lstStyle/>
          <a:p>
            <a:pPr indent="0" marL="0">
              <a:buNone/>
            </a:pPr>
            <a:r>
              <a:rPr lang="en-US" sz="800" i="1" dirty="0">
                <a:solidFill>
                  <a:schemeClr val="accent5"/>
                </a:solidFill>
              </a:rPr>
              <a:t>Blocked calls never reach the agent</a:t>
            </a:r>
            <a:endParaRPr lang="en-US" sz="800" dirty="0"/>
          </a:p>
        </p:txBody>
      </p:sp>
      <p:sp>
        <p:nvSpPr>
          <p:cNvPr id="35" name="bank systems"/>
          <p:cNvSpPr/>
          <p:nvPr/>
        </p:nvSpPr>
        <p:spPr>
          <a:xfrm>
            <a:off x="6967728" y="1371600"/>
            <a:ext cx="1719072" cy="841248"/>
          </a:xfrm>
          <a:prstGeom prst="roundRect">
            <a:avLst>
              <a:gd name="adj" fmla="val 8696"/>
            </a:avLst>
          </a:prstGeom>
          <a:solidFill>
            <a:schemeClr val="bg1"/>
          </a:solidFill>
          <a:ln w="12700">
            <a:solidFill>
              <a:srgbClr val="C9D2DF"/>
            </a:solidFill>
            <a:prstDash val="solid"/>
          </a:ln>
        </p:spPr>
      </p:sp>
      <p:sp>
        <p:nvSpPr>
          <p:cNvPr id="36" name="Text 33"/>
          <p:cNvSpPr txBox="1"/>
          <p:nvPr/>
        </p:nvSpPr>
        <p:spPr>
          <a:xfrm>
            <a:off x="7059168" y="1408176"/>
            <a:ext cx="1536192" cy="274320"/>
          </a:xfrm>
          <a:prstGeom prst="rect">
            <a:avLst/>
          </a:prstGeom>
          <a:noFill/>
          <a:ln/>
        </p:spPr>
        <p:txBody>
          <a:bodyPr wrap="square" lIns="0" tIns="0" rIns="0" bIns="0" rtlCol="0" anchor="ctr"/>
          <a:lstStyle/>
          <a:p>
            <a:pPr indent="0" marL="0">
              <a:buNone/>
            </a:pPr>
            <a:r>
              <a:rPr lang="en-US" sz="1050" b="1" dirty="0">
                <a:solidFill>
                  <a:schemeClr val="tx1"/>
                </a:solidFill>
              </a:rPr>
              <a:t>Bank systems</a:t>
            </a:r>
            <a:endParaRPr lang="en-US" sz="1050" dirty="0"/>
          </a:p>
        </p:txBody>
      </p:sp>
      <p:sp>
        <p:nvSpPr>
          <p:cNvPr id="37" name="Text 34"/>
          <p:cNvSpPr txBox="1"/>
          <p:nvPr/>
        </p:nvSpPr>
        <p:spPr>
          <a:xfrm>
            <a:off x="7059168" y="1700784"/>
            <a:ext cx="1554480" cy="493776"/>
          </a:xfrm>
          <a:prstGeom prst="rect">
            <a:avLst/>
          </a:prstGeom>
          <a:noFill/>
          <a:ln/>
        </p:spPr>
        <p:txBody>
          <a:bodyPr wrap="square" lIns="0" tIns="0" rIns="0" bIns="0" rtlCol="0" anchor="t"/>
          <a:lstStyle/>
          <a:p>
            <a:pPr indent="0" marL="0">
              <a:buNone/>
            </a:pPr>
            <a:r>
              <a:rPr lang="en-US" sz="900" dirty="0">
                <a:solidFill>
                  <a:schemeClr val="tx2"/>
                </a:solidFill>
              </a:rPr>
              <a:t>Client files · sanctions screening · payments · code repos (tools, MCP)</a:t>
            </a:r>
            <a:endParaRPr lang="en-US" sz="900" dirty="0"/>
          </a:p>
        </p:txBody>
      </p:sp>
      <p:sp>
        <p:nvSpPr>
          <p:cNvPr id="38" name="checkpoint 3"/>
          <p:cNvSpPr/>
          <p:nvPr/>
        </p:nvSpPr>
        <p:spPr>
          <a:xfrm>
            <a:off x="6967728" y="2304288"/>
            <a:ext cx="1719072" cy="1033272"/>
          </a:xfrm>
          <a:prstGeom prst="roundRect">
            <a:avLst>
              <a:gd name="adj" fmla="val 7080"/>
            </a:avLst>
          </a:prstGeom>
          <a:solidFill>
            <a:schemeClr val="accent3">
              <a:alpha val="10000"/>
            </a:schemeClr>
          </a:solidFill>
          <a:ln w="19050">
            <a:solidFill>
              <a:schemeClr val="accent3"/>
            </a:solidFill>
            <a:prstDash val="solid"/>
          </a:ln>
        </p:spPr>
      </p:sp>
      <p:sp>
        <p:nvSpPr>
          <p:cNvPr id="39" name="Shape 36"/>
          <p:cNvSpPr/>
          <p:nvPr/>
        </p:nvSpPr>
        <p:spPr>
          <a:xfrm>
            <a:off x="7059168" y="2377440"/>
            <a:ext cx="237744" cy="237744"/>
          </a:xfrm>
          <a:prstGeom prst="ellipse">
            <a:avLst/>
          </a:prstGeom>
          <a:solidFill>
            <a:schemeClr val="accent3"/>
          </a:solidFill>
          <a:ln/>
        </p:spPr>
      </p:sp>
      <p:sp>
        <p:nvSpPr>
          <p:cNvPr id="40" name="Text 37"/>
          <p:cNvSpPr txBox="1"/>
          <p:nvPr/>
        </p:nvSpPr>
        <p:spPr>
          <a:xfrm>
            <a:off x="7059168" y="2377440"/>
            <a:ext cx="237744" cy="237744"/>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41" name="Text 38"/>
          <p:cNvSpPr txBox="1"/>
          <p:nvPr/>
        </p:nvSpPr>
        <p:spPr>
          <a:xfrm>
            <a:off x="7360920" y="2359152"/>
            <a:ext cx="1252728" cy="274320"/>
          </a:xfrm>
          <a:prstGeom prst="rect">
            <a:avLst/>
          </a:prstGeom>
          <a:noFill/>
          <a:ln/>
        </p:spPr>
        <p:txBody>
          <a:bodyPr wrap="square" lIns="0" tIns="0" rIns="0" bIns="0" rtlCol="0" anchor="ctr"/>
          <a:lstStyle/>
          <a:p>
            <a:pPr indent="0" marL="0">
              <a:buNone/>
            </a:pPr>
            <a:r>
              <a:rPr lang="en-US" sz="1050" b="1" dirty="0">
                <a:solidFill>
                  <a:schemeClr val="tx1"/>
                </a:solidFill>
              </a:rPr>
              <a:t>Before data leaves</a:t>
            </a:r>
            <a:endParaRPr lang="en-US" sz="1050" dirty="0"/>
          </a:p>
        </p:txBody>
      </p:sp>
      <p:sp>
        <p:nvSpPr>
          <p:cNvPr id="42" name="Text 39"/>
          <p:cNvSpPr txBox="1"/>
          <p:nvPr/>
        </p:nvSpPr>
        <p:spPr>
          <a:xfrm>
            <a:off x="7059168" y="2688336"/>
            <a:ext cx="1554480" cy="621792"/>
          </a:xfrm>
          <a:prstGeom prst="rect">
            <a:avLst/>
          </a:prstGeom>
          <a:noFill/>
          <a:ln/>
        </p:spPr>
        <p:txBody>
          <a:bodyPr wrap="square" lIns="0" tIns="0" rIns="0" bIns="0" rtlCol="0" anchor="t"/>
          <a:lstStyle/>
          <a:p>
            <a:pPr marL="101600" indent="-101600">
              <a:spcAft>
                <a:spcPts val="200"/>
              </a:spcAft>
              <a:buSzPct val="100000"/>
              <a:buChar char="•"/>
            </a:pPr>
            <a:r>
              <a:rPr lang="en-US" sz="900" dirty="0">
                <a:solidFill>
                  <a:schemeClr val="tx2"/>
                </a:solidFill>
              </a:rPr>
              <a:t>Client data never goes to email or web</a:t>
            </a:r>
            <a:endParaRPr lang="en-US" sz="900" dirty="0"/>
          </a:p>
          <a:p>
            <a:pPr marL="101600" indent="-101600">
              <a:spcAft>
                <a:spcPts val="200"/>
              </a:spcAft>
              <a:buSzPct val="100000"/>
              <a:buChar char="•"/>
            </a:pPr>
            <a:r>
              <a:rPr lang="en-US" sz="900" dirty="0">
                <a:solidFill>
                  <a:schemeClr val="tx2"/>
                </a:solidFill>
              </a:rPr>
              <a:t>Real values only to approved tools</a:t>
            </a:r>
            <a:endParaRPr lang="en-US" sz="900" dirty="0"/>
          </a:p>
        </p:txBody>
      </p:sp>
      <p:sp>
        <p:nvSpPr>
          <p:cNvPr id="43" name="outside the bank"/>
          <p:cNvSpPr/>
          <p:nvPr/>
        </p:nvSpPr>
        <p:spPr>
          <a:xfrm>
            <a:off x="6967728" y="3410712"/>
            <a:ext cx="1719072" cy="274320"/>
          </a:xfrm>
          <a:prstGeom prst="roundRect">
            <a:avLst>
              <a:gd name="adj" fmla="val 16667"/>
            </a:avLst>
          </a:prstGeom>
          <a:solidFill>
            <a:schemeClr val="bg2"/>
          </a:solidFill>
          <a:ln w="12700">
            <a:solidFill>
              <a:schemeClr val="accent5"/>
            </a:solidFill>
            <a:prstDash val="dash"/>
          </a:ln>
        </p:spPr>
      </p:sp>
      <p:sp>
        <p:nvSpPr>
          <p:cNvPr id="44" name="Text 41"/>
          <p:cNvSpPr txBox="1"/>
          <p:nvPr/>
        </p:nvSpPr>
        <p:spPr>
          <a:xfrm>
            <a:off x="7013448" y="3410712"/>
            <a:ext cx="1627632" cy="274320"/>
          </a:xfrm>
          <a:prstGeom prst="rect">
            <a:avLst/>
          </a:prstGeom>
          <a:noFill/>
          <a:ln/>
        </p:spPr>
        <p:txBody>
          <a:bodyPr wrap="square" lIns="0" tIns="0" rIns="0" bIns="0" rtlCol="0" anchor="ctr"/>
          <a:lstStyle/>
          <a:p>
            <a:pPr algn="ctr" indent="0" marL="0">
              <a:buNone/>
            </a:pPr>
            <a:r>
              <a:rPr lang="en-US" sz="800" dirty="0">
                <a:solidFill>
                  <a:schemeClr val="tx2"/>
                </a:solidFill>
              </a:rPr>
              <a:t>Outside the bank: email · web · vendors</a:t>
            </a:r>
            <a:endParaRPr lang="en-US" sz="800" dirty="0"/>
          </a:p>
        </p:txBody>
      </p:sp>
      <p:sp>
        <p:nvSpPr>
          <p:cNvPr id="45" name="Shape 42"/>
          <p:cNvSpPr/>
          <p:nvPr/>
        </p:nvSpPr>
        <p:spPr>
          <a:xfrm>
            <a:off x="1700784" y="2103120"/>
            <a:ext cx="100584" cy="914"/>
          </a:xfrm>
          <a:prstGeom prst="line">
            <a:avLst/>
          </a:prstGeom>
          <a:noFill/>
          <a:ln w="22225">
            <a:solidFill>
              <a:schemeClr val="accent5"/>
            </a:solidFill>
            <a:prstDash val="solid"/>
            <a:tailEnd type="triangle"/>
          </a:ln>
        </p:spPr>
      </p:sp>
      <p:sp>
        <p:nvSpPr>
          <p:cNvPr id="46" name="Shape 43"/>
          <p:cNvSpPr/>
          <p:nvPr/>
        </p:nvSpPr>
        <p:spPr>
          <a:xfrm>
            <a:off x="3739896" y="2377440"/>
            <a:ext cx="100584" cy="914"/>
          </a:xfrm>
          <a:prstGeom prst="line">
            <a:avLst/>
          </a:prstGeom>
          <a:noFill/>
          <a:ln w="22225">
            <a:solidFill>
              <a:schemeClr val="accent5"/>
            </a:solidFill>
            <a:prstDash val="solid"/>
            <a:tailEnd type="triangle"/>
          </a:ln>
        </p:spPr>
      </p:sp>
      <p:sp>
        <p:nvSpPr>
          <p:cNvPr id="47" name="Shape 44"/>
          <p:cNvSpPr/>
          <p:nvPr/>
        </p:nvSpPr>
        <p:spPr>
          <a:xfrm>
            <a:off x="4818888" y="2377440"/>
            <a:ext cx="100584" cy="914"/>
          </a:xfrm>
          <a:prstGeom prst="line">
            <a:avLst/>
          </a:prstGeom>
          <a:noFill/>
          <a:ln w="22225">
            <a:solidFill>
              <a:schemeClr val="accent5"/>
            </a:solidFill>
            <a:prstDash val="solid"/>
            <a:tailEnd type="triangle"/>
          </a:ln>
        </p:spPr>
      </p:sp>
      <p:sp>
        <p:nvSpPr>
          <p:cNvPr id="48" name="Shape 45"/>
          <p:cNvSpPr/>
          <p:nvPr/>
        </p:nvSpPr>
        <p:spPr>
          <a:xfrm>
            <a:off x="6858000" y="1792224"/>
            <a:ext cx="100584" cy="914"/>
          </a:xfrm>
          <a:prstGeom prst="line">
            <a:avLst/>
          </a:prstGeom>
          <a:noFill/>
          <a:ln w="22225">
            <a:solidFill>
              <a:schemeClr val="accent5"/>
            </a:solidFill>
            <a:prstDash val="solid"/>
            <a:tailEnd type="triangle"/>
          </a:ln>
        </p:spPr>
      </p:sp>
      <p:sp>
        <p:nvSpPr>
          <p:cNvPr id="49" name="Shape 46"/>
          <p:cNvSpPr/>
          <p:nvPr/>
        </p:nvSpPr>
        <p:spPr>
          <a:xfrm>
            <a:off x="6858000" y="2816352"/>
            <a:ext cx="100584" cy="914"/>
          </a:xfrm>
          <a:prstGeom prst="line">
            <a:avLst/>
          </a:prstGeom>
          <a:noFill/>
          <a:ln w="22225">
            <a:solidFill>
              <a:schemeClr val="accent3"/>
            </a:solidFill>
            <a:prstDash val="solid"/>
            <a:tailEnd type="triangle"/>
          </a:ln>
        </p:spPr>
      </p:sp>
      <p:sp>
        <p:nvSpPr>
          <p:cNvPr id="50" name="Shape 47"/>
          <p:cNvSpPr/>
          <p:nvPr/>
        </p:nvSpPr>
        <p:spPr>
          <a:xfrm>
            <a:off x="7827264" y="3346704"/>
            <a:ext cx="914" cy="54864"/>
          </a:xfrm>
          <a:prstGeom prst="line">
            <a:avLst/>
          </a:prstGeom>
          <a:noFill/>
          <a:ln w="22225">
            <a:solidFill>
              <a:schemeClr val="accent3"/>
            </a:solidFill>
            <a:prstDash val="solid"/>
            <a:tailEnd type="triangle"/>
          </a:ln>
        </p:spPr>
      </p:sp>
      <p:sp>
        <p:nvSpPr>
          <p:cNvPr id="51" name="Text 48"/>
          <p:cNvSpPr txBox="1"/>
          <p:nvPr/>
        </p:nvSpPr>
        <p:spPr>
          <a:xfrm>
            <a:off x="457200" y="3730752"/>
            <a:ext cx="3657600" cy="228600"/>
          </a:xfrm>
          <a:prstGeom prst="rect">
            <a:avLst/>
          </a:prstGeom>
          <a:noFill/>
          <a:ln/>
        </p:spPr>
        <p:txBody>
          <a:bodyPr wrap="square" lIns="0" tIns="0" rIns="0" bIns="0" rtlCol="0" anchor="ctr"/>
          <a:lstStyle/>
          <a:p>
            <a:pPr algn="l" indent="0" marL="0">
              <a:buNone/>
            </a:pPr>
            <a:r>
              <a:rPr lang="en-US" sz="1000" b="1" spc="200" kern="0" dirty="0">
                <a:solidFill>
                  <a:schemeClr val="accent5"/>
                </a:solidFill>
              </a:rPr>
              <a:t>UNDERNEATH EVERY CHECKPOINT</a:t>
            </a:r>
            <a:endParaRPr lang="en-US" sz="1000" dirty="0"/>
          </a:p>
        </p:txBody>
      </p:sp>
      <p:sp>
        <p:nvSpPr>
          <p:cNvPr id="52" name="underneath Policy as code"/>
          <p:cNvSpPr/>
          <p:nvPr/>
        </p:nvSpPr>
        <p:spPr>
          <a:xfrm>
            <a:off x="457200" y="3913632"/>
            <a:ext cx="1965960" cy="822960"/>
          </a:xfrm>
          <a:prstGeom prst="roundRect">
            <a:avLst>
              <a:gd name="adj" fmla="val 8889"/>
            </a:avLst>
          </a:prstGeom>
          <a:solidFill>
            <a:schemeClr val="bg2"/>
          </a:solidFill>
          <a:ln/>
        </p:spPr>
      </p:sp>
      <p:sp>
        <p:nvSpPr>
          <p:cNvPr id="53" name="Shape 50"/>
          <p:cNvSpPr/>
          <p:nvPr/>
        </p:nvSpPr>
        <p:spPr>
          <a:xfrm>
            <a:off x="548640" y="3986784"/>
            <a:ext cx="137160" cy="137160"/>
          </a:xfrm>
          <a:prstGeom prst="ellipse">
            <a:avLst/>
          </a:prstGeom>
          <a:solidFill>
            <a:schemeClr val="tx1"/>
          </a:solidFill>
          <a:ln/>
        </p:spPr>
      </p:sp>
      <p:sp>
        <p:nvSpPr>
          <p:cNvPr id="54" name="Text 51"/>
          <p:cNvSpPr txBox="1"/>
          <p:nvPr/>
        </p:nvSpPr>
        <p:spPr>
          <a:xfrm>
            <a:off x="749808" y="3950208"/>
            <a:ext cx="1600200" cy="210312"/>
          </a:xfrm>
          <a:prstGeom prst="rect">
            <a:avLst/>
          </a:prstGeom>
          <a:noFill/>
          <a:ln/>
        </p:spPr>
        <p:txBody>
          <a:bodyPr wrap="square" lIns="0" tIns="0" rIns="0" bIns="0" rtlCol="0" anchor="ctr"/>
          <a:lstStyle/>
          <a:p>
            <a:pPr indent="0" marL="0">
              <a:buNone/>
            </a:pPr>
            <a:r>
              <a:rPr lang="en-US" sz="1050" b="1" dirty="0">
                <a:solidFill>
                  <a:schemeClr val="tx1"/>
                </a:solidFill>
              </a:rPr>
              <a:t>Policy as code</a:t>
            </a:r>
            <a:endParaRPr lang="en-US" sz="1050" dirty="0"/>
          </a:p>
        </p:txBody>
      </p:sp>
      <p:sp>
        <p:nvSpPr>
          <p:cNvPr id="55" name="Text 52"/>
          <p:cNvSpPr txBox="1"/>
          <p:nvPr/>
        </p:nvSpPr>
        <p:spPr>
          <a:xfrm>
            <a:off x="548640" y="4160520"/>
            <a:ext cx="1810512" cy="566928"/>
          </a:xfrm>
          <a:prstGeom prst="rect">
            <a:avLst/>
          </a:prstGeom>
          <a:noFill/>
          <a:ln/>
        </p:spPr>
        <p:txBody>
          <a:bodyPr wrap="square" lIns="0" tIns="0" rIns="0" bIns="0" rtlCol="0" anchor="t"/>
          <a:lstStyle/>
          <a:p>
            <a:pPr indent="0" marL="0">
              <a:buNone/>
            </a:pPr>
            <a:r>
              <a:rPr lang="en-US" sz="900" dirty="0">
                <a:solidFill>
                  <a:schemeClr val="tx2"/>
                </a:solidFill>
              </a:rPr>
              <a:t>One YAML file, three profiles. Edited live: versioned and audited, last good policy kept on errors.</a:t>
            </a:r>
            <a:endParaRPr lang="en-US" sz="900" dirty="0"/>
          </a:p>
        </p:txBody>
      </p:sp>
      <p:sp>
        <p:nvSpPr>
          <p:cNvPr id="56" name="underneath Injection judge"/>
          <p:cNvSpPr/>
          <p:nvPr/>
        </p:nvSpPr>
        <p:spPr>
          <a:xfrm>
            <a:off x="2551176" y="3913632"/>
            <a:ext cx="1965960" cy="822960"/>
          </a:xfrm>
          <a:prstGeom prst="roundRect">
            <a:avLst>
              <a:gd name="adj" fmla="val 8889"/>
            </a:avLst>
          </a:prstGeom>
          <a:solidFill>
            <a:schemeClr val="bg2"/>
          </a:solidFill>
          <a:ln/>
        </p:spPr>
      </p:sp>
      <p:sp>
        <p:nvSpPr>
          <p:cNvPr id="57" name="Shape 54"/>
          <p:cNvSpPr/>
          <p:nvPr/>
        </p:nvSpPr>
        <p:spPr>
          <a:xfrm>
            <a:off x="2642616" y="3986784"/>
            <a:ext cx="137160" cy="137160"/>
          </a:xfrm>
          <a:prstGeom prst="ellipse">
            <a:avLst/>
          </a:prstGeom>
          <a:solidFill>
            <a:schemeClr val="accent4"/>
          </a:solidFill>
          <a:ln/>
        </p:spPr>
      </p:sp>
      <p:sp>
        <p:nvSpPr>
          <p:cNvPr id="58" name="Text 55"/>
          <p:cNvSpPr txBox="1"/>
          <p:nvPr/>
        </p:nvSpPr>
        <p:spPr>
          <a:xfrm>
            <a:off x="2843784" y="3950208"/>
            <a:ext cx="1600200" cy="210312"/>
          </a:xfrm>
          <a:prstGeom prst="rect">
            <a:avLst/>
          </a:prstGeom>
          <a:noFill/>
          <a:ln/>
        </p:spPr>
        <p:txBody>
          <a:bodyPr wrap="square" lIns="0" tIns="0" rIns="0" bIns="0" rtlCol="0" anchor="ctr"/>
          <a:lstStyle/>
          <a:p>
            <a:pPr indent="0" marL="0">
              <a:buNone/>
            </a:pPr>
            <a:r>
              <a:rPr lang="en-US" sz="1050" b="1" dirty="0">
                <a:solidFill>
                  <a:schemeClr val="tx1"/>
                </a:solidFill>
              </a:rPr>
              <a:t>Injection judge</a:t>
            </a:r>
            <a:endParaRPr lang="en-US" sz="1050" dirty="0"/>
          </a:p>
        </p:txBody>
      </p:sp>
      <p:sp>
        <p:nvSpPr>
          <p:cNvPr id="59" name="Text 56"/>
          <p:cNvSpPr txBox="1"/>
          <p:nvPr/>
        </p:nvSpPr>
        <p:spPr>
          <a:xfrm>
            <a:off x="2642616" y="4160520"/>
            <a:ext cx="1810512" cy="566928"/>
          </a:xfrm>
          <a:prstGeom prst="rect">
            <a:avLst/>
          </a:prstGeom>
          <a:noFill/>
          <a:ln/>
        </p:spPr>
        <p:txBody>
          <a:bodyPr wrap="square" lIns="0" tIns="0" rIns="0" bIns="0" rtlCol="0" anchor="t"/>
          <a:lstStyle/>
          <a:p>
            <a:pPr indent="0" marL="0">
              <a:buNone/>
            </a:pPr>
            <a:r>
              <a:rPr lang="en-US" sz="900" dirty="0">
                <a:solidFill>
                  <a:schemeClr val="tx2"/>
                </a:solidFill>
              </a:rPr>
              <a:t>Jev (TypeSafe) scores only text an outsider could have written. Sees redacted text only.</a:t>
            </a:r>
            <a:endParaRPr lang="en-US" sz="900" dirty="0"/>
          </a:p>
        </p:txBody>
      </p:sp>
      <p:sp>
        <p:nvSpPr>
          <p:cNvPr id="60" name="underneath Evidence"/>
          <p:cNvSpPr/>
          <p:nvPr/>
        </p:nvSpPr>
        <p:spPr>
          <a:xfrm>
            <a:off x="4645152" y="3913632"/>
            <a:ext cx="1965960" cy="822960"/>
          </a:xfrm>
          <a:prstGeom prst="roundRect">
            <a:avLst>
              <a:gd name="adj" fmla="val 8889"/>
            </a:avLst>
          </a:prstGeom>
          <a:solidFill>
            <a:schemeClr val="bg2"/>
          </a:solidFill>
          <a:ln/>
        </p:spPr>
      </p:sp>
      <p:sp>
        <p:nvSpPr>
          <p:cNvPr id="61" name="Shape 58"/>
          <p:cNvSpPr/>
          <p:nvPr/>
        </p:nvSpPr>
        <p:spPr>
          <a:xfrm>
            <a:off x="4736592" y="3986784"/>
            <a:ext cx="137160" cy="137160"/>
          </a:xfrm>
          <a:prstGeom prst="ellipse">
            <a:avLst/>
          </a:prstGeom>
          <a:solidFill>
            <a:schemeClr val="accent2"/>
          </a:solidFill>
          <a:ln/>
        </p:spPr>
      </p:sp>
      <p:sp>
        <p:nvSpPr>
          <p:cNvPr id="62" name="Text 59"/>
          <p:cNvSpPr txBox="1"/>
          <p:nvPr/>
        </p:nvSpPr>
        <p:spPr>
          <a:xfrm>
            <a:off x="4937760" y="3950208"/>
            <a:ext cx="1600200" cy="210312"/>
          </a:xfrm>
          <a:prstGeom prst="rect">
            <a:avLst/>
          </a:prstGeom>
          <a:noFill/>
          <a:ln/>
        </p:spPr>
        <p:txBody>
          <a:bodyPr wrap="square" lIns="0" tIns="0" rIns="0" bIns="0" rtlCol="0" anchor="ctr"/>
          <a:lstStyle/>
          <a:p>
            <a:pPr indent="0" marL="0">
              <a:buNone/>
            </a:pPr>
            <a:r>
              <a:rPr lang="en-US" sz="1050" b="1" dirty="0">
                <a:solidFill>
                  <a:schemeClr val="tx1"/>
                </a:solidFill>
              </a:rPr>
              <a:t>Evidence</a:t>
            </a:r>
            <a:endParaRPr lang="en-US" sz="1050" dirty="0"/>
          </a:p>
        </p:txBody>
      </p:sp>
      <p:sp>
        <p:nvSpPr>
          <p:cNvPr id="63" name="Text 60"/>
          <p:cNvSpPr txBox="1"/>
          <p:nvPr/>
        </p:nvSpPr>
        <p:spPr>
          <a:xfrm>
            <a:off x="4736592" y="4160520"/>
            <a:ext cx="1810512" cy="566928"/>
          </a:xfrm>
          <a:prstGeom prst="rect">
            <a:avLst/>
          </a:prstGeom>
          <a:noFill/>
          <a:ln/>
        </p:spPr>
        <p:txBody>
          <a:bodyPr wrap="square" lIns="0" tIns="0" rIns="0" bIns="0" rtlCol="0" anchor="t"/>
          <a:lstStyle/>
          <a:p>
            <a:pPr indent="0" marL="0">
              <a:buNone/>
            </a:pPr>
            <a:r>
              <a:rPr lang="en-US" sz="900" dirty="0">
                <a:solidFill>
                  <a:schemeClr val="tx2"/>
                </a:solidFill>
              </a:rPr>
              <a:t>Hash-chained audit log: each entry names the policy that decided it. Streams live to the dashboard.</a:t>
            </a:r>
            <a:endParaRPr lang="en-US" sz="900" dirty="0"/>
          </a:p>
        </p:txBody>
      </p:sp>
      <p:sp>
        <p:nvSpPr>
          <p:cNvPr id="64" name="underneath Fail closed"/>
          <p:cNvSpPr/>
          <p:nvPr/>
        </p:nvSpPr>
        <p:spPr>
          <a:xfrm>
            <a:off x="6739128" y="3913632"/>
            <a:ext cx="1965960" cy="822960"/>
          </a:xfrm>
          <a:prstGeom prst="roundRect">
            <a:avLst>
              <a:gd name="adj" fmla="val 8889"/>
            </a:avLst>
          </a:prstGeom>
          <a:solidFill>
            <a:schemeClr val="bg2"/>
          </a:solidFill>
          <a:ln/>
        </p:spPr>
      </p:sp>
      <p:sp>
        <p:nvSpPr>
          <p:cNvPr id="65" name="Shape 62"/>
          <p:cNvSpPr/>
          <p:nvPr/>
        </p:nvSpPr>
        <p:spPr>
          <a:xfrm>
            <a:off x="6830568" y="3986784"/>
            <a:ext cx="137160" cy="137160"/>
          </a:xfrm>
          <a:prstGeom prst="ellipse">
            <a:avLst/>
          </a:prstGeom>
          <a:solidFill>
            <a:schemeClr val="accent3"/>
          </a:solidFill>
          <a:ln/>
        </p:spPr>
      </p:sp>
      <p:sp>
        <p:nvSpPr>
          <p:cNvPr id="66" name="Text 63"/>
          <p:cNvSpPr txBox="1"/>
          <p:nvPr/>
        </p:nvSpPr>
        <p:spPr>
          <a:xfrm>
            <a:off x="7031736" y="3950208"/>
            <a:ext cx="1600200" cy="210312"/>
          </a:xfrm>
          <a:prstGeom prst="rect">
            <a:avLst/>
          </a:prstGeom>
          <a:noFill/>
          <a:ln/>
        </p:spPr>
        <p:txBody>
          <a:bodyPr wrap="square" lIns="0" tIns="0" rIns="0" bIns="0" rtlCol="0" anchor="ctr"/>
          <a:lstStyle/>
          <a:p>
            <a:pPr indent="0" marL="0">
              <a:buNone/>
            </a:pPr>
            <a:r>
              <a:rPr lang="en-US" sz="1050" b="1" dirty="0">
                <a:solidFill>
                  <a:schemeClr val="tx1"/>
                </a:solidFill>
              </a:rPr>
              <a:t>Fail closed</a:t>
            </a:r>
            <a:endParaRPr lang="en-US" sz="1050" dirty="0"/>
          </a:p>
        </p:txBody>
      </p:sp>
      <p:sp>
        <p:nvSpPr>
          <p:cNvPr id="67" name="Text 64"/>
          <p:cNvSpPr txBox="1"/>
          <p:nvPr/>
        </p:nvSpPr>
        <p:spPr>
          <a:xfrm>
            <a:off x="6830568" y="4160520"/>
            <a:ext cx="1810512" cy="566928"/>
          </a:xfrm>
          <a:prstGeom prst="rect">
            <a:avLst/>
          </a:prstGeom>
          <a:noFill/>
          <a:ln/>
        </p:spPr>
        <p:txBody>
          <a:bodyPr wrap="square" lIns="0" tIns="0" rIns="0" bIns="0" rtlCol="0" anchor="t"/>
          <a:lstStyle/>
          <a:p>
            <a:pPr indent="0" marL="0">
              <a:buNone/>
            </a:pPr>
            <a:r>
              <a:rPr lang="en-US" sz="900" dirty="0">
                <a:solidFill>
                  <a:schemeClr val="tx2"/>
                </a:solidFill>
              </a:rPr>
              <a:t>A check that errors blocks. A broken policy edit is rejected. 450+ automated tests, no keys needed.</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8229600" cy="73152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Measured, not claimed</a:t>
            </a:r>
            <a:endParaRPr lang="en-US" sz="2800" dirty="0"/>
          </a:p>
        </p:txBody>
      </p:sp>
      <p:sp>
        <p:nvSpPr>
          <p:cNvPr id="3" name="hero CAUGHT BY THE AI JUDGE"/>
          <p:cNvSpPr/>
          <p:nvPr/>
        </p:nvSpPr>
        <p:spPr>
          <a:xfrm>
            <a:off x="457200" y="1188720"/>
            <a:ext cx="4023360" cy="1920240"/>
          </a:xfrm>
          <a:prstGeom prst="roundRect">
            <a:avLst>
              <a:gd name="adj" fmla="val 5714"/>
            </a:avLst>
          </a:prstGeom>
          <a:solidFill>
            <a:schemeClr val="bg2"/>
          </a:solidFill>
          <a:ln/>
        </p:spPr>
      </p:sp>
      <p:sp>
        <p:nvSpPr>
          <p:cNvPr id="4" name="Text 2"/>
          <p:cNvSpPr txBox="1"/>
          <p:nvPr/>
        </p:nvSpPr>
        <p:spPr>
          <a:xfrm>
            <a:off x="731520" y="1325880"/>
            <a:ext cx="3474720" cy="228600"/>
          </a:xfrm>
          <a:prstGeom prst="rect">
            <a:avLst/>
          </a:prstGeom>
          <a:noFill/>
          <a:ln/>
        </p:spPr>
        <p:txBody>
          <a:bodyPr wrap="square" lIns="0" tIns="0" rIns="0" bIns="0" rtlCol="0" anchor="ctr"/>
          <a:lstStyle/>
          <a:p>
            <a:pPr algn="l" indent="0" marL="0">
              <a:buNone/>
            </a:pPr>
            <a:r>
              <a:rPr lang="en-US" sz="1000" b="1" spc="200" kern="0" dirty="0">
                <a:solidFill>
                  <a:schemeClr val="accent2"/>
                </a:solidFill>
              </a:rPr>
              <a:t>CAUGHT BY THE AI JUDGE</a:t>
            </a:r>
            <a:endParaRPr lang="en-US" sz="1000" dirty="0"/>
          </a:p>
        </p:txBody>
      </p:sp>
      <p:sp>
        <p:nvSpPr>
          <p:cNvPr id="5" name="Text 3"/>
          <p:cNvSpPr txBox="1"/>
          <p:nvPr/>
        </p:nvSpPr>
        <p:spPr>
          <a:xfrm>
            <a:off x="731520" y="1554480"/>
            <a:ext cx="3474720" cy="731520"/>
          </a:xfrm>
          <a:prstGeom prst="rect">
            <a:avLst/>
          </a:prstGeom>
          <a:noFill/>
          <a:ln/>
        </p:spPr>
        <p:txBody>
          <a:bodyPr wrap="square" lIns="0" tIns="0" rIns="0" bIns="0" rtlCol="0" anchor="ctr"/>
          <a:lstStyle/>
          <a:p>
            <a:pPr indent="0" marL="0">
              <a:buNone/>
            </a:pPr>
            <a:r>
              <a:rPr lang="en-US" sz="5000" b="1" dirty="0">
                <a:solidFill>
                  <a:schemeClr val="tx1"/>
                </a:solidFill>
                <a:latin typeface="Cambria" pitchFamily="34" charset="0"/>
                <a:ea typeface="Cambria" pitchFamily="34" charset="-122"/>
                <a:cs typeface="Cambria" pitchFamily="34" charset="-120"/>
              </a:rPr>
              <a:t>97.5%</a:t>
            </a:r>
            <a:endParaRPr lang="en-US" sz="5000" dirty="0"/>
          </a:p>
        </p:txBody>
      </p:sp>
      <p:sp>
        <p:nvSpPr>
          <p:cNvPr id="6" name="Text 4"/>
          <p:cNvSpPr txBox="1"/>
          <p:nvPr/>
        </p:nvSpPr>
        <p:spPr>
          <a:xfrm>
            <a:off x="731520" y="2286000"/>
            <a:ext cx="3520440" cy="292608"/>
          </a:xfrm>
          <a:prstGeom prst="rect">
            <a:avLst/>
          </a:prstGeom>
          <a:noFill/>
          <a:ln/>
        </p:spPr>
        <p:txBody>
          <a:bodyPr wrap="square" lIns="0" tIns="0" rIns="0" bIns="0" rtlCol="0" anchor="ctr"/>
          <a:lstStyle/>
          <a:p>
            <a:pPr indent="0" marL="0">
              <a:buNone/>
            </a:pPr>
            <a:r>
              <a:rPr lang="en-US" sz="1600" b="1" dirty="0">
                <a:solidFill>
                  <a:schemeClr val="tx1"/>
                </a:solidFill>
              </a:rPr>
              <a:t>of real data-stealing attacks</a:t>
            </a:r>
            <a:endParaRPr lang="en-US" sz="1600" dirty="0"/>
          </a:p>
        </p:txBody>
      </p:sp>
      <p:sp>
        <p:nvSpPr>
          <p:cNvPr id="7" name="Text 5"/>
          <p:cNvSpPr txBox="1"/>
          <p:nvPr/>
        </p:nvSpPr>
        <p:spPr>
          <a:xfrm>
            <a:off x="731520" y="2615184"/>
            <a:ext cx="3520440" cy="411480"/>
          </a:xfrm>
          <a:prstGeom prst="rect">
            <a:avLst/>
          </a:prstGeom>
          <a:noFill/>
          <a:ln/>
        </p:spPr>
        <p:txBody>
          <a:bodyPr wrap="square" lIns="0" tIns="0" rIns="0" bIns="0" rtlCol="0" anchor="t"/>
          <a:lstStyle/>
          <a:p>
            <a:pPr indent="0" marL="0">
              <a:buNone/>
            </a:pPr>
            <a:r>
              <a:rPr lang="en-US" sz="1200" dirty="0">
                <a:solidFill>
                  <a:schemeClr val="tx2"/>
                </a:solidFill>
              </a:rPr>
              <a:t>Tested on 519 real attacks that stole data (Microsoft LLMail-Inject)</a:t>
            </a:r>
            <a:endParaRPr lang="en-US" sz="1200" dirty="0"/>
          </a:p>
        </p:txBody>
      </p:sp>
      <p:sp>
        <p:nvSpPr>
          <p:cNvPr id="8" name="hero FALSE ALARMS, SAME SETTING"/>
          <p:cNvSpPr/>
          <p:nvPr/>
        </p:nvSpPr>
        <p:spPr>
          <a:xfrm>
            <a:off x="4663440" y="1188720"/>
            <a:ext cx="4023360" cy="1920240"/>
          </a:xfrm>
          <a:prstGeom prst="roundRect">
            <a:avLst>
              <a:gd name="adj" fmla="val 5714"/>
            </a:avLst>
          </a:prstGeom>
          <a:solidFill>
            <a:schemeClr val="bg2"/>
          </a:solidFill>
          <a:ln/>
        </p:spPr>
      </p:sp>
      <p:sp>
        <p:nvSpPr>
          <p:cNvPr id="9" name="Text 7"/>
          <p:cNvSpPr txBox="1"/>
          <p:nvPr/>
        </p:nvSpPr>
        <p:spPr>
          <a:xfrm>
            <a:off x="4937760" y="1325880"/>
            <a:ext cx="3474720" cy="228600"/>
          </a:xfrm>
          <a:prstGeom prst="rect">
            <a:avLst/>
          </a:prstGeom>
          <a:noFill/>
          <a:ln/>
        </p:spPr>
        <p:txBody>
          <a:bodyPr wrap="square" lIns="0" tIns="0" rIns="0" bIns="0" rtlCol="0" anchor="ctr"/>
          <a:lstStyle/>
          <a:p>
            <a:pPr algn="l" indent="0" marL="0">
              <a:buNone/>
            </a:pPr>
            <a:r>
              <a:rPr lang="en-US" sz="1000" b="1" spc="200" kern="0" dirty="0">
                <a:solidFill>
                  <a:schemeClr val="accent2"/>
                </a:solidFill>
              </a:rPr>
              <a:t>FALSE ALARMS, SAME SETTING</a:t>
            </a:r>
            <a:endParaRPr lang="en-US" sz="1000" dirty="0"/>
          </a:p>
        </p:txBody>
      </p:sp>
      <p:sp>
        <p:nvSpPr>
          <p:cNvPr id="10" name="Text 8"/>
          <p:cNvSpPr txBox="1"/>
          <p:nvPr/>
        </p:nvSpPr>
        <p:spPr>
          <a:xfrm>
            <a:off x="4937760" y="1554480"/>
            <a:ext cx="3474720" cy="731520"/>
          </a:xfrm>
          <a:prstGeom prst="rect">
            <a:avLst/>
          </a:prstGeom>
          <a:noFill/>
          <a:ln/>
        </p:spPr>
        <p:txBody>
          <a:bodyPr wrap="square" lIns="0" tIns="0" rIns="0" bIns="0" rtlCol="0" anchor="ctr"/>
          <a:lstStyle/>
          <a:p>
            <a:pPr indent="0" marL="0">
              <a:buNone/>
            </a:pPr>
            <a:r>
              <a:rPr lang="en-US" sz="5000" b="1" dirty="0">
                <a:solidFill>
                  <a:schemeClr val="tx1"/>
                </a:solidFill>
                <a:latin typeface="Cambria" pitchFamily="34" charset="0"/>
                <a:ea typeface="Cambria" pitchFamily="34" charset="-122"/>
                <a:cs typeface="Cambria" pitchFamily="34" charset="-120"/>
              </a:rPr>
              <a:t>0%</a:t>
            </a:r>
            <a:endParaRPr lang="en-US" sz="5000" dirty="0"/>
          </a:p>
        </p:txBody>
      </p:sp>
      <p:sp>
        <p:nvSpPr>
          <p:cNvPr id="11" name="Text 9"/>
          <p:cNvSpPr txBox="1"/>
          <p:nvPr/>
        </p:nvSpPr>
        <p:spPr>
          <a:xfrm>
            <a:off x="4937760" y="2286000"/>
            <a:ext cx="3520440" cy="292608"/>
          </a:xfrm>
          <a:prstGeom prst="rect">
            <a:avLst/>
          </a:prstGeom>
          <a:noFill/>
          <a:ln/>
        </p:spPr>
        <p:txBody>
          <a:bodyPr wrap="square" lIns="0" tIns="0" rIns="0" bIns="0" rtlCol="0" anchor="ctr"/>
          <a:lstStyle/>
          <a:p>
            <a:pPr indent="0" marL="0">
              <a:buNone/>
            </a:pPr>
            <a:r>
              <a:rPr lang="en-US" sz="1600" b="1" dirty="0">
                <a:solidFill>
                  <a:schemeClr val="tx1"/>
                </a:solidFill>
              </a:rPr>
              <a:t>of harmless prompts flagged</a:t>
            </a:r>
            <a:endParaRPr lang="en-US" sz="1600" dirty="0"/>
          </a:p>
        </p:txBody>
      </p:sp>
      <p:sp>
        <p:nvSpPr>
          <p:cNvPr id="12" name="Text 10"/>
          <p:cNvSpPr txBox="1"/>
          <p:nvPr/>
        </p:nvSpPr>
        <p:spPr>
          <a:xfrm>
            <a:off x="4937760" y="2615184"/>
            <a:ext cx="3520440" cy="411480"/>
          </a:xfrm>
          <a:prstGeom prst="rect">
            <a:avLst/>
          </a:prstGeom>
          <a:noFill/>
          <a:ln/>
        </p:spPr>
        <p:txBody>
          <a:bodyPr wrap="square" lIns="0" tIns="0" rIns="0" bIns="0" rtlCol="0" anchor="t"/>
          <a:lstStyle/>
          <a:p>
            <a:pPr indent="0" marL="0">
              <a:buNone/>
            </a:pPr>
            <a:r>
              <a:rPr lang="en-US" sz="1200" dirty="0">
                <a:solidFill>
                  <a:schemeClr val="tx2"/>
                </a:solidFill>
              </a:rPr>
              <a:t>0 of 993 real bank customer questions (banking77)</a:t>
            </a:r>
            <a:endParaRPr lang="en-US" sz="1200" dirty="0"/>
          </a:p>
        </p:txBody>
      </p:sp>
      <p:sp>
        <p:nvSpPr>
          <p:cNvPr id="13" name="Shape 11"/>
          <p:cNvSpPr/>
          <p:nvPr/>
        </p:nvSpPr>
        <p:spPr>
          <a:xfrm>
            <a:off x="4315968" y="1947672"/>
            <a:ext cx="512064" cy="512064"/>
          </a:xfrm>
          <a:prstGeom prst="ellipse">
            <a:avLst/>
          </a:prstGeom>
          <a:solidFill>
            <a:schemeClr val="accent1"/>
          </a:solidFill>
          <a:ln w="38100">
            <a:solidFill>
              <a:schemeClr val="bg1"/>
            </a:solidFill>
            <a:prstDash val="solid"/>
          </a:ln>
        </p:spPr>
      </p:sp>
      <p:sp>
        <p:nvSpPr>
          <p:cNvPr id="14" name="Text 12"/>
          <p:cNvSpPr txBox="1"/>
          <p:nvPr/>
        </p:nvSpPr>
        <p:spPr>
          <a:xfrm>
            <a:off x="4315968" y="1947672"/>
            <a:ext cx="512064" cy="512064"/>
          </a:xfrm>
          <a:prstGeom prst="rect">
            <a:avLst/>
          </a:prstGeom>
          <a:noFill/>
          <a:ln/>
        </p:spPr>
        <p:txBody>
          <a:bodyPr wrap="square" lIns="0" tIns="0" rIns="0" bIns="0" rtlCol="0" anchor="ctr"/>
          <a:lstStyle/>
          <a:p>
            <a:pPr algn="ctr" indent="0" marL="0">
              <a:buNone/>
            </a:pPr>
            <a:r>
              <a:rPr lang="en-US" sz="2200" b="1" dirty="0">
                <a:solidFill>
                  <a:schemeClr val="tx1"/>
                </a:solidFill>
              </a:rPr>
              <a:t>+</a:t>
            </a:r>
            <a:endParaRPr lang="en-US" sz="2200" dirty="0"/>
          </a:p>
        </p:txBody>
      </p:sp>
      <p:sp>
        <p:nvSpPr>
          <p:cNvPr id="15" name="tile 4/4 → 0/4"/>
          <p:cNvSpPr/>
          <p:nvPr/>
        </p:nvSpPr>
        <p:spPr>
          <a:xfrm>
            <a:off x="457200" y="3291840"/>
            <a:ext cx="2615184" cy="960120"/>
          </a:xfrm>
          <a:prstGeom prst="roundRect">
            <a:avLst>
              <a:gd name="adj" fmla="val 9524"/>
            </a:avLst>
          </a:prstGeom>
          <a:solidFill>
            <a:schemeClr val="bg1"/>
          </a:solidFill>
          <a:ln w="12700">
            <a:solidFill>
              <a:srgbClr val="C9D2DF"/>
            </a:solidFill>
            <a:prstDash val="solid"/>
          </a:ln>
        </p:spPr>
      </p:sp>
      <p:sp>
        <p:nvSpPr>
          <p:cNvPr id="16" name="Text 14"/>
          <p:cNvSpPr txBox="1"/>
          <p:nvPr/>
        </p:nvSpPr>
        <p:spPr>
          <a:xfrm>
            <a:off x="640080" y="3364992"/>
            <a:ext cx="2286000" cy="38404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4/4 → 0/4</a:t>
            </a:r>
            <a:endParaRPr lang="en-US" sz="2200" dirty="0"/>
          </a:p>
        </p:txBody>
      </p:sp>
      <p:sp>
        <p:nvSpPr>
          <p:cNvPr id="17" name="Text 15"/>
          <p:cNvSpPr txBox="1"/>
          <p:nvPr/>
        </p:nvSpPr>
        <p:spPr>
          <a:xfrm>
            <a:off x="640080" y="3767328"/>
            <a:ext cx="2286000" cy="438912"/>
          </a:xfrm>
          <a:prstGeom prst="rect">
            <a:avLst/>
          </a:prstGeom>
          <a:noFill/>
          <a:ln/>
        </p:spPr>
        <p:txBody>
          <a:bodyPr wrap="square" lIns="0" tIns="0" rIns="0" bIns="0" rtlCol="0" anchor="t"/>
          <a:lstStyle/>
          <a:p>
            <a:pPr indent="0" marL="0">
              <a:buNone/>
            </a:pPr>
            <a:r>
              <a:rPr lang="en-US" sz="1100" dirty="0">
                <a:solidFill>
                  <a:schemeClr val="tx2"/>
                </a:solidFill>
              </a:rPr>
              <a:t>client-data leaks, even when the judge misses</a:t>
            </a:r>
            <a:endParaRPr lang="en-US" sz="1100" dirty="0"/>
          </a:p>
        </p:txBody>
      </p:sp>
      <p:sp>
        <p:nvSpPr>
          <p:cNvPr id="18" name="tile 450+"/>
          <p:cNvSpPr/>
          <p:nvPr/>
        </p:nvSpPr>
        <p:spPr>
          <a:xfrm>
            <a:off x="3264408" y="3291840"/>
            <a:ext cx="2615184" cy="960120"/>
          </a:xfrm>
          <a:prstGeom prst="roundRect">
            <a:avLst>
              <a:gd name="adj" fmla="val 9524"/>
            </a:avLst>
          </a:prstGeom>
          <a:solidFill>
            <a:schemeClr val="bg1"/>
          </a:solidFill>
          <a:ln w="12700">
            <a:solidFill>
              <a:srgbClr val="C9D2DF"/>
            </a:solidFill>
            <a:prstDash val="solid"/>
          </a:ln>
        </p:spPr>
      </p:sp>
      <p:sp>
        <p:nvSpPr>
          <p:cNvPr id="19" name="Text 17"/>
          <p:cNvSpPr txBox="1"/>
          <p:nvPr/>
        </p:nvSpPr>
        <p:spPr>
          <a:xfrm>
            <a:off x="3447288" y="3364992"/>
            <a:ext cx="2286000" cy="38404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450+</a:t>
            </a:r>
            <a:endParaRPr lang="en-US" sz="2200" dirty="0"/>
          </a:p>
        </p:txBody>
      </p:sp>
      <p:sp>
        <p:nvSpPr>
          <p:cNvPr id="20" name="Text 18"/>
          <p:cNvSpPr txBox="1"/>
          <p:nvPr/>
        </p:nvSpPr>
        <p:spPr>
          <a:xfrm>
            <a:off x="3447288" y="3767328"/>
            <a:ext cx="2286000" cy="438912"/>
          </a:xfrm>
          <a:prstGeom prst="rect">
            <a:avLst/>
          </a:prstGeom>
          <a:noFill/>
          <a:ln/>
        </p:spPr>
        <p:txBody>
          <a:bodyPr wrap="square" lIns="0" tIns="0" rIns="0" bIns="0" rtlCol="0" anchor="t"/>
          <a:lstStyle/>
          <a:p>
            <a:pPr indent="0" marL="0">
              <a:buNone/>
            </a:pPr>
            <a:r>
              <a:rPr lang="en-US" sz="1100" dirty="0">
                <a:solidFill>
                  <a:schemeClr val="tx2"/>
                </a:solidFill>
              </a:rPr>
              <a:t>automated tests, offline, no keys, on every push</a:t>
            </a:r>
            <a:endParaRPr lang="en-US" sz="1100" dirty="0"/>
          </a:p>
        </p:txBody>
      </p:sp>
      <p:sp>
        <p:nvSpPr>
          <p:cNvPr id="21" name="tile &lt;0.02 ms"/>
          <p:cNvSpPr/>
          <p:nvPr/>
        </p:nvSpPr>
        <p:spPr>
          <a:xfrm>
            <a:off x="6071616" y="3291840"/>
            <a:ext cx="2615184" cy="960120"/>
          </a:xfrm>
          <a:prstGeom prst="roundRect">
            <a:avLst>
              <a:gd name="adj" fmla="val 9524"/>
            </a:avLst>
          </a:prstGeom>
          <a:solidFill>
            <a:schemeClr val="bg1"/>
          </a:solidFill>
          <a:ln w="12700">
            <a:solidFill>
              <a:srgbClr val="C9D2DF"/>
            </a:solidFill>
            <a:prstDash val="solid"/>
          </a:ln>
        </p:spPr>
      </p:sp>
      <p:sp>
        <p:nvSpPr>
          <p:cNvPr id="22" name="Text 20"/>
          <p:cNvSpPr txBox="1"/>
          <p:nvPr/>
        </p:nvSpPr>
        <p:spPr>
          <a:xfrm>
            <a:off x="6254496" y="3364992"/>
            <a:ext cx="2286000" cy="384048"/>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&lt;0.02 ms</a:t>
            </a:r>
            <a:endParaRPr lang="en-US" sz="2200" dirty="0"/>
          </a:p>
        </p:txBody>
      </p:sp>
      <p:sp>
        <p:nvSpPr>
          <p:cNvPr id="23" name="Text 21"/>
          <p:cNvSpPr txBox="1"/>
          <p:nvPr/>
        </p:nvSpPr>
        <p:spPr>
          <a:xfrm>
            <a:off x="6254496" y="3767328"/>
            <a:ext cx="2286000" cy="438912"/>
          </a:xfrm>
          <a:prstGeom prst="rect">
            <a:avLst/>
          </a:prstGeom>
          <a:noFill/>
          <a:ln/>
        </p:spPr>
        <p:txBody>
          <a:bodyPr wrap="square" lIns="0" tIns="0" rIns="0" bIns="0" rtlCol="0" anchor="t"/>
          <a:lstStyle/>
          <a:p>
            <a:pPr indent="0" marL="0">
              <a:buNone/>
            </a:pPr>
            <a:r>
              <a:rPr lang="en-US" sz="1100" dirty="0">
                <a:solidFill>
                  <a:schemeClr val="tx2"/>
                </a:solidFill>
              </a:rPr>
              <a:t>per detector check: cards, IBAN, PESEL, secrets</a:t>
            </a:r>
            <a:endParaRPr lang="en-US" sz="1100" dirty="0"/>
          </a:p>
        </p:txBody>
      </p:sp>
      <p:sp>
        <p:nvSpPr>
          <p:cNvPr id="24" name="Text 22"/>
          <p:cNvSpPr txBox="1"/>
          <p:nvPr/>
        </p:nvSpPr>
        <p:spPr>
          <a:xfrm>
            <a:off x="457200" y="4407408"/>
            <a:ext cx="8229600" cy="256032"/>
          </a:xfrm>
          <a:prstGeom prst="rect">
            <a:avLst/>
          </a:prstGeom>
          <a:noFill/>
          <a:ln/>
        </p:spPr>
        <p:txBody>
          <a:bodyPr wrap="square" lIns="0" tIns="0" rIns="0" bIns="0" rtlCol="0" anchor="ctr"/>
          <a:lstStyle/>
          <a:p>
            <a:pPr indent="0" marL="0">
              <a:buNone/>
            </a:pPr>
            <a:r>
              <a:rPr lang="en-US" sz="1000" dirty="0">
                <a:solidFill>
                  <a:schemeClr val="accent5"/>
                </a:solidFill>
              </a:rPr>
              <a:t>AI judge: Jev at the deployed threshold 0.40. Sources: judge benchmark (Sun 4 Oct); leaks: just bench-e2e; tests: just test.</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8229600" cy="73152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Every decision on the record</a:t>
            </a:r>
            <a:endParaRPr lang="en-US" sz="2800" dirty="0"/>
          </a:p>
        </p:txBody>
      </p:sp>
      <p:sp>
        <p:nvSpPr>
          <p:cNvPr id="3" name="audit entry"/>
          <p:cNvSpPr/>
          <p:nvPr/>
        </p:nvSpPr>
        <p:spPr>
          <a:xfrm>
            <a:off x="457200" y="1188720"/>
            <a:ext cx="4663440" cy="2834640"/>
          </a:xfrm>
          <a:prstGeom prst="roundRect">
            <a:avLst>
              <a:gd name="adj" fmla="val 3871"/>
            </a:avLst>
          </a:prstGeom>
          <a:solidFill>
            <a:schemeClr val="tx1"/>
          </a:solidFill>
          <a:ln/>
        </p:spPr>
      </p:sp>
      <p:sp>
        <p:nvSpPr>
          <p:cNvPr id="4" name="Text 2"/>
          <p:cNvSpPr txBox="1"/>
          <p:nvPr/>
        </p:nvSpPr>
        <p:spPr>
          <a:xfrm>
            <a:off x="640080" y="1325880"/>
            <a:ext cx="4389120" cy="2560320"/>
          </a:xfrm>
          <a:prstGeom prst="rect">
            <a:avLst/>
          </a:prstGeom>
          <a:noFill/>
          <a:ln/>
        </p:spPr>
        <p:txBody>
          <a:bodyPr wrap="square" lIns="0" tIns="0" rIns="0" bIns="0" rtlCol="0" anchor="t"/>
          <a:lstStyle/>
          <a:p>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a:t>
            </a:r>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"user": </a:t>
            </a:r>
            <a:pPr indent="0" marL="0">
              <a:spcAft>
                <a:spcPts val="400"/>
              </a:spcAft>
              <a:buNone/>
            </a:pPr>
            <a:r>
              <a:rPr lang="en-US" sz="1100" dirty="0">
                <a:solidFill>
                  <a:schemeClr val="accent1"/>
                </a:solidFill>
                <a:latin typeface="Courier New" pitchFamily="34" charset="0"/>
                <a:ea typeface="Courier New" pitchFamily="34" charset="-122"/>
                <a:cs typeface="Courier New" pitchFamily="34" charset="-120"/>
              </a:rPr>
              <a:t>"olivia"</a:t>
            </a:r>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"agent": </a:t>
            </a:r>
            <a:pPr indent="0" marL="0">
              <a:spcAft>
                <a:spcPts val="400"/>
              </a:spcAft>
              <a:buNone/>
            </a:pPr>
            <a:r>
              <a:rPr lang="en-US" sz="1100" dirty="0">
                <a:solidFill>
                  <a:schemeClr val="accent1"/>
                </a:solidFill>
                <a:latin typeface="Courier New" pitchFamily="34" charset="0"/>
                <a:ea typeface="Courier New" pitchFamily="34" charset="-122"/>
                <a:cs typeface="Courier New" pitchFamily="34" charset="-120"/>
              </a:rPr>
              <a:t>"onboarding-assistant"</a:t>
            </a:r>
            <a:endParaRPr lang="en-US" sz="1100" dirty="0"/>
          </a:p>
          <a:p>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"purpose": </a:t>
            </a:r>
            <a:pPr indent="0" marL="0">
              <a:spcAft>
                <a:spcPts val="400"/>
              </a:spcAft>
              <a:buNone/>
            </a:pPr>
            <a:r>
              <a:rPr lang="en-US" sz="1100" dirty="0">
                <a:solidFill>
                  <a:schemeClr val="accent1"/>
                </a:solidFill>
                <a:latin typeface="Courier New" pitchFamily="34" charset="0"/>
                <a:ea typeface="Courier New" pitchFamily="34" charset="-122"/>
                <a:cs typeface="Courier New" pitchFamily="34" charset="-120"/>
              </a:rPr>
              <a:t>"client-onboarding"</a:t>
            </a:r>
            <a:endParaRPr lang="en-US" sz="1100" dirty="0"/>
          </a:p>
          <a:p>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"policy_version": </a:t>
            </a:r>
            <a:pPr indent="0" marL="0">
              <a:spcAft>
                <a:spcPts val="400"/>
              </a:spcAft>
              <a:buNone/>
            </a:pPr>
            <a:r>
              <a:rPr lang="en-US" sz="1100" dirty="0">
                <a:solidFill>
                  <a:schemeClr val="accent2"/>
                </a:solidFill>
                <a:latin typeface="Courier New" pitchFamily="34" charset="0"/>
                <a:ea typeface="Courier New" pitchFamily="34" charset="-122"/>
                <a:cs typeface="Courier New" pitchFamily="34" charset="-120"/>
              </a:rPr>
              <a:t>"0.2@780fe563"</a:t>
            </a:r>
            <a:endParaRPr lang="en-US" sz="1100" dirty="0"/>
          </a:p>
          <a:p>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"decisions": [{</a:t>
            </a:r>
            <a:endParaRPr lang="en-US" sz="1100" dirty="0"/>
          </a:p>
          <a:p>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"control": </a:t>
            </a:r>
            <a:pPr indent="0" marL="0">
              <a:spcAft>
                <a:spcPts val="400"/>
              </a:spcAft>
              <a:buNone/>
            </a:pPr>
            <a:r>
              <a:rPr lang="en-US" sz="1100" dirty="0">
                <a:solidFill>
                  <a:schemeClr val="bg1"/>
                </a:solidFill>
                <a:latin typeface="Courier New" pitchFamily="34" charset="0"/>
                <a:ea typeface="Courier New" pitchFamily="34" charset="-122"/>
                <a:cs typeface="Courier New" pitchFamily="34" charset="-120"/>
              </a:rPr>
              <a:t>"flow.sensitive_to_external"</a:t>
            </a:r>
            <a:endParaRPr lang="en-US" sz="1100" dirty="0"/>
          </a:p>
          <a:p>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"action": </a:t>
            </a:r>
            <a:pPr indent="0" marL="0">
              <a:spcAft>
                <a:spcPts val="400"/>
              </a:spcAft>
              <a:buNone/>
            </a:pPr>
            <a:r>
              <a:rPr lang="en-US" sz="1100" dirty="0">
                <a:solidFill>
                  <a:schemeClr val="accent3"/>
                </a:solidFill>
                <a:latin typeface="Courier New" pitchFamily="34" charset="0"/>
                <a:ea typeface="Courier New" pitchFamily="34" charset="-122"/>
                <a:cs typeface="Courier New" pitchFamily="34" charset="-120"/>
              </a:rPr>
              <a:t>"block"</a:t>
            </a:r>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a:t>
            </a:r>
            <a:endParaRPr lang="en-US" sz="1100" dirty="0"/>
          </a:p>
          <a:p>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"where": </a:t>
            </a:r>
            <a:pPr indent="0" marL="0">
              <a:spcAft>
                <a:spcPts val="400"/>
              </a:spcAft>
              <a:buNone/>
            </a:pPr>
            <a:r>
              <a:rPr lang="en-US" sz="1100" dirty="0">
                <a:solidFill>
                  <a:schemeClr val="bg1"/>
                </a:solidFill>
                <a:latin typeface="Courier New" pitchFamily="34" charset="0"/>
                <a:ea typeface="Courier New" pitchFamily="34" charset="-122"/>
                <a:cs typeface="Courier New" pitchFamily="34" charset="-120"/>
              </a:rPr>
              <a:t>"tool_call:send_email"</a:t>
            </a:r>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a:t>
            </a:r>
            <a:endParaRPr lang="en-US" sz="1100" dirty="0"/>
          </a:p>
          <a:p>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"prev_hash": </a:t>
            </a:r>
            <a:pPr indent="0" marL="0">
              <a:spcAft>
                <a:spcPts val="400"/>
              </a:spcAft>
              <a:buNone/>
            </a:pPr>
            <a:r>
              <a:rPr lang="en-US" sz="1100" dirty="0">
                <a:solidFill>
                  <a:schemeClr val="accent2"/>
                </a:solidFill>
                <a:latin typeface="Courier New" pitchFamily="34" charset="0"/>
                <a:ea typeface="Courier New" pitchFamily="34" charset="-122"/>
                <a:cs typeface="Courier New" pitchFamily="34" charset="-120"/>
              </a:rPr>
              <a:t>"ec60d5f7…"</a:t>
            </a:r>
            <a:endParaRPr lang="en-US" sz="1100" dirty="0"/>
          </a:p>
          <a:p>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"hash": </a:t>
            </a:r>
            <a:pPr indent="0" marL="0">
              <a:spcAft>
                <a:spcPts val="400"/>
              </a:spcAft>
              <a:buNone/>
            </a:pPr>
            <a:r>
              <a:rPr lang="en-US" sz="1100" dirty="0">
                <a:solidFill>
                  <a:schemeClr val="accent2"/>
                </a:solidFill>
                <a:latin typeface="Courier New" pitchFamily="34" charset="0"/>
                <a:ea typeface="Courier New" pitchFamily="34" charset="-122"/>
                <a:cs typeface="Courier New" pitchFamily="34" charset="-120"/>
              </a:rPr>
              <a:t>"8edfcb91…"</a:t>
            </a:r>
            <a:pPr indent="0" marL="0">
              <a:spcAft>
                <a:spcPts val="400"/>
              </a:spcAft>
              <a:buNone/>
            </a:pPr>
            <a:r>
              <a:rPr lang="en-US" sz="1100" dirty="0">
                <a:solidFill>
                  <a:schemeClr val="accent5"/>
                </a:solidFill>
                <a:latin typeface="Courier New" pitchFamily="34" charset="0"/>
                <a:ea typeface="Courier New" pitchFamily="34" charset="-122"/>
                <a:cs typeface="Courier New" pitchFamily="34" charset="-120"/>
              </a:rPr>
              <a:t> }</a:t>
            </a:r>
            <a:endParaRPr lang="en-US" sz="1100" dirty="0"/>
          </a:p>
        </p:txBody>
      </p:sp>
      <p:sp>
        <p:nvSpPr>
          <p:cNvPr id="5" name="Shape 3"/>
          <p:cNvSpPr/>
          <p:nvPr/>
        </p:nvSpPr>
        <p:spPr>
          <a:xfrm>
            <a:off x="5440680" y="1234440"/>
            <a:ext cx="502920" cy="50292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5566410" y="1360170"/>
            <a:ext cx="251460" cy="251460"/>
          </a:xfrm>
          <a:prstGeom prst="rect">
            <a:avLst/>
          </a:prstGeom>
        </p:spPr>
      </p:pic>
      <p:sp>
        <p:nvSpPr>
          <p:cNvPr id="7" name="Text 4"/>
          <p:cNvSpPr txBox="1"/>
          <p:nvPr/>
        </p:nvSpPr>
        <p:spPr>
          <a:xfrm>
            <a:off x="6080760" y="1188720"/>
            <a:ext cx="2606040" cy="320040"/>
          </a:xfrm>
          <a:prstGeom prst="rect">
            <a:avLst/>
          </a:prstGeom>
          <a:noFill/>
          <a:ln/>
        </p:spPr>
        <p:txBody>
          <a:bodyPr wrap="square" lIns="0" tIns="0" rIns="0" bIns="0" rtlCol="0" anchor="ctr"/>
          <a:lstStyle/>
          <a:p>
            <a:pPr indent="0" marL="0">
              <a:buNone/>
            </a:pPr>
            <a:r>
              <a:rPr lang="en-US" sz="1500" b="1" dirty="0">
                <a:solidFill>
                  <a:schemeClr val="tx1"/>
                </a:solidFill>
              </a:rPr>
              <a:t>Who, which agent, why</a:t>
            </a:r>
            <a:endParaRPr lang="en-US" sz="1500" dirty="0"/>
          </a:p>
        </p:txBody>
      </p:sp>
      <p:sp>
        <p:nvSpPr>
          <p:cNvPr id="8" name="Text 5"/>
          <p:cNvSpPr txBox="1"/>
          <p:nvPr/>
        </p:nvSpPr>
        <p:spPr>
          <a:xfrm>
            <a:off x="6080760" y="1508760"/>
            <a:ext cx="2606040" cy="502920"/>
          </a:xfrm>
          <a:prstGeom prst="rect">
            <a:avLst/>
          </a:prstGeom>
          <a:noFill/>
          <a:ln/>
        </p:spPr>
        <p:txBody>
          <a:bodyPr wrap="square" lIns="0" tIns="0" rIns="0" bIns="0" rtlCol="0" anchor="t"/>
          <a:lstStyle/>
          <a:p>
            <a:pPr indent="0" marL="0">
              <a:buNone/>
            </a:pPr>
            <a:r>
              <a:rPr lang="en-US" sz="1200" dirty="0">
                <a:solidFill>
                  <a:schemeClr val="tx2"/>
                </a:solidFill>
              </a:rPr>
              <a:t>user, agent and purpose on every entry</a:t>
            </a:r>
            <a:endParaRPr lang="en-US" sz="1200" dirty="0"/>
          </a:p>
        </p:txBody>
      </p:sp>
      <p:sp>
        <p:nvSpPr>
          <p:cNvPr id="9" name="Shape 6"/>
          <p:cNvSpPr/>
          <p:nvPr/>
        </p:nvSpPr>
        <p:spPr>
          <a:xfrm>
            <a:off x="5440680" y="2194560"/>
            <a:ext cx="502920" cy="50292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5566410" y="2320290"/>
            <a:ext cx="251460" cy="251460"/>
          </a:xfrm>
          <a:prstGeom prst="rect">
            <a:avLst/>
          </a:prstGeom>
        </p:spPr>
      </p:pic>
      <p:sp>
        <p:nvSpPr>
          <p:cNvPr id="11" name="Text 7"/>
          <p:cNvSpPr txBox="1"/>
          <p:nvPr/>
        </p:nvSpPr>
        <p:spPr>
          <a:xfrm>
            <a:off x="6080760" y="2148840"/>
            <a:ext cx="2606040" cy="320040"/>
          </a:xfrm>
          <a:prstGeom prst="rect">
            <a:avLst/>
          </a:prstGeom>
          <a:noFill/>
          <a:ln/>
        </p:spPr>
        <p:txBody>
          <a:bodyPr wrap="square" lIns="0" tIns="0" rIns="0" bIns="0" rtlCol="0" anchor="ctr"/>
          <a:lstStyle/>
          <a:p>
            <a:pPr indent="0" marL="0">
              <a:buNone/>
            </a:pPr>
            <a:r>
              <a:rPr lang="en-US" sz="1500" b="1" dirty="0">
                <a:solidFill>
                  <a:schemeClr val="tx1"/>
                </a:solidFill>
              </a:rPr>
              <a:t>Which policy decided</a:t>
            </a:r>
            <a:endParaRPr lang="en-US" sz="1500" dirty="0"/>
          </a:p>
        </p:txBody>
      </p:sp>
      <p:sp>
        <p:nvSpPr>
          <p:cNvPr id="12" name="Text 8"/>
          <p:cNvSpPr txBox="1"/>
          <p:nvPr/>
        </p:nvSpPr>
        <p:spPr>
          <a:xfrm>
            <a:off x="6080760" y="2468880"/>
            <a:ext cx="2606040" cy="502920"/>
          </a:xfrm>
          <a:prstGeom prst="rect">
            <a:avLst/>
          </a:prstGeom>
          <a:noFill/>
          <a:ln/>
        </p:spPr>
        <p:txBody>
          <a:bodyPr wrap="square" lIns="0" tIns="0" rIns="0" bIns="0" rtlCol="0" anchor="t"/>
          <a:lstStyle/>
          <a:p>
            <a:pPr indent="0" marL="0">
              <a:buNone/>
            </a:pPr>
            <a:r>
              <a:rPr lang="en-US" sz="1200" dirty="0">
                <a:solidFill>
                  <a:schemeClr val="tx2"/>
                </a:solidFill>
              </a:rPr>
              <a:t>the policy version, even after a live edit</a:t>
            </a:r>
            <a:endParaRPr lang="en-US" sz="1200" dirty="0"/>
          </a:p>
        </p:txBody>
      </p:sp>
      <p:sp>
        <p:nvSpPr>
          <p:cNvPr id="13" name="Shape 9"/>
          <p:cNvSpPr/>
          <p:nvPr/>
        </p:nvSpPr>
        <p:spPr>
          <a:xfrm>
            <a:off x="5440680" y="3154680"/>
            <a:ext cx="502920" cy="502920"/>
          </a:xfrm>
          <a:prstGeom prst="ellipse">
            <a:avLst/>
          </a:prstGeom>
          <a:solidFill>
            <a:schemeClr val="accent1"/>
          </a:solidFill>
          <a:ln/>
        </p:spPr>
      </p:sp>
      <p:pic>
        <p:nvPicPr>
          <p:cNvPr id="14" name="Image 2" descr="preencoded.png">    </p:cNvPr>
          <p:cNvPicPr>
            <a:picLocks noChangeAspect="1"/>
          </p:cNvPicPr>
          <p:nvPr/>
        </p:nvPicPr>
        <p:blipFill>
          <a:blip r:embed="rId3"/>
          <a:stretch>
            <a:fillRect/>
          </a:stretch>
        </p:blipFill>
        <p:spPr>
          <a:xfrm>
            <a:off x="5566410" y="3280410"/>
            <a:ext cx="251460" cy="251460"/>
          </a:xfrm>
          <a:prstGeom prst="rect">
            <a:avLst/>
          </a:prstGeom>
        </p:spPr>
      </p:pic>
      <p:sp>
        <p:nvSpPr>
          <p:cNvPr id="15" name="Text 10"/>
          <p:cNvSpPr txBox="1"/>
          <p:nvPr/>
        </p:nvSpPr>
        <p:spPr>
          <a:xfrm>
            <a:off x="6080760" y="3108960"/>
            <a:ext cx="2606040" cy="320040"/>
          </a:xfrm>
          <a:prstGeom prst="rect">
            <a:avLst/>
          </a:prstGeom>
          <a:noFill/>
          <a:ln/>
        </p:spPr>
        <p:txBody>
          <a:bodyPr wrap="square" lIns="0" tIns="0" rIns="0" bIns="0" rtlCol="0" anchor="ctr"/>
          <a:lstStyle/>
          <a:p>
            <a:pPr indent="0" marL="0">
              <a:buNone/>
            </a:pPr>
            <a:r>
              <a:rPr lang="en-US" sz="1500" b="1" dirty="0">
                <a:solidFill>
                  <a:schemeClr val="tx1"/>
                </a:solidFill>
              </a:rPr>
              <a:t>Tamper-evident</a:t>
            </a:r>
            <a:endParaRPr lang="en-US" sz="1500" dirty="0"/>
          </a:p>
        </p:txBody>
      </p:sp>
      <p:sp>
        <p:nvSpPr>
          <p:cNvPr id="16" name="Text 11"/>
          <p:cNvSpPr txBox="1"/>
          <p:nvPr/>
        </p:nvSpPr>
        <p:spPr>
          <a:xfrm>
            <a:off x="6080760" y="3429000"/>
            <a:ext cx="2606040" cy="502920"/>
          </a:xfrm>
          <a:prstGeom prst="rect">
            <a:avLst/>
          </a:prstGeom>
          <a:noFill/>
          <a:ln/>
        </p:spPr>
        <p:txBody>
          <a:bodyPr wrap="square" lIns="0" tIns="0" rIns="0" bIns="0" rtlCol="0" anchor="t"/>
          <a:lstStyle/>
          <a:p>
            <a:pPr indent="0" marL="0">
              <a:buNone/>
            </a:pPr>
            <a:r>
              <a:rPr lang="en-US" sz="1200" dirty="0">
                <a:solidFill>
                  <a:schemeClr val="tx2"/>
                </a:solidFill>
              </a:rPr>
              <a:t>one changed line breaks the chain; /audit/verify says where</a:t>
            </a:r>
            <a:endParaRPr lang="en-US" sz="1200" dirty="0"/>
          </a:p>
        </p:txBody>
      </p:sp>
      <p:sp>
        <p:nvSpPr>
          <p:cNvPr id="17" name="reg FINRA 3110"/>
          <p:cNvSpPr/>
          <p:nvPr/>
        </p:nvSpPr>
        <p:spPr>
          <a:xfrm>
            <a:off x="457200" y="4160520"/>
            <a:ext cx="1920240" cy="457200"/>
          </a:xfrm>
          <a:prstGeom prst="roundRect">
            <a:avLst>
              <a:gd name="adj" fmla="val 50000"/>
            </a:avLst>
          </a:prstGeom>
          <a:solidFill>
            <a:schemeClr val="bg2"/>
          </a:solidFill>
          <a:ln/>
        </p:spPr>
      </p:sp>
      <p:sp>
        <p:nvSpPr>
          <p:cNvPr id="18" name="Text 13"/>
          <p:cNvSpPr txBox="1"/>
          <p:nvPr/>
        </p:nvSpPr>
        <p:spPr>
          <a:xfrm>
            <a:off x="457200" y="4160520"/>
            <a:ext cx="1920240" cy="457200"/>
          </a:xfrm>
          <a:prstGeom prst="rect">
            <a:avLst/>
          </a:prstGeom>
          <a:noFill/>
          <a:ln/>
        </p:spPr>
        <p:txBody>
          <a:bodyPr wrap="square" lIns="0" tIns="0" rIns="0" bIns="0" rtlCol="0" anchor="ctr"/>
          <a:lstStyle/>
          <a:p>
            <a:pPr algn="ctr" indent="0" marL="0">
              <a:buNone/>
            </a:pPr>
            <a:r>
              <a:rPr lang="en-US" sz="1000" b="1" dirty="0">
                <a:solidFill>
                  <a:schemeClr val="tx1"/>
                </a:solidFill>
              </a:rPr>
              <a:t>FINRA 3110</a:t>
            </a:r>
            <a:pPr algn="ctr" indent="0" marL="0">
              <a:buNone/>
            </a:pPr>
            <a:r>
              <a:rPr lang="en-US" sz="1000" dirty="0">
                <a:solidFill>
                  <a:schemeClr val="accent5"/>
                </a:solidFill>
              </a:rPr>
              <a:t>  barriers</a:t>
            </a:r>
            <a:endParaRPr lang="en-US" sz="1000" dirty="0"/>
          </a:p>
        </p:txBody>
      </p:sp>
      <p:sp>
        <p:nvSpPr>
          <p:cNvPr id="19" name="reg SEC 17a-4"/>
          <p:cNvSpPr/>
          <p:nvPr/>
        </p:nvSpPr>
        <p:spPr>
          <a:xfrm>
            <a:off x="2560320" y="4160520"/>
            <a:ext cx="1920240" cy="457200"/>
          </a:xfrm>
          <a:prstGeom prst="roundRect">
            <a:avLst>
              <a:gd name="adj" fmla="val 50000"/>
            </a:avLst>
          </a:prstGeom>
          <a:solidFill>
            <a:schemeClr val="bg2"/>
          </a:solidFill>
          <a:ln/>
        </p:spPr>
      </p:sp>
      <p:sp>
        <p:nvSpPr>
          <p:cNvPr id="20" name="Text 15"/>
          <p:cNvSpPr txBox="1"/>
          <p:nvPr/>
        </p:nvSpPr>
        <p:spPr>
          <a:xfrm>
            <a:off x="2560320" y="4160520"/>
            <a:ext cx="1920240" cy="457200"/>
          </a:xfrm>
          <a:prstGeom prst="rect">
            <a:avLst/>
          </a:prstGeom>
          <a:noFill/>
          <a:ln/>
        </p:spPr>
        <p:txBody>
          <a:bodyPr wrap="square" lIns="0" tIns="0" rIns="0" bIns="0" rtlCol="0" anchor="ctr"/>
          <a:lstStyle/>
          <a:p>
            <a:pPr algn="ctr" indent="0" marL="0">
              <a:buNone/>
            </a:pPr>
            <a:r>
              <a:rPr lang="en-US" sz="1000" b="1" dirty="0">
                <a:solidFill>
                  <a:schemeClr val="tx1"/>
                </a:solidFill>
              </a:rPr>
              <a:t>SEC 17a-4</a:t>
            </a:r>
            <a:pPr algn="ctr" indent="0" marL="0">
              <a:buNone/>
            </a:pPr>
            <a:r>
              <a:rPr lang="en-US" sz="1000" dirty="0">
                <a:solidFill>
                  <a:schemeClr val="accent5"/>
                </a:solidFill>
              </a:rPr>
              <a:t>  audit trail</a:t>
            </a:r>
            <a:endParaRPr lang="en-US" sz="1000" dirty="0"/>
          </a:p>
        </p:txBody>
      </p:sp>
      <p:sp>
        <p:nvSpPr>
          <p:cNvPr id="21" name="reg EU AI Act Art. 12"/>
          <p:cNvSpPr/>
          <p:nvPr/>
        </p:nvSpPr>
        <p:spPr>
          <a:xfrm>
            <a:off x="4663440" y="4160520"/>
            <a:ext cx="1920240" cy="457200"/>
          </a:xfrm>
          <a:prstGeom prst="roundRect">
            <a:avLst>
              <a:gd name="adj" fmla="val 50000"/>
            </a:avLst>
          </a:prstGeom>
          <a:solidFill>
            <a:schemeClr val="bg2"/>
          </a:solidFill>
          <a:ln/>
        </p:spPr>
      </p:sp>
      <p:sp>
        <p:nvSpPr>
          <p:cNvPr id="22" name="Text 17"/>
          <p:cNvSpPr txBox="1"/>
          <p:nvPr/>
        </p:nvSpPr>
        <p:spPr>
          <a:xfrm>
            <a:off x="4663440" y="4160520"/>
            <a:ext cx="1920240" cy="457200"/>
          </a:xfrm>
          <a:prstGeom prst="rect">
            <a:avLst/>
          </a:prstGeom>
          <a:noFill/>
          <a:ln/>
        </p:spPr>
        <p:txBody>
          <a:bodyPr wrap="square" lIns="0" tIns="0" rIns="0" bIns="0" rtlCol="0" anchor="ctr"/>
          <a:lstStyle/>
          <a:p>
            <a:pPr algn="ctr" indent="0" marL="0">
              <a:buNone/>
            </a:pPr>
            <a:r>
              <a:rPr lang="en-US" sz="1000" b="1" dirty="0">
                <a:solidFill>
                  <a:schemeClr val="tx1"/>
                </a:solidFill>
              </a:rPr>
              <a:t>EU AI Act Art. 12</a:t>
            </a:r>
            <a:pPr algn="ctr" indent="0" marL="0">
              <a:buNone/>
            </a:pPr>
            <a:r>
              <a:rPr lang="en-US" sz="1000" dirty="0">
                <a:solidFill>
                  <a:schemeClr val="accent5"/>
                </a:solidFill>
              </a:rPr>
              <a:t>  logging</a:t>
            </a:r>
            <a:endParaRPr lang="en-US" sz="1000" dirty="0"/>
          </a:p>
        </p:txBody>
      </p:sp>
      <p:sp>
        <p:nvSpPr>
          <p:cNvPr id="23" name="reg DORA"/>
          <p:cNvSpPr/>
          <p:nvPr/>
        </p:nvSpPr>
        <p:spPr>
          <a:xfrm>
            <a:off x="6766560" y="4160520"/>
            <a:ext cx="1920240" cy="457200"/>
          </a:xfrm>
          <a:prstGeom prst="roundRect">
            <a:avLst>
              <a:gd name="adj" fmla="val 50000"/>
            </a:avLst>
          </a:prstGeom>
          <a:solidFill>
            <a:schemeClr val="bg2"/>
          </a:solidFill>
          <a:ln/>
        </p:spPr>
      </p:sp>
      <p:sp>
        <p:nvSpPr>
          <p:cNvPr id="24" name="Text 19"/>
          <p:cNvSpPr txBox="1"/>
          <p:nvPr/>
        </p:nvSpPr>
        <p:spPr>
          <a:xfrm>
            <a:off x="6766560" y="4160520"/>
            <a:ext cx="1920240" cy="457200"/>
          </a:xfrm>
          <a:prstGeom prst="rect">
            <a:avLst/>
          </a:prstGeom>
          <a:noFill/>
          <a:ln/>
        </p:spPr>
        <p:txBody>
          <a:bodyPr wrap="square" lIns="0" tIns="0" rIns="0" bIns="0" rtlCol="0" anchor="ctr"/>
          <a:lstStyle/>
          <a:p>
            <a:pPr algn="ctr" indent="0" marL="0">
              <a:buNone/>
            </a:pPr>
            <a:r>
              <a:rPr lang="en-US" sz="1000" b="1" dirty="0">
                <a:solidFill>
                  <a:schemeClr val="tx1"/>
                </a:solidFill>
              </a:rPr>
              <a:t>DORA</a:t>
            </a:r>
            <a:pPr algn="ctr" indent="0" marL="0">
              <a:buNone/>
            </a:pPr>
            <a:r>
              <a:rPr lang="en-US" sz="1000" dirty="0">
                <a:solidFill>
                  <a:schemeClr val="accent5"/>
                </a:solidFill>
              </a:rPr>
              <a:t>  multi-vendor</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8229600" cy="73152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Monday, 09:04. Again</a:t>
            </a:r>
            <a:endParaRPr lang="en-US" sz="2800" dirty="0"/>
          </a:p>
        </p:txBody>
      </p:sp>
      <p:sp>
        <p:nvSpPr>
          <p:cNvPr id="3" name="outcome 1"/>
          <p:cNvSpPr/>
          <p:nvPr/>
        </p:nvSpPr>
        <p:spPr>
          <a:xfrm>
            <a:off x="457200" y="1234440"/>
            <a:ext cx="1920240" cy="1920240"/>
          </a:xfrm>
          <a:prstGeom prst="roundRect">
            <a:avLst>
              <a:gd name="adj" fmla="val 5714"/>
            </a:avLst>
          </a:prstGeom>
          <a:solidFill>
            <a:schemeClr val="tx2"/>
          </a:solidFill>
          <a:ln/>
        </p:spPr>
      </p:sp>
      <p:sp>
        <p:nvSpPr>
          <p:cNvPr id="4" name="Shape 2"/>
          <p:cNvSpPr/>
          <p:nvPr/>
        </p:nvSpPr>
        <p:spPr>
          <a:xfrm>
            <a:off x="640080" y="1417320"/>
            <a:ext cx="548640" cy="548640"/>
          </a:xfrm>
          <a:prstGeom prst="ellipse">
            <a:avLst/>
          </a:prstGeom>
          <a:solidFill>
            <a:schemeClr val="accent2"/>
          </a:solidFill>
          <a:ln/>
        </p:spPr>
      </p:sp>
      <p:pic>
        <p:nvPicPr>
          <p:cNvPr id="5" name="Image 0" descr="preencoded.png">    </p:cNvPr>
          <p:cNvPicPr>
            <a:picLocks noChangeAspect="1"/>
          </p:cNvPicPr>
          <p:nvPr/>
        </p:nvPicPr>
        <p:blipFill>
          <a:blip r:embed="rId1"/>
          <a:stretch>
            <a:fillRect/>
          </a:stretch>
        </p:blipFill>
        <p:spPr>
          <a:xfrm>
            <a:off x="777240" y="1554480"/>
            <a:ext cx="274320" cy="274320"/>
          </a:xfrm>
          <a:prstGeom prst="rect">
            <a:avLst/>
          </a:prstGeom>
        </p:spPr>
      </p:pic>
      <p:sp>
        <p:nvSpPr>
          <p:cNvPr id="6" name="Text 3"/>
          <p:cNvSpPr txBox="1"/>
          <p:nvPr/>
        </p:nvSpPr>
        <p:spPr>
          <a:xfrm>
            <a:off x="640080" y="2103120"/>
            <a:ext cx="1600200" cy="960120"/>
          </a:xfrm>
          <a:prstGeom prst="rect">
            <a:avLst/>
          </a:prstGeom>
          <a:noFill/>
          <a:ln/>
        </p:spPr>
        <p:txBody>
          <a:bodyPr wrap="square" lIns="0" tIns="0" rIns="0" bIns="0" rtlCol="0" anchor="t"/>
          <a:lstStyle/>
          <a:p>
            <a:pPr indent="0" marL="0">
              <a:buNone/>
            </a:pPr>
            <a:r>
              <a:rPr lang="en-US" sz="1500" dirty="0">
                <a:solidFill>
                  <a:schemeClr val="bg1"/>
                </a:solidFill>
              </a:rPr>
              <a:t>The passport reached the sanctions check. Nowhere else.</a:t>
            </a:r>
            <a:endParaRPr lang="en-US" sz="1500" dirty="0"/>
          </a:p>
        </p:txBody>
      </p:sp>
      <p:sp>
        <p:nvSpPr>
          <p:cNvPr id="7" name="outcome 2"/>
          <p:cNvSpPr/>
          <p:nvPr/>
        </p:nvSpPr>
        <p:spPr>
          <a:xfrm>
            <a:off x="2560320" y="1234440"/>
            <a:ext cx="1920240" cy="1920240"/>
          </a:xfrm>
          <a:prstGeom prst="roundRect">
            <a:avLst>
              <a:gd name="adj" fmla="val 5714"/>
            </a:avLst>
          </a:prstGeom>
          <a:solidFill>
            <a:schemeClr val="tx2"/>
          </a:solidFill>
          <a:ln/>
        </p:spPr>
      </p:sp>
      <p:sp>
        <p:nvSpPr>
          <p:cNvPr id="8" name="Shape 5"/>
          <p:cNvSpPr/>
          <p:nvPr/>
        </p:nvSpPr>
        <p:spPr>
          <a:xfrm>
            <a:off x="2743200" y="1417320"/>
            <a:ext cx="548640" cy="548640"/>
          </a:xfrm>
          <a:prstGeom prst="ellipse">
            <a:avLst/>
          </a:prstGeom>
          <a:solidFill>
            <a:schemeClr val="accent3"/>
          </a:solidFill>
          <a:ln/>
        </p:spPr>
      </p:sp>
      <p:pic>
        <p:nvPicPr>
          <p:cNvPr id="9" name="Image 1" descr="preencoded.png">    </p:cNvPr>
          <p:cNvPicPr>
            <a:picLocks noChangeAspect="1"/>
          </p:cNvPicPr>
          <p:nvPr/>
        </p:nvPicPr>
        <p:blipFill>
          <a:blip r:embed="rId2"/>
          <a:stretch>
            <a:fillRect/>
          </a:stretch>
        </p:blipFill>
        <p:spPr>
          <a:xfrm>
            <a:off x="2880360" y="1554480"/>
            <a:ext cx="274320" cy="274320"/>
          </a:xfrm>
          <a:prstGeom prst="rect">
            <a:avLst/>
          </a:prstGeom>
        </p:spPr>
      </p:pic>
      <p:sp>
        <p:nvSpPr>
          <p:cNvPr id="10" name="Text 6"/>
          <p:cNvSpPr txBox="1"/>
          <p:nvPr/>
        </p:nvSpPr>
        <p:spPr>
          <a:xfrm>
            <a:off x="2743200" y="2103120"/>
            <a:ext cx="1600200" cy="960120"/>
          </a:xfrm>
          <a:prstGeom prst="rect">
            <a:avLst/>
          </a:prstGeom>
          <a:noFill/>
          <a:ln/>
        </p:spPr>
        <p:txBody>
          <a:bodyPr wrap="square" lIns="0" tIns="0" rIns="0" bIns="0" rtlCol="0" anchor="t"/>
          <a:lstStyle/>
          <a:p>
            <a:pPr indent="0" marL="0">
              <a:buNone/>
            </a:pPr>
            <a:r>
              <a:rPr lang="en-US" sz="1500" dirty="0">
                <a:solidFill>
                  <a:schemeClr val="bg1"/>
                </a:solidFill>
              </a:rPr>
              <a:t>The hidden sentence was quarantined, not obeyed.</a:t>
            </a:r>
            <a:endParaRPr lang="en-US" sz="1500" dirty="0"/>
          </a:p>
        </p:txBody>
      </p:sp>
      <p:sp>
        <p:nvSpPr>
          <p:cNvPr id="11" name="outcome 3"/>
          <p:cNvSpPr/>
          <p:nvPr/>
        </p:nvSpPr>
        <p:spPr>
          <a:xfrm>
            <a:off x="4663440" y="1234440"/>
            <a:ext cx="1920240" cy="1920240"/>
          </a:xfrm>
          <a:prstGeom prst="roundRect">
            <a:avLst>
              <a:gd name="adj" fmla="val 5714"/>
            </a:avLst>
          </a:prstGeom>
          <a:solidFill>
            <a:schemeClr val="tx2"/>
          </a:solidFill>
          <a:ln/>
        </p:spPr>
      </p:sp>
      <p:sp>
        <p:nvSpPr>
          <p:cNvPr id="12" name="Shape 8"/>
          <p:cNvSpPr/>
          <p:nvPr/>
        </p:nvSpPr>
        <p:spPr>
          <a:xfrm>
            <a:off x="4846320" y="1417320"/>
            <a:ext cx="548640" cy="548640"/>
          </a:xfrm>
          <a:prstGeom prst="ellipse">
            <a:avLst/>
          </a:prstGeom>
          <a:solidFill>
            <a:schemeClr val="accent2"/>
          </a:solidFill>
          <a:ln/>
        </p:spPr>
      </p:sp>
      <p:pic>
        <p:nvPicPr>
          <p:cNvPr id="13" name="Image 2" descr="preencoded.png">    </p:cNvPr>
          <p:cNvPicPr>
            <a:picLocks noChangeAspect="1"/>
          </p:cNvPicPr>
          <p:nvPr/>
        </p:nvPicPr>
        <p:blipFill>
          <a:blip r:embed="rId3"/>
          <a:stretch>
            <a:fillRect/>
          </a:stretch>
        </p:blipFill>
        <p:spPr>
          <a:xfrm>
            <a:off x="4983480" y="1554480"/>
            <a:ext cx="274320" cy="274320"/>
          </a:xfrm>
          <a:prstGeom prst="rect">
            <a:avLst/>
          </a:prstGeom>
        </p:spPr>
      </p:pic>
      <p:sp>
        <p:nvSpPr>
          <p:cNvPr id="14" name="Text 9"/>
          <p:cNvSpPr txBox="1"/>
          <p:nvPr/>
        </p:nvSpPr>
        <p:spPr>
          <a:xfrm>
            <a:off x="4846320" y="2103120"/>
            <a:ext cx="1600200" cy="960120"/>
          </a:xfrm>
          <a:prstGeom prst="rect">
            <a:avLst/>
          </a:prstGeom>
          <a:noFill/>
          <a:ln/>
        </p:spPr>
        <p:txBody>
          <a:bodyPr wrap="square" lIns="0" tIns="0" rIns="0" bIns="0" rtlCol="0" anchor="t"/>
          <a:lstStyle/>
          <a:p>
            <a:pPr indent="0" marL="0">
              <a:buNone/>
            </a:pPr>
            <a:r>
              <a:rPr lang="en-US" sz="1500" dirty="0">
                <a:solidFill>
                  <a:schemeClr val="bg1"/>
                </a:solidFill>
              </a:rPr>
              <a:t>Project Falcon stayed behind the wall.</a:t>
            </a:r>
            <a:endParaRPr lang="en-US" sz="1500" dirty="0"/>
          </a:p>
        </p:txBody>
      </p:sp>
      <p:sp>
        <p:nvSpPr>
          <p:cNvPr id="15" name="outcome 4"/>
          <p:cNvSpPr/>
          <p:nvPr/>
        </p:nvSpPr>
        <p:spPr>
          <a:xfrm>
            <a:off x="6766560" y="1234440"/>
            <a:ext cx="1920240" cy="1920240"/>
          </a:xfrm>
          <a:prstGeom prst="roundRect">
            <a:avLst>
              <a:gd name="adj" fmla="val 5714"/>
            </a:avLst>
          </a:prstGeom>
          <a:solidFill>
            <a:schemeClr val="tx2"/>
          </a:solidFill>
          <a:ln/>
        </p:spPr>
      </p:sp>
      <p:sp>
        <p:nvSpPr>
          <p:cNvPr id="16" name="Shape 11"/>
          <p:cNvSpPr/>
          <p:nvPr/>
        </p:nvSpPr>
        <p:spPr>
          <a:xfrm>
            <a:off x="6949440" y="1417320"/>
            <a:ext cx="548640" cy="548640"/>
          </a:xfrm>
          <a:prstGeom prst="ellipse">
            <a:avLst/>
          </a:prstGeom>
          <a:solidFill>
            <a:schemeClr val="accent2"/>
          </a:solidFill>
          <a:ln/>
        </p:spPr>
      </p:sp>
      <p:pic>
        <p:nvPicPr>
          <p:cNvPr id="17" name="Image 3" descr="preencoded.png">    </p:cNvPr>
          <p:cNvPicPr>
            <a:picLocks noChangeAspect="1"/>
          </p:cNvPicPr>
          <p:nvPr/>
        </p:nvPicPr>
        <p:blipFill>
          <a:blip r:embed="rId4"/>
          <a:stretch>
            <a:fillRect/>
          </a:stretch>
        </p:blipFill>
        <p:spPr>
          <a:xfrm>
            <a:off x="7086600" y="1554480"/>
            <a:ext cx="274320" cy="274320"/>
          </a:xfrm>
          <a:prstGeom prst="rect">
            <a:avLst/>
          </a:prstGeom>
        </p:spPr>
      </p:pic>
      <p:sp>
        <p:nvSpPr>
          <p:cNvPr id="18" name="Text 12"/>
          <p:cNvSpPr txBox="1"/>
          <p:nvPr/>
        </p:nvSpPr>
        <p:spPr>
          <a:xfrm>
            <a:off x="6949440" y="2103120"/>
            <a:ext cx="1600200" cy="960120"/>
          </a:xfrm>
          <a:prstGeom prst="rect">
            <a:avLst/>
          </a:prstGeom>
          <a:noFill/>
          <a:ln/>
        </p:spPr>
        <p:txBody>
          <a:bodyPr wrap="square" lIns="0" tIns="0" rIns="0" bIns="0" rtlCol="0" anchor="t"/>
          <a:lstStyle/>
          <a:p>
            <a:pPr indent="0" marL="0">
              <a:buNone/>
            </a:pPr>
            <a:r>
              <a:rPr lang="en-US" sz="1500" dirty="0">
                <a:solidFill>
                  <a:schemeClr val="bg1"/>
                </a:solidFill>
              </a:rPr>
              <a:t>Every step sits in a tamper-evident log.</a:t>
            </a:r>
            <a:endParaRPr lang="en-US" sz="1500" dirty="0"/>
          </a:p>
        </p:txBody>
      </p:sp>
      <p:sp>
        <p:nvSpPr>
          <p:cNvPr id="19" name="Text 13"/>
          <p:cNvSpPr txBox="1"/>
          <p:nvPr/>
        </p:nvSpPr>
        <p:spPr>
          <a:xfrm>
            <a:off x="457200" y="3337560"/>
            <a:ext cx="8229600" cy="594360"/>
          </a:xfrm>
          <a:prstGeom prst="rect">
            <a:avLst/>
          </a:prstGeom>
          <a:noFill/>
          <a:ln/>
        </p:spPr>
        <p:txBody>
          <a:bodyPr wrap="square" lIns="0" tIns="0" rIns="0" bIns="0" rtlCol="0" anchor="ctr"/>
          <a:lstStyle/>
          <a:p>
            <a:pPr algn="ctr" indent="0" marL="0">
              <a:buNone/>
            </a:pPr>
            <a:r>
              <a:rPr lang="en-US" sz="2800" b="1" dirty="0">
                <a:solidFill>
                  <a:schemeClr val="accent1"/>
                </a:solidFill>
                <a:latin typeface="Cambria" pitchFamily="34" charset="0"/>
                <a:ea typeface="Cambria" pitchFamily="34" charset="-122"/>
                <a:cs typeface="Cambria" pitchFamily="34" charset="-120"/>
              </a:rPr>
              <a:t>Don't trust the agent. Trust the flow.</a:t>
            </a:r>
            <a:endParaRPr lang="en-US" sz="2800" dirty="0"/>
          </a:p>
        </p:txBody>
      </p:sp>
      <p:sp>
        <p:nvSpPr>
          <p:cNvPr id="20" name="Text 14"/>
          <p:cNvSpPr txBox="1"/>
          <p:nvPr/>
        </p:nvSpPr>
        <p:spPr>
          <a:xfrm>
            <a:off x="457200" y="4023360"/>
            <a:ext cx="8229600" cy="365760"/>
          </a:xfrm>
          <a:prstGeom prst="rect">
            <a:avLst/>
          </a:prstGeom>
          <a:noFill/>
          <a:ln/>
        </p:spPr>
        <p:txBody>
          <a:bodyPr wrap="square" lIns="0" tIns="0" rIns="0" bIns="0" rtlCol="0" anchor="ctr"/>
          <a:lstStyle/>
          <a:p>
            <a:pPr algn="ctr" indent="0" marL="0">
              <a:buNone/>
            </a:pPr>
            <a:r>
              <a:rPr lang="en-US" sz="1600" dirty="0">
                <a:solidFill>
                  <a:schemeClr val="bg2"/>
                </a:solidFill>
              </a:rPr>
              <a:t>The policy file is open. Try to break it.</a:t>
            </a:r>
            <a:endParaRPr lang="en-US" sz="16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8229600" cy="73152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Limits today and what comes next</a:t>
            </a:r>
            <a:endParaRPr lang="en-US" sz="2800" dirty="0"/>
          </a:p>
        </p:txBody>
      </p:sp>
      <p:sp>
        <p:nvSpPr>
          <p:cNvPr id="3" name="Text 1"/>
          <p:cNvSpPr txBox="1"/>
          <p:nvPr/>
        </p:nvSpPr>
        <p:spPr>
          <a:xfrm>
            <a:off x="457200" y="1097280"/>
            <a:ext cx="3931920" cy="320040"/>
          </a:xfrm>
          <a:prstGeom prst="rect">
            <a:avLst/>
          </a:prstGeom>
          <a:noFill/>
          <a:ln/>
        </p:spPr>
        <p:txBody>
          <a:bodyPr wrap="square" lIns="0" tIns="0" rIns="0" bIns="0" rtlCol="0" anchor="ctr"/>
          <a:lstStyle/>
          <a:p>
            <a:pPr indent="0" marL="0">
              <a:buNone/>
            </a:pPr>
            <a:r>
              <a:rPr lang="en-US" sz="1600" b="1" dirty="0">
                <a:solidFill>
                  <a:schemeClr val="tx1"/>
                </a:solidFill>
              </a:rPr>
              <a:t>Limits today</a:t>
            </a:r>
            <a:endParaRPr lang="en-US" sz="1600" dirty="0"/>
          </a:p>
        </p:txBody>
      </p:sp>
      <p:sp>
        <p:nvSpPr>
          <p:cNvPr id="4" name="Text 2"/>
          <p:cNvSpPr txBox="1"/>
          <p:nvPr/>
        </p:nvSpPr>
        <p:spPr>
          <a:xfrm>
            <a:off x="4754880" y="1097280"/>
            <a:ext cx="3931920" cy="320040"/>
          </a:xfrm>
          <a:prstGeom prst="rect">
            <a:avLst/>
          </a:prstGeom>
          <a:noFill/>
          <a:ln/>
        </p:spPr>
        <p:txBody>
          <a:bodyPr wrap="square" lIns="0" tIns="0" rIns="0" bIns="0" rtlCol="0" anchor="ctr"/>
          <a:lstStyle/>
          <a:p>
            <a:pPr indent="0" marL="0">
              <a:buNone/>
            </a:pPr>
            <a:r>
              <a:rPr lang="en-US" sz="1600" b="1" dirty="0">
                <a:solidFill>
                  <a:schemeClr val="tx1"/>
                </a:solidFill>
              </a:rPr>
              <a:t>Next</a:t>
            </a:r>
            <a:endParaRPr lang="en-US" sz="1600" dirty="0"/>
          </a:p>
        </p:txBody>
      </p:sp>
      <p:sp>
        <p:nvSpPr>
          <p:cNvPr id="5" name="limit 1"/>
          <p:cNvSpPr/>
          <p:nvPr/>
        </p:nvSpPr>
        <p:spPr>
          <a:xfrm>
            <a:off x="457200" y="1508760"/>
            <a:ext cx="3931920" cy="640080"/>
          </a:xfrm>
          <a:prstGeom prst="roundRect">
            <a:avLst>
              <a:gd name="adj" fmla="val 11429"/>
            </a:avLst>
          </a:prstGeom>
          <a:solidFill>
            <a:schemeClr val="bg2"/>
          </a:solidFill>
          <a:ln/>
        </p:spPr>
      </p:sp>
      <p:sp>
        <p:nvSpPr>
          <p:cNvPr id="6" name="Shape 4"/>
          <p:cNvSpPr/>
          <p:nvPr/>
        </p:nvSpPr>
        <p:spPr>
          <a:xfrm>
            <a:off x="594360" y="1664208"/>
            <a:ext cx="329184" cy="329184"/>
          </a:xfrm>
          <a:prstGeom prst="ellipse">
            <a:avLst/>
          </a:prstGeom>
          <a:solidFill>
            <a:schemeClr val="accent3"/>
          </a:solidFill>
          <a:ln/>
        </p:spPr>
      </p:sp>
      <p:sp>
        <p:nvSpPr>
          <p:cNvPr id="7" name="Text 5"/>
          <p:cNvSpPr txBox="1"/>
          <p:nvPr/>
        </p:nvSpPr>
        <p:spPr>
          <a:xfrm>
            <a:off x="594360" y="1664208"/>
            <a:ext cx="329184" cy="329184"/>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8" name="Text 6"/>
          <p:cNvSpPr txBox="1"/>
          <p:nvPr/>
        </p:nvSpPr>
        <p:spPr>
          <a:xfrm>
            <a:off x="1051560" y="1508760"/>
            <a:ext cx="3246120" cy="640080"/>
          </a:xfrm>
          <a:prstGeom prst="rect">
            <a:avLst/>
          </a:prstGeom>
          <a:noFill/>
          <a:ln/>
        </p:spPr>
        <p:txBody>
          <a:bodyPr wrap="square" lIns="0" tIns="0" rIns="0" bIns="0" rtlCol="0" anchor="ctr"/>
          <a:lstStyle/>
          <a:p>
            <a:pPr indent="0" marL="0">
              <a:buNone/>
            </a:pPr>
            <a:r>
              <a:rPr lang="en-US" sz="1200" dirty="0">
                <a:solidFill>
                  <a:schemeClr val="tx1"/>
                </a:solidFill>
              </a:rPr>
              <a:t>Tools run in the agent: an allowed call is a permission, not proof it ran</a:t>
            </a:r>
            <a:endParaRPr lang="en-US" sz="1200" dirty="0"/>
          </a:p>
        </p:txBody>
      </p:sp>
      <p:sp>
        <p:nvSpPr>
          <p:cNvPr id="9" name="limit 2"/>
          <p:cNvSpPr/>
          <p:nvPr/>
        </p:nvSpPr>
        <p:spPr>
          <a:xfrm>
            <a:off x="457200" y="2276856"/>
            <a:ext cx="3931920" cy="640080"/>
          </a:xfrm>
          <a:prstGeom prst="roundRect">
            <a:avLst>
              <a:gd name="adj" fmla="val 11429"/>
            </a:avLst>
          </a:prstGeom>
          <a:solidFill>
            <a:schemeClr val="bg2"/>
          </a:solidFill>
          <a:ln/>
        </p:spPr>
      </p:sp>
      <p:sp>
        <p:nvSpPr>
          <p:cNvPr id="10" name="Shape 8"/>
          <p:cNvSpPr/>
          <p:nvPr/>
        </p:nvSpPr>
        <p:spPr>
          <a:xfrm>
            <a:off x="594360" y="2432304"/>
            <a:ext cx="329184" cy="329184"/>
          </a:xfrm>
          <a:prstGeom prst="ellipse">
            <a:avLst/>
          </a:prstGeom>
          <a:solidFill>
            <a:schemeClr val="accent3"/>
          </a:solidFill>
          <a:ln/>
        </p:spPr>
      </p:sp>
      <p:sp>
        <p:nvSpPr>
          <p:cNvPr id="11" name="Text 9"/>
          <p:cNvSpPr txBox="1"/>
          <p:nvPr/>
        </p:nvSpPr>
        <p:spPr>
          <a:xfrm>
            <a:off x="594360" y="2432304"/>
            <a:ext cx="329184" cy="329184"/>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12" name="Text 10"/>
          <p:cNvSpPr txBox="1"/>
          <p:nvPr/>
        </p:nvSpPr>
        <p:spPr>
          <a:xfrm>
            <a:off x="1051560" y="2276856"/>
            <a:ext cx="3246120" cy="640080"/>
          </a:xfrm>
          <a:prstGeom prst="rect">
            <a:avLst/>
          </a:prstGeom>
          <a:noFill/>
          <a:ln/>
        </p:spPr>
        <p:txBody>
          <a:bodyPr wrap="square" lIns="0" tIns="0" rIns="0" bIns="0" rtlCol="0" anchor="ctr"/>
          <a:lstStyle/>
          <a:p>
            <a:pPr indent="0" marL="0">
              <a:buNone/>
            </a:pPr>
            <a:r>
              <a:rPr lang="en-US" sz="1200" dirty="0">
                <a:solidFill>
                  <a:schemeClr val="tx1"/>
                </a:solidFill>
              </a:rPr>
              <a:t>Calls that bypass the gateway are not seen or checked</a:t>
            </a:r>
            <a:endParaRPr lang="en-US" sz="1200" dirty="0"/>
          </a:p>
        </p:txBody>
      </p:sp>
      <p:sp>
        <p:nvSpPr>
          <p:cNvPr id="13" name="limit 3"/>
          <p:cNvSpPr/>
          <p:nvPr/>
        </p:nvSpPr>
        <p:spPr>
          <a:xfrm>
            <a:off x="457200" y="3044952"/>
            <a:ext cx="3931920" cy="640080"/>
          </a:xfrm>
          <a:prstGeom prst="roundRect">
            <a:avLst>
              <a:gd name="adj" fmla="val 11429"/>
            </a:avLst>
          </a:prstGeom>
          <a:solidFill>
            <a:schemeClr val="bg2"/>
          </a:solidFill>
          <a:ln/>
        </p:spPr>
      </p:sp>
      <p:sp>
        <p:nvSpPr>
          <p:cNvPr id="14" name="Shape 12"/>
          <p:cNvSpPr/>
          <p:nvPr/>
        </p:nvSpPr>
        <p:spPr>
          <a:xfrm>
            <a:off x="594360" y="3200400"/>
            <a:ext cx="329184" cy="329184"/>
          </a:xfrm>
          <a:prstGeom prst="ellipse">
            <a:avLst/>
          </a:prstGeom>
          <a:solidFill>
            <a:schemeClr val="accent3"/>
          </a:solidFill>
          <a:ln/>
        </p:spPr>
      </p:sp>
      <p:sp>
        <p:nvSpPr>
          <p:cNvPr id="15" name="Text 13"/>
          <p:cNvSpPr txBox="1"/>
          <p:nvPr/>
        </p:nvSpPr>
        <p:spPr>
          <a:xfrm>
            <a:off x="594360" y="3200400"/>
            <a:ext cx="329184" cy="329184"/>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16" name="Text 14"/>
          <p:cNvSpPr txBox="1"/>
          <p:nvPr/>
        </p:nvSpPr>
        <p:spPr>
          <a:xfrm>
            <a:off x="1051560" y="3044952"/>
            <a:ext cx="3246120" cy="640080"/>
          </a:xfrm>
          <a:prstGeom prst="rect">
            <a:avLst/>
          </a:prstGeom>
          <a:noFill/>
          <a:ln/>
        </p:spPr>
        <p:txBody>
          <a:bodyPr wrap="square" lIns="0" tIns="0" rIns="0" bIns="0" rtlCol="0" anchor="ctr"/>
          <a:lstStyle/>
          <a:p>
            <a:pPr indent="0" marL="0">
              <a:buNone/>
            </a:pPr>
            <a:r>
              <a:rPr lang="en-US" sz="1200" dirty="0">
                <a:solidFill>
                  <a:schemeClr val="tx1"/>
                </a:solidFill>
              </a:rPr>
              <a:t>Reporting API and policy edits: localhost only, no login yet</a:t>
            </a:r>
            <a:endParaRPr lang="en-US" sz="1200" dirty="0"/>
          </a:p>
        </p:txBody>
      </p:sp>
      <p:sp>
        <p:nvSpPr>
          <p:cNvPr id="17" name="limit 4"/>
          <p:cNvSpPr/>
          <p:nvPr/>
        </p:nvSpPr>
        <p:spPr>
          <a:xfrm>
            <a:off x="457200" y="3813048"/>
            <a:ext cx="3931920" cy="640080"/>
          </a:xfrm>
          <a:prstGeom prst="roundRect">
            <a:avLst>
              <a:gd name="adj" fmla="val 11429"/>
            </a:avLst>
          </a:prstGeom>
          <a:solidFill>
            <a:schemeClr val="bg2"/>
          </a:solidFill>
          <a:ln/>
        </p:spPr>
      </p:sp>
      <p:sp>
        <p:nvSpPr>
          <p:cNvPr id="18" name="Shape 16"/>
          <p:cNvSpPr/>
          <p:nvPr/>
        </p:nvSpPr>
        <p:spPr>
          <a:xfrm>
            <a:off x="594360" y="3968496"/>
            <a:ext cx="329184" cy="329184"/>
          </a:xfrm>
          <a:prstGeom prst="ellipse">
            <a:avLst/>
          </a:prstGeom>
          <a:solidFill>
            <a:schemeClr val="accent3"/>
          </a:solidFill>
          <a:ln/>
        </p:spPr>
      </p:sp>
      <p:sp>
        <p:nvSpPr>
          <p:cNvPr id="19" name="Text 17"/>
          <p:cNvSpPr txBox="1"/>
          <p:nvPr/>
        </p:nvSpPr>
        <p:spPr>
          <a:xfrm>
            <a:off x="594360" y="3968496"/>
            <a:ext cx="329184" cy="329184"/>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20" name="Text 18"/>
          <p:cNvSpPr txBox="1"/>
          <p:nvPr/>
        </p:nvSpPr>
        <p:spPr>
          <a:xfrm>
            <a:off x="1051560" y="3813048"/>
            <a:ext cx="3246120" cy="640080"/>
          </a:xfrm>
          <a:prstGeom prst="rect">
            <a:avLst/>
          </a:prstGeom>
          <a:noFill/>
          <a:ln/>
        </p:spPr>
        <p:txBody>
          <a:bodyPr wrap="square" lIns="0" tIns="0" rIns="0" bIns="0" rtlCol="0" anchor="ctr"/>
          <a:lstStyle/>
          <a:p>
            <a:pPr indent="0" marL="0">
              <a:buNone/>
            </a:pPr>
            <a:r>
              <a:rPr lang="en-US" sz="1200" dirty="0">
                <a:solidFill>
                  <a:schemeClr val="tx1"/>
                </a:solidFill>
              </a:rPr>
              <a:t>Token vault and session state reset on restart; the audit log persists</a:t>
            </a:r>
            <a:endParaRPr lang="en-US" sz="1200" dirty="0"/>
          </a:p>
        </p:txBody>
      </p:sp>
      <p:sp>
        <p:nvSpPr>
          <p:cNvPr id="21" name="next 1"/>
          <p:cNvSpPr/>
          <p:nvPr/>
        </p:nvSpPr>
        <p:spPr>
          <a:xfrm>
            <a:off x="4754880" y="1508760"/>
            <a:ext cx="3931920" cy="640080"/>
          </a:xfrm>
          <a:prstGeom prst="roundRect">
            <a:avLst>
              <a:gd name="adj" fmla="val 11429"/>
            </a:avLst>
          </a:prstGeom>
          <a:solidFill>
            <a:schemeClr val="bg1"/>
          </a:solidFill>
          <a:ln w="15875">
            <a:solidFill>
              <a:schemeClr val="accent1"/>
            </a:solidFill>
            <a:prstDash val="dash"/>
          </a:ln>
        </p:spPr>
      </p:sp>
      <p:sp>
        <p:nvSpPr>
          <p:cNvPr id="22" name="Shape 20"/>
          <p:cNvSpPr/>
          <p:nvPr/>
        </p:nvSpPr>
        <p:spPr>
          <a:xfrm>
            <a:off x="4892040" y="1664208"/>
            <a:ext cx="329184" cy="329184"/>
          </a:xfrm>
          <a:prstGeom prst="ellipse">
            <a:avLst/>
          </a:prstGeom>
          <a:solidFill>
            <a:schemeClr val="accent1"/>
          </a:solidFill>
          <a:ln/>
        </p:spPr>
      </p:sp>
      <p:pic>
        <p:nvPicPr>
          <p:cNvPr id="23" name="Image 0" descr="preencoded.png">    </p:cNvPr>
          <p:cNvPicPr>
            <a:picLocks noChangeAspect="1"/>
          </p:cNvPicPr>
          <p:nvPr/>
        </p:nvPicPr>
        <p:blipFill>
          <a:blip r:embed="rId1"/>
          <a:stretch>
            <a:fillRect/>
          </a:stretch>
        </p:blipFill>
        <p:spPr>
          <a:xfrm>
            <a:off x="4974336" y="1746504"/>
            <a:ext cx="164592" cy="164592"/>
          </a:xfrm>
          <a:prstGeom prst="rect">
            <a:avLst/>
          </a:prstGeom>
        </p:spPr>
      </p:pic>
      <p:sp>
        <p:nvSpPr>
          <p:cNvPr id="24" name="Text 21"/>
          <p:cNvSpPr txBox="1"/>
          <p:nvPr/>
        </p:nvSpPr>
        <p:spPr>
          <a:xfrm>
            <a:off x="5349240" y="1508760"/>
            <a:ext cx="2286000" cy="640080"/>
          </a:xfrm>
          <a:prstGeom prst="rect">
            <a:avLst/>
          </a:prstGeom>
          <a:noFill/>
          <a:ln/>
        </p:spPr>
        <p:txBody>
          <a:bodyPr wrap="square" lIns="0" tIns="0" rIns="0" bIns="0" rtlCol="0" anchor="ctr"/>
          <a:lstStyle/>
          <a:p>
            <a:pPr indent="0" marL="0">
              <a:buNone/>
            </a:pPr>
            <a:r>
              <a:rPr lang="en-US" sz="1200" dirty="0">
                <a:solidFill>
                  <a:schemeClr val="tx1"/>
                </a:solidFill>
              </a:rPr>
              <a:t>Human approvals bound to the exact arguments (four eyes)</a:t>
            </a:r>
            <a:endParaRPr lang="en-US" sz="1200" dirty="0"/>
          </a:p>
        </p:txBody>
      </p:sp>
      <p:sp>
        <p:nvSpPr>
          <p:cNvPr id="25" name="Text 22"/>
          <p:cNvSpPr txBox="1"/>
          <p:nvPr/>
        </p:nvSpPr>
        <p:spPr>
          <a:xfrm>
            <a:off x="7662672" y="1508760"/>
            <a:ext cx="932688" cy="640080"/>
          </a:xfrm>
          <a:prstGeom prst="rect">
            <a:avLst/>
          </a:prstGeom>
          <a:noFill/>
          <a:ln/>
        </p:spPr>
        <p:txBody>
          <a:bodyPr wrap="square" lIns="0" tIns="0" rIns="0" bIns="0" rtlCol="0" anchor="ctr"/>
          <a:lstStyle/>
          <a:p>
            <a:pPr algn="r" indent="0" marL="0">
              <a:buNone/>
            </a:pPr>
            <a:r>
              <a:rPr lang="en-US" sz="1000" i="1" dirty="0">
                <a:solidFill>
                  <a:schemeClr val="accent5"/>
                </a:solidFill>
              </a:rPr>
              <a:t>planned</a:t>
            </a:r>
            <a:endParaRPr lang="en-US" sz="1000" dirty="0"/>
          </a:p>
        </p:txBody>
      </p:sp>
      <p:sp>
        <p:nvSpPr>
          <p:cNvPr id="26" name="next 2"/>
          <p:cNvSpPr/>
          <p:nvPr/>
        </p:nvSpPr>
        <p:spPr>
          <a:xfrm>
            <a:off x="4754880" y="2276856"/>
            <a:ext cx="3931920" cy="640080"/>
          </a:xfrm>
          <a:prstGeom prst="roundRect">
            <a:avLst>
              <a:gd name="adj" fmla="val 11429"/>
            </a:avLst>
          </a:prstGeom>
          <a:solidFill>
            <a:schemeClr val="bg1"/>
          </a:solidFill>
          <a:ln w="15875">
            <a:solidFill>
              <a:schemeClr val="accent1"/>
            </a:solidFill>
            <a:prstDash val="dash"/>
          </a:ln>
        </p:spPr>
      </p:sp>
      <p:sp>
        <p:nvSpPr>
          <p:cNvPr id="27" name="Shape 24"/>
          <p:cNvSpPr/>
          <p:nvPr/>
        </p:nvSpPr>
        <p:spPr>
          <a:xfrm>
            <a:off x="4892040" y="2432304"/>
            <a:ext cx="329184" cy="329184"/>
          </a:xfrm>
          <a:prstGeom prst="ellipse">
            <a:avLst/>
          </a:prstGeom>
          <a:solidFill>
            <a:schemeClr val="accent1"/>
          </a:solidFill>
          <a:ln/>
        </p:spPr>
      </p:sp>
      <p:pic>
        <p:nvPicPr>
          <p:cNvPr id="28" name="Image 1" descr="preencoded.png">    </p:cNvPr>
          <p:cNvPicPr>
            <a:picLocks noChangeAspect="1"/>
          </p:cNvPicPr>
          <p:nvPr/>
        </p:nvPicPr>
        <p:blipFill>
          <a:blip r:embed="rId2"/>
          <a:stretch>
            <a:fillRect/>
          </a:stretch>
        </p:blipFill>
        <p:spPr>
          <a:xfrm>
            <a:off x="4974336" y="2514600"/>
            <a:ext cx="164592" cy="164592"/>
          </a:xfrm>
          <a:prstGeom prst="rect">
            <a:avLst/>
          </a:prstGeom>
        </p:spPr>
      </p:pic>
      <p:sp>
        <p:nvSpPr>
          <p:cNvPr id="29" name="Text 25"/>
          <p:cNvSpPr txBox="1"/>
          <p:nvPr/>
        </p:nvSpPr>
        <p:spPr>
          <a:xfrm>
            <a:off x="5349240" y="2276856"/>
            <a:ext cx="2286000" cy="640080"/>
          </a:xfrm>
          <a:prstGeom prst="rect">
            <a:avLst/>
          </a:prstGeom>
          <a:noFill/>
          <a:ln/>
        </p:spPr>
        <p:txBody>
          <a:bodyPr wrap="square" lIns="0" tIns="0" rIns="0" bIns="0" rtlCol="0" anchor="ctr"/>
          <a:lstStyle/>
          <a:p>
            <a:pPr indent="0" marL="0">
              <a:buNone/>
            </a:pPr>
            <a:r>
              <a:rPr lang="en-US" sz="1200" dirty="0">
                <a:solidFill>
                  <a:schemeClr val="tx1"/>
                </a:solidFill>
              </a:rPr>
              <a:t>Integrity per source: fewer false quarantines</a:t>
            </a:r>
            <a:endParaRPr lang="en-US" sz="1200" dirty="0"/>
          </a:p>
        </p:txBody>
      </p:sp>
      <p:sp>
        <p:nvSpPr>
          <p:cNvPr id="30" name="Text 26"/>
          <p:cNvSpPr txBox="1"/>
          <p:nvPr/>
        </p:nvSpPr>
        <p:spPr>
          <a:xfrm>
            <a:off x="7662672" y="2276856"/>
            <a:ext cx="932688" cy="640080"/>
          </a:xfrm>
          <a:prstGeom prst="rect">
            <a:avLst/>
          </a:prstGeom>
          <a:noFill/>
          <a:ln/>
        </p:spPr>
        <p:txBody>
          <a:bodyPr wrap="square" lIns="0" tIns="0" rIns="0" bIns="0" rtlCol="0" anchor="ctr"/>
          <a:lstStyle/>
          <a:p>
            <a:pPr algn="r" indent="0" marL="0">
              <a:buNone/>
            </a:pPr>
            <a:r>
              <a:rPr lang="en-US" sz="1000" i="1" dirty="0">
                <a:solidFill>
                  <a:schemeClr val="accent5"/>
                </a:solidFill>
              </a:rPr>
              <a:t>in progress</a:t>
            </a:r>
            <a:endParaRPr lang="en-US" sz="1000" dirty="0"/>
          </a:p>
        </p:txBody>
      </p:sp>
      <p:sp>
        <p:nvSpPr>
          <p:cNvPr id="31" name="next 3"/>
          <p:cNvSpPr/>
          <p:nvPr/>
        </p:nvSpPr>
        <p:spPr>
          <a:xfrm>
            <a:off x="4754880" y="3044952"/>
            <a:ext cx="3931920" cy="640080"/>
          </a:xfrm>
          <a:prstGeom prst="roundRect">
            <a:avLst>
              <a:gd name="adj" fmla="val 11429"/>
            </a:avLst>
          </a:prstGeom>
          <a:solidFill>
            <a:schemeClr val="bg1"/>
          </a:solidFill>
          <a:ln w="15875">
            <a:solidFill>
              <a:schemeClr val="accent1"/>
            </a:solidFill>
            <a:prstDash val="dash"/>
          </a:ln>
        </p:spPr>
      </p:sp>
      <p:sp>
        <p:nvSpPr>
          <p:cNvPr id="32" name="Shape 28"/>
          <p:cNvSpPr/>
          <p:nvPr/>
        </p:nvSpPr>
        <p:spPr>
          <a:xfrm>
            <a:off x="4892040" y="3200400"/>
            <a:ext cx="329184" cy="329184"/>
          </a:xfrm>
          <a:prstGeom prst="ellipse">
            <a:avLst/>
          </a:prstGeom>
          <a:solidFill>
            <a:schemeClr val="accent1"/>
          </a:solidFill>
          <a:ln/>
        </p:spPr>
      </p:sp>
      <p:pic>
        <p:nvPicPr>
          <p:cNvPr id="33" name="Image 2" descr="preencoded.png">    </p:cNvPr>
          <p:cNvPicPr>
            <a:picLocks noChangeAspect="1"/>
          </p:cNvPicPr>
          <p:nvPr/>
        </p:nvPicPr>
        <p:blipFill>
          <a:blip r:embed="rId3"/>
          <a:stretch>
            <a:fillRect/>
          </a:stretch>
        </p:blipFill>
        <p:spPr>
          <a:xfrm>
            <a:off x="4974336" y="3282696"/>
            <a:ext cx="164592" cy="164592"/>
          </a:xfrm>
          <a:prstGeom prst="rect">
            <a:avLst/>
          </a:prstGeom>
        </p:spPr>
      </p:pic>
      <p:sp>
        <p:nvSpPr>
          <p:cNvPr id="34" name="Text 29"/>
          <p:cNvSpPr txBox="1"/>
          <p:nvPr/>
        </p:nvSpPr>
        <p:spPr>
          <a:xfrm>
            <a:off x="5349240" y="3044952"/>
            <a:ext cx="2286000" cy="640080"/>
          </a:xfrm>
          <a:prstGeom prst="rect">
            <a:avLst/>
          </a:prstGeom>
          <a:noFill/>
          <a:ln/>
        </p:spPr>
        <p:txBody>
          <a:bodyPr wrap="square" lIns="0" tIns="0" rIns="0" bIns="0" rtlCol="0" anchor="ctr"/>
          <a:lstStyle/>
          <a:p>
            <a:pPr indent="0" marL="0">
              <a:buNone/>
            </a:pPr>
            <a:r>
              <a:rPr lang="en-US" sz="1200" dirty="0">
                <a:solidFill>
                  <a:schemeClr val="tx1"/>
                </a:solidFill>
              </a:rPr>
              <a:t>Leak fingerprints for registered documents</a:t>
            </a:r>
            <a:endParaRPr lang="en-US" sz="1200" dirty="0"/>
          </a:p>
        </p:txBody>
      </p:sp>
      <p:sp>
        <p:nvSpPr>
          <p:cNvPr id="35" name="Text 30"/>
          <p:cNvSpPr txBox="1"/>
          <p:nvPr/>
        </p:nvSpPr>
        <p:spPr>
          <a:xfrm>
            <a:off x="7662672" y="3044952"/>
            <a:ext cx="932688" cy="640080"/>
          </a:xfrm>
          <a:prstGeom prst="rect">
            <a:avLst/>
          </a:prstGeom>
          <a:noFill/>
          <a:ln/>
        </p:spPr>
        <p:txBody>
          <a:bodyPr wrap="square" lIns="0" tIns="0" rIns="0" bIns="0" rtlCol="0" anchor="ctr"/>
          <a:lstStyle/>
          <a:p>
            <a:pPr algn="r" indent="0" marL="0">
              <a:buNone/>
            </a:pPr>
            <a:r>
              <a:rPr lang="en-US" sz="1000" i="1" dirty="0">
                <a:solidFill>
                  <a:schemeClr val="accent5"/>
                </a:solidFill>
              </a:rPr>
              <a:t>experimental</a:t>
            </a:r>
            <a:endParaRPr lang="en-US" sz="1000" dirty="0"/>
          </a:p>
        </p:txBody>
      </p:sp>
      <p:sp>
        <p:nvSpPr>
          <p:cNvPr id="36" name="next 4"/>
          <p:cNvSpPr/>
          <p:nvPr/>
        </p:nvSpPr>
        <p:spPr>
          <a:xfrm>
            <a:off x="4754880" y="3813048"/>
            <a:ext cx="3931920" cy="640080"/>
          </a:xfrm>
          <a:prstGeom prst="roundRect">
            <a:avLst>
              <a:gd name="adj" fmla="val 11429"/>
            </a:avLst>
          </a:prstGeom>
          <a:solidFill>
            <a:schemeClr val="bg1"/>
          </a:solidFill>
          <a:ln w="15875">
            <a:solidFill>
              <a:schemeClr val="accent1"/>
            </a:solidFill>
            <a:prstDash val="dash"/>
          </a:ln>
        </p:spPr>
      </p:sp>
      <p:sp>
        <p:nvSpPr>
          <p:cNvPr id="37" name="Shape 32"/>
          <p:cNvSpPr/>
          <p:nvPr/>
        </p:nvSpPr>
        <p:spPr>
          <a:xfrm>
            <a:off x="4892040" y="3968496"/>
            <a:ext cx="329184" cy="329184"/>
          </a:xfrm>
          <a:prstGeom prst="ellipse">
            <a:avLst/>
          </a:prstGeom>
          <a:solidFill>
            <a:schemeClr val="accent1"/>
          </a:solidFill>
          <a:ln/>
        </p:spPr>
      </p:sp>
      <p:pic>
        <p:nvPicPr>
          <p:cNvPr id="38" name="Image 3" descr="preencoded.png">    </p:cNvPr>
          <p:cNvPicPr>
            <a:picLocks noChangeAspect="1"/>
          </p:cNvPicPr>
          <p:nvPr/>
        </p:nvPicPr>
        <p:blipFill>
          <a:blip r:embed="rId4"/>
          <a:stretch>
            <a:fillRect/>
          </a:stretch>
        </p:blipFill>
        <p:spPr>
          <a:xfrm>
            <a:off x="4974336" y="4050792"/>
            <a:ext cx="164592" cy="164592"/>
          </a:xfrm>
          <a:prstGeom prst="rect">
            <a:avLst/>
          </a:prstGeom>
        </p:spPr>
      </p:pic>
      <p:sp>
        <p:nvSpPr>
          <p:cNvPr id="39" name="Text 33"/>
          <p:cNvSpPr txBox="1"/>
          <p:nvPr/>
        </p:nvSpPr>
        <p:spPr>
          <a:xfrm>
            <a:off x="5349240" y="3813048"/>
            <a:ext cx="2286000" cy="640080"/>
          </a:xfrm>
          <a:prstGeom prst="rect">
            <a:avLst/>
          </a:prstGeom>
          <a:noFill/>
          <a:ln/>
        </p:spPr>
        <p:txBody>
          <a:bodyPr wrap="square" lIns="0" tIns="0" rIns="0" bIns="0" rtlCol="0" anchor="ctr"/>
          <a:lstStyle/>
          <a:p>
            <a:pPr indent="0" marL="0">
              <a:buNone/>
            </a:pPr>
            <a:r>
              <a:rPr lang="en-US" sz="1200" dirty="0">
                <a:solidFill>
                  <a:schemeClr val="tx1"/>
                </a:solidFill>
              </a:rPr>
              <a:t>More adapters (Codex) and signed requests</a:t>
            </a:r>
            <a:endParaRPr lang="en-US" sz="1200" dirty="0"/>
          </a:p>
        </p:txBody>
      </p:sp>
      <p:sp>
        <p:nvSpPr>
          <p:cNvPr id="40" name="Text 34"/>
          <p:cNvSpPr txBox="1"/>
          <p:nvPr/>
        </p:nvSpPr>
        <p:spPr>
          <a:xfrm>
            <a:off x="7662672" y="3813048"/>
            <a:ext cx="932688" cy="640080"/>
          </a:xfrm>
          <a:prstGeom prst="rect">
            <a:avLst/>
          </a:prstGeom>
          <a:noFill/>
          <a:ln/>
        </p:spPr>
        <p:txBody>
          <a:bodyPr wrap="square" lIns="0" tIns="0" rIns="0" bIns="0" rtlCol="0" anchor="ctr"/>
          <a:lstStyle/>
          <a:p>
            <a:pPr algn="r" indent="0" marL="0">
              <a:buNone/>
            </a:pPr>
            <a:r>
              <a:rPr lang="en-US" sz="1000" i="1" dirty="0">
                <a:solidFill>
                  <a:schemeClr val="accent5"/>
                </a:solidFill>
              </a:rPr>
              <a:t>planned</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Flow Guard">
  <a:themeElements>
    <a:clrScheme name="Flow Guard">
      <a:dk1>
        <a:srgbClr val="0B1220"/>
      </a:dk1>
      <a:lt1>
        <a:srgbClr val="FFFFFF"/>
      </a:lt1>
      <a:dk2>
        <a:srgbClr val="1E2B45"/>
      </a:dk2>
      <a:lt2>
        <a:srgbClr val="EEF2F7"/>
      </a:lt2>
      <a:accent1>
        <a:srgbClr val="F2A93B"/>
      </a:accent1>
      <a:accent2>
        <a:srgbClr val="1FAF8A"/>
      </a:accent2>
      <a:accent3>
        <a:srgbClr val="E5484D"/>
      </a:accent3>
      <a:accent4>
        <a:srgbClr val="5B8DEF"/>
      </a:accent4>
      <a:accent5>
        <a:srgbClr val="6B7790"/>
      </a:accent5>
      <a:accent6>
        <a:srgbClr val="2E3B57"/>
      </a:accent6>
      <a:hlink>
        <a:srgbClr val="5B8DEF"/>
      </a:hlink>
      <a:folHlink>
        <a:srgbClr val="6B7790"/>
      </a:folHlink>
    </a:clrScheme>
    <a:fontScheme name="Flow Gu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Flow Guard</dc:title>
  <dc:subject>PptxGenJS Presentation</dc:subject>
  <dc:creator>Flow Guard team</dc:creator>
  <cp:lastModifiedBy>Flow Guard team</cp:lastModifiedBy>
  <cp:revision>1</cp:revision>
  <dcterms:created xsi:type="dcterms:W3CDTF">2026-10-04T08:29:01Z</dcterms:created>
  <dcterms:modified xsi:type="dcterms:W3CDTF">2026-10-04T08:29:01Z</dcterms:modified>
</cp:coreProperties>
</file>
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ct I · The story" id="{55c3fe90-3e44-2d66-c1c0-447cc3d27111}">
          <p14:sldIdLst>
            <p14:sldId id="256"/>
            <p14:sldId id="257"/>
            <p14:sldId id="258"/>
          </p14:sldIdLst>
        </p14:section>
        <p14:section name="Act II · The idea" id="{3cca334e-9976-8d26-a8da-706b6ac2a0bc}">
          <p14:sldIdLst>
            <p14:sldId id="259"/>
            <p14:sldId id="260"/>
            <p14:sldId id="261"/>
            <p14:sldId id="262"/>
            <p14:sldId id="263"/>
          </p14:sldIdLst>
        </p14:section>
        <p14:section name="Act III · The proof" id="{70056d3a-f654-aa3e-75a7-fb5bc20d4b71}">
          <p14:sldIdLst>
            <p14:sldId id="264"/>
            <p14:sldId id="265"/>
            <p14:sldId id="266"/>
          </p14:sldIdLst>
        </p14:section>
        <p14:section name="Act IV · The close" id="{983cb8b9-5a71-1f0c-b9e8-ba1755aa710e}">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Don't start with the product. Pause, look at the jury, then go straight to slide 2. One line only: 'We built Flow Guard. But first, let me tell you about Olivia's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[0:20–1:20] Tell it as a story, slowly, one card per beat. 'Olivia is a public-side onboarding analyst. Monday, 9:04, she asks her agent to prepare the file for Northwind Capital, a new hedge fund. Inside Northwind's ownership document there is one sentence that is not for Olivia. It is for the agent. The agent reads it like any other instruction. It searches the deal room, finds Project Falcon, an unannounced acquisition, and emails it to a hedge fund that can trade on it.' Pause. Then the punchline. This is the exact scenario we run live in a few minutes; every name here is test data in our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[1:20–1:50] Fast. Three cards, one sentence each. ForcedLeak matters most: the attack came through content an outsider submitted, exactly like Northwind's document. EchoLeak proves a detector alone gets bypassed. The fine shows barrier failures already cost real money. Land the bold line. (Check the wording of each source before presenting; see docs/goldman-cases.md.)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[1:50–2:30] Negotiation move: frame us inside their strategy, not against it. 'Your CIO describes four layers of agent security. Zero trust: assume the model may be compromised. Layers 1 and 2 are about the model. Layers 3 and 4 are about what the agent may do and see. That is what we built.' Say 'we extend, we replace nothing' slowly: it removes the integration objection before anyone raises it. (Framing from public interviews of Goldman's CIO, see docs/goldman-context.md; check the exact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[2:30–3:15] This is the 'why us'. Do not trash competitors; name what each bets on, then where the bet breaks. Key line: 'Masking everything is safe and useless: the sanctions check needs the real passport number. Detecting everything is useful and impossible. We do neither: we let the model work on labels, and we decide per tool whether the real value comes back.' Then point at the amber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[3:15–4:00] The one idea to remember. Walk the arrow with your hand. 'The passport number never reaches the model. The model sees a token, a label it can reason about and pass around. When the agent calls the sanctions check, we put the real number back. When the same token tries to leave in an email, the call is dropped and logged.' Then the negotiator's line: 'We don't need to win the arms race against every prompt. Even a fully fooled model has nothing to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[4:00–4:30] Keep it short; judges score architecture, so say three facts. 1) One policy engine; adapters are thin. Today the model proxy, next an MCP gateway and Claude Code hook calling the same decide(). 2) Agents need one line changed: the base URL. 3) Policy is a YAML file that reloads live; a broken edit keeps the last good policy, and every audit entry carries the policy version that made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[4:30–4:50] Do not read the grid. Say: 'Nine checks, in the order a request meets them, all from one policy file. You'll see six of them fire in the next three minutes.' Then move to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[4:50–8:00] Switch to the dashboard (Overview + Audit trail side by side with a terminal). Full script in docs/pitch/demo-script.md. Act 1 Olivia ~75 s, Act 2 Marcus ~45 s, Act 3 Devon ~45 s, Act 4 jury edits the policy ~30 s. If anything fails live: say 'that's what the seeded run is for', open the audit trail from `just demo-data`, and narrate the recorded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[8:00–8:30] Judges score the test suite and performance: give them the numbers and the command. 'Run just test yourself: over a hundred tests, about seven seconds, no network.' Then the honesty point on latency: per-control timing is in /api/metrics. Update the test count before presenting (just test prints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[8:30–8:50] For the Goldman judges, not the tech judges. One sentence: 'Every control maps to a rule you already answer to, so compliance gets evidence, not a promise.' Don't read the table. Not legal advice; mapping is in docs/goldman-context.md.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[8:50–9:20] Negotiator's move: concede first, on your terms. Judges trust a team that names its own limits. 'Here is what we don't do yet, and why the architecture already covers it: the engine knows nothing about the adapter, so the MCP gateway calls the same decide().' Keep eye contact; don't apologise.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[9:20–10:00] Bring the story home; same Olivia, same Monday, different ending. Read the four lines slowly. Then the tagline, then the challenge, then stop talking. Silence is the close. Leave this slide up during Q&amp;A with the policy file open in an editor next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8046720" cy="914400"/>
          </a:xfrm>
          <a:prstGeom prst="rect">
            <a:avLst/>
          </a:prstGeom>
          <a:noFill/>
          <a:ln/>
        </p:spPr>
        <p:txBody>
          <a:bodyPr wrap="square" rtlCol="0"/>
          <a:lstStyle>
            <a:lvl1pPr algn="l" indent="0" marL="0">
              <a:buNone/>
              <a:defRPr lang="en-US" sz="6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3" name="Text 0"/>
          <p:cNvSpPr/>
          <p:nvPr>
            <p:ph idx="101" type="body" hasCustomPrompt="1"/>
          </p:nvPr>
        </p:nvSpPr>
        <p:spPr>
          <a:xfrm>
            <a:off x="548640" y="2286000"/>
            <a:ext cx="8046720" cy="548640"/>
          </a:xfrm>
          <a:prstGeom prst="rect">
            <a:avLst/>
          </a:prstGeom>
          <a:noFill/>
          <a:ln/>
        </p:spPr>
        <p:txBody>
          <a:bodyPr wrap="square" rtlCol="0"/>
          <a:lstStyle>
            <a:lvl1pPr algn="l" indent="0" marL="0">
              <a:buNone/>
              <a:defRPr lang="en-US" sz="2400" dirty="0">
                <a:solidFill>
                  <a:schemeClr val="accent1"/>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4773168"/>
            <a:ext cx="4572000" cy="228600"/>
          </a:xfrm>
          <a:prstGeom prst="rect">
            <a:avLst/>
          </a:prstGeom>
          <a:noFill/>
          <a:ln/>
        </p:spPr>
        <p:txBody>
          <a:bodyPr wrap="square" lIns="0" tIns="0" rIns="0" bIns="0" rtlCol="0" anchor="ctr"/>
          <a:lstStyle/>
          <a:p>
            <a:pPr indent="0" marL="0">
              <a:buNone/>
            </a:pPr>
            <a:r>
              <a:rPr lang="en-US" sz="900" b="1" spc="200" kern="0" dirty="0">
                <a:solidFill>
                  <a:schemeClr val="accent5"/>
                </a:solidFill>
              </a:rPr>
              <a:t>FLOW GUARD  ·  AI CONTROL LAYER</a:t>
            </a:r>
            <a:endParaRPr lang="en-US" sz="900" dirty="0"/>
          </a:p>
        </p:txBody>
      </p:sp>
      <p:sp>
        <p:nvSpPr>
          <p:cNvPr id="3" name="Text 1"/>
          <p:cNvSpPr/>
          <p:nvPr>
            <p:ph idx="101" type="title" hasCustomPrompt="1"/>
          </p:nvPr>
        </p:nvSpPr>
        <p:spPr>
          <a:xfrm>
            <a:off x="548640" y="365760"/>
            <a:ext cx="8046720" cy="68580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4773168"/>
            <a:ext cx="4572000" cy="228600"/>
          </a:xfrm>
          <a:prstGeom prst="rect">
            <a:avLst/>
          </a:prstGeom>
          <a:noFill/>
          <a:ln/>
        </p:spPr>
        <p:txBody>
          <a:bodyPr wrap="square" lIns="0" tIns="0" rIns="0" bIns="0" rtlCol="0" anchor="ctr"/>
          <a:lstStyle/>
          <a:p>
            <a:pPr indent="0" marL="0">
              <a:buNone/>
            </a:pPr>
            <a:r>
              <a:rPr lang="en-US" sz="900" b="1" spc="200" kern="0" dirty="0">
                <a:solidFill>
                  <a:schemeClr val="accent5"/>
                </a:solidFill>
              </a:rPr>
              <a:t>FLOW GUARD  ·  AI CONTROL LAYER</a:t>
            </a:r>
            <a:endParaRPr lang="en-US" sz="900" dirty="0"/>
          </a:p>
        </p:txBody>
      </p:sp>
      <p:sp>
        <p:nvSpPr>
          <p:cNvPr id="3" name="Text 1"/>
          <p:cNvSpPr/>
          <p:nvPr>
            <p:ph idx="101" type="title" hasCustomPrompt="1"/>
          </p:nvPr>
        </p:nvSpPr>
        <p:spPr>
          <a:xfrm>
            <a:off x="548640" y="365760"/>
            <a:ext cx="8046720" cy="68580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4.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914400"/>
            <a:ext cx="8046720" cy="274320"/>
          </a:xfrm>
          <a:prstGeom prst="rect">
            <a:avLst/>
          </a:prstGeom>
          <a:noFill/>
          <a:ln/>
        </p:spPr>
        <p:txBody>
          <a:bodyPr wrap="square" lIns="0" tIns="0" rIns="0" bIns="0" rtlCol="0" anchor="ctr"/>
          <a:lstStyle/>
          <a:p>
            <a:pPr indent="0" marL="0">
              <a:buNone/>
            </a:pPr>
            <a:r>
              <a:rPr lang="en-US" sz="1100" b="1" spc="300" kern="0" dirty="0">
                <a:solidFill>
                  <a:schemeClr val="accent5"/>
                </a:solidFill>
              </a:rPr>
              <a:t>AI CONTROL LAYER  ·  HACKYEAH 2026  ·  GOLDMAN SACHS CHALLENGE</a:t>
            </a:r>
            <a:endParaRPr lang="en-US" sz="1100" dirty="0"/>
          </a:p>
        </p:txBody>
      </p:sp>
      <p:sp>
        <p:nvSpPr>
          <p:cNvPr id="3" name="Text 0"/>
          <p:cNvSpPr/>
          <p:nvPr>
            <p:ph idx="100" type="title" hasCustomPrompt="1"/>
          </p:nvPr>
        </p:nvSpPr>
        <p:spPr>
          <a:xfrm>
            <a:off x="548640" y="1325880"/>
            <a:ext cx="8046720" cy="914400"/>
          </a:xfrm>
          <a:prstGeom prst="rect">
            <a:avLst/>
          </a:prstGeom>
          <a:noFill/>
          <a:ln/>
        </p:spPr>
        <p:txBody>
          <a:bodyPr wrap="square" lIns="0" tIns="0" rIns="0" bIns="0" rtlCol="0" anchor="b"/>
          <a:lstStyle/>
          <a:p>
            <a:pPr algn="l" indent="0" marL="0">
              <a:buNone/>
            </a:pPr>
            <a:r>
              <a:rPr lang="en-US" sz="6000" b="1" dirty="0">
                <a:solidFill>
                  <a:schemeClr val="bg1"/>
                </a:solidFill>
                <a:latin typeface="Cambria" pitchFamily="34" charset="0"/>
                <a:ea typeface="Cambria" pitchFamily="34" charset="-122"/>
                <a:cs typeface="Cambria" pitchFamily="34" charset="-120"/>
              </a:rPr>
              <a:t>Flow Guard</a:t>
            </a:r>
            <a:endParaRPr lang="en-US" sz="6000" dirty="0"/>
          </a:p>
        </p:txBody>
      </p:sp>
      <p:sp>
        <p:nvSpPr>
          <p:cNvPr id="4" name="Text 0"/>
          <p:cNvSpPr/>
          <p:nvPr>
            <p:ph idx="101" type="body" hasCustomPrompt="1"/>
          </p:nvPr>
        </p:nvSpPr>
        <p:spPr>
          <a:xfrm>
            <a:off x="548640" y="2286000"/>
            <a:ext cx="8046720" cy="548640"/>
          </a:xfrm>
          <a:prstGeom prst="rect">
            <a:avLst/>
          </a:prstGeom>
          <a:noFill/>
          <a:ln/>
        </p:spPr>
        <p:txBody>
          <a:bodyPr wrap="square" lIns="0" tIns="0" rIns="0" bIns="0" rtlCol="0" anchor="t"/>
          <a:lstStyle/>
          <a:p>
            <a:pPr algn="l" indent="0" marL="0">
              <a:buNone/>
            </a:pPr>
            <a:r>
              <a:rPr lang="en-US" sz="2400" dirty="0">
                <a:solidFill>
                  <a:schemeClr val="accent1"/>
                </a:solidFill>
              </a:rPr>
              <a:t>Your agents can act. We decide what flows.</a:t>
            </a:r>
            <a:endParaRPr lang="en-US" sz="2400" dirty="0"/>
          </a:p>
        </p:txBody>
      </p:sp>
      <p:sp>
        <p:nvSpPr>
          <p:cNvPr id="5" name="raw value"/>
          <p:cNvSpPr/>
          <p:nvPr/>
        </p:nvSpPr>
        <p:spPr>
          <a:xfrm>
            <a:off x="548640" y="3429000"/>
            <a:ext cx="1737360" cy="502920"/>
          </a:xfrm>
          <a:prstGeom prst="roundRect">
            <a:avLst>
              <a:gd name="adj" fmla="val 54545"/>
            </a:avLst>
          </a:prstGeom>
          <a:solidFill>
            <a:schemeClr val="tx2"/>
          </a:solidFill>
          <a:ln w="19050">
            <a:solidFill>
              <a:schemeClr val="accent3"/>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C01X00T47</a:t>
            </a:r>
            <a:endParaRPr lang="en-US" sz="1400" dirty="0"/>
          </a:p>
        </p:txBody>
      </p:sp>
      <p:sp>
        <p:nvSpPr>
          <p:cNvPr id="6" name="Shape 4"/>
          <p:cNvSpPr/>
          <p:nvPr/>
        </p:nvSpPr>
        <p:spPr>
          <a:xfrm>
            <a:off x="2377440" y="3680460"/>
            <a:ext cx="457200" cy="0"/>
          </a:xfrm>
          <a:prstGeom prst="line">
            <a:avLst/>
          </a:prstGeom>
          <a:noFill/>
          <a:ln w="25400">
            <a:solidFill>
              <a:schemeClr val="accent5"/>
            </a:solidFill>
            <a:prstDash val="solid"/>
            <a:tailEnd type="triangle"/>
          </a:ln>
        </p:spPr>
      </p:sp>
      <p:sp>
        <p:nvSpPr>
          <p:cNvPr id="7" name="token"/>
          <p:cNvSpPr/>
          <p:nvPr/>
        </p:nvSpPr>
        <p:spPr>
          <a:xfrm>
            <a:off x="2926080" y="3429000"/>
            <a:ext cx="2651760" cy="502920"/>
          </a:xfrm>
          <a:prstGeom prst="roundRect">
            <a:avLst>
              <a:gd name="adj" fmla="val 54545"/>
            </a:avLst>
          </a:prstGeom>
          <a:solidFill>
            <a:schemeClr val="tx2"/>
          </a:solidFill>
          <a:ln w="19050">
            <a:solidFill>
              <a:schemeClr val="accent1"/>
            </a:solidFill>
          </a:ln>
        </p:spPr>
        <p:txBody>
          <a:bodyPr wrap="square" lIns="0" tIns="0" rIns="0" bIns="0" rtlCol="0" anchor="ctr"/>
          <a:lstStyle/>
          <a:p>
            <a:pPr algn="ctr" indent="0" marL="0">
              <a:buNone/>
            </a:pPr>
            <a:r>
              <a:rPr lang="en-US" sz="1400" b="1" dirty="0">
                <a:solidFill>
                  <a:schemeClr val="accent1"/>
                </a:solidFill>
                <a:latin typeface="Courier New" pitchFamily="34" charset="0"/>
                <a:ea typeface="Courier New" pitchFamily="34" charset="-122"/>
                <a:cs typeface="Courier New" pitchFamily="34" charset="-120"/>
              </a:rPr>
              <a:t>[[PASSPORT#7c21e4]]</a:t>
            </a:r>
            <a:endParaRPr lang="en-US" sz="1400" dirty="0"/>
          </a:p>
        </p:txBody>
      </p:sp>
      <p:sp>
        <p:nvSpPr>
          <p:cNvPr id="8" name="Shape 6"/>
          <p:cNvSpPr/>
          <p:nvPr/>
        </p:nvSpPr>
        <p:spPr>
          <a:xfrm>
            <a:off x="5669280" y="3680460"/>
            <a:ext cx="457200" cy="0"/>
          </a:xfrm>
          <a:prstGeom prst="line">
            <a:avLst/>
          </a:prstGeom>
          <a:noFill/>
          <a:ln w="25400">
            <a:solidFill>
              <a:schemeClr val="accent5"/>
            </a:solidFill>
            <a:prstDash val="solid"/>
            <a:tailEnd type="triangle"/>
          </a:ln>
        </p:spPr>
      </p:sp>
      <p:sp>
        <p:nvSpPr>
          <p:cNvPr id="9" name="sink"/>
          <p:cNvSpPr/>
          <p:nvPr/>
        </p:nvSpPr>
        <p:spPr>
          <a:xfrm>
            <a:off x="6217920" y="3429000"/>
            <a:ext cx="2377440" cy="502920"/>
          </a:xfrm>
          <a:prstGeom prst="roundRect">
            <a:avLst>
              <a:gd name="adj" fmla="val 54545"/>
            </a:avLst>
          </a:prstGeom>
          <a:solidFill>
            <a:schemeClr val="tx2"/>
          </a:solidFill>
          <a:ln w="19050">
            <a:solidFill>
              <a:schemeClr val="accent2"/>
            </a:solidFill>
          </a:ln>
        </p:spPr>
        <p:txBody>
          <a:bodyPr wrap="square" lIns="0" tIns="0" rIns="0" bIns="0" rtlCol="0" anchor="ctr"/>
          <a:lstStyle/>
          <a:p>
            <a:pPr algn="ctr" indent="0" marL="0">
              <a:buNone/>
            </a:pPr>
            <a:r>
              <a:rPr lang="en-US" sz="1400" dirty="0">
                <a:solidFill>
                  <a:schemeClr val="accent2"/>
                </a:solidFill>
                <a:latin typeface="Calibri" pitchFamily="34" charset="0"/>
                <a:ea typeface="Calibri" pitchFamily="34" charset="-122"/>
                <a:cs typeface="Calibri" pitchFamily="34" charset="-120"/>
              </a:rPr>
              <a:t>only where policy allows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Monday, 09:04. The agent starts work</a:t>
            </a:r>
            <a:endParaRPr lang="en-US" sz="3200" dirty="0"/>
          </a:p>
        </p:txBody>
      </p:sp>
      <p:sp>
        <p:nvSpPr>
          <p:cNvPr id="3" name="step 1"/>
          <p:cNvSpPr/>
          <p:nvPr/>
        </p:nvSpPr>
        <p:spPr>
          <a:xfrm>
            <a:off x="548640" y="1325880"/>
            <a:ext cx="1828800" cy="2240280"/>
          </a:xfrm>
          <a:prstGeom prst="roundRect">
            <a:avLst>
              <a:gd name="adj" fmla="val 6000"/>
            </a:avLst>
          </a:prstGeom>
          <a:solidFill>
            <a:schemeClr val="tx2"/>
          </a:solidFill>
          <a:ln/>
        </p:spPr>
      </p:sp>
      <p:sp>
        <p:nvSpPr>
          <p:cNvPr id="4" name="step 1 icon"/>
          <p:cNvSpPr/>
          <p:nvPr/>
        </p:nvSpPr>
        <p:spPr>
          <a:xfrm>
            <a:off x="731520" y="1508760"/>
            <a:ext cx="548640" cy="548640"/>
          </a:xfrm>
          <a:prstGeom prst="ellipse">
            <a:avLst/>
          </a:prstGeom>
          <a:solidFill>
            <a:schemeClr val="accent6"/>
          </a:solidFill>
          <a:ln/>
        </p:spPr>
      </p:sp>
      <p:pic>
        <p:nvPicPr>
          <p:cNvPr id="5" name="Image 0" descr="preencoded.png">    </p:cNvPr>
          <p:cNvPicPr>
            <a:picLocks noChangeAspect="1"/>
          </p:cNvPicPr>
          <p:nvPr/>
        </p:nvPicPr>
        <p:blipFill>
          <a:blip r:embed="rId1"/>
          <a:stretch>
            <a:fillRect/>
          </a:stretch>
        </p:blipFill>
        <p:spPr>
          <a:xfrm>
            <a:off x="868680" y="1645920"/>
            <a:ext cx="274320" cy="274320"/>
          </a:xfrm>
          <a:prstGeom prst="rect">
            <a:avLst/>
          </a:prstGeom>
        </p:spPr>
      </p:pic>
      <p:sp>
        <p:nvSpPr>
          <p:cNvPr id="6" name="Text 3"/>
          <p:cNvSpPr txBox="1"/>
          <p:nvPr/>
        </p:nvSpPr>
        <p:spPr>
          <a:xfrm>
            <a:off x="1645920" y="1572768"/>
            <a:ext cx="548640" cy="411480"/>
          </a:xfrm>
          <a:prstGeom prst="rect">
            <a:avLst/>
          </a:prstGeom>
          <a:noFill/>
          <a:ln/>
        </p:spPr>
        <p:txBody>
          <a:bodyPr wrap="square" lIns="0" tIns="0" rIns="0" bIns="0" rtlCol="0" anchor="ctr"/>
          <a:lstStyle/>
          <a:p>
            <a:pPr algn="r" indent="0" marL="0">
              <a:buNone/>
            </a:pPr>
            <a:r>
              <a:rPr lang="en-US" sz="2000" b="1" dirty="0">
                <a:solidFill>
                  <a:schemeClr val="accent1"/>
                </a:solidFill>
                <a:latin typeface="Courier New" pitchFamily="34" charset="0"/>
                <a:ea typeface="Courier New" pitchFamily="34" charset="-122"/>
                <a:cs typeface="Courier New" pitchFamily="34" charset="-120"/>
              </a:rPr>
              <a:t>01</a:t>
            </a:r>
            <a:endParaRPr lang="en-US" sz="2000" dirty="0"/>
          </a:p>
        </p:txBody>
      </p:sp>
      <p:sp>
        <p:nvSpPr>
          <p:cNvPr id="7" name="Text 4"/>
          <p:cNvSpPr txBox="1"/>
          <p:nvPr/>
        </p:nvSpPr>
        <p:spPr>
          <a:xfrm>
            <a:off x="731520" y="2194560"/>
            <a:ext cx="1463040" cy="1280160"/>
          </a:xfrm>
          <a:prstGeom prst="rect">
            <a:avLst/>
          </a:prstGeom>
          <a:noFill/>
          <a:ln/>
        </p:spPr>
        <p:txBody>
          <a:bodyPr wrap="square" lIns="0" tIns="0" rIns="0" bIns="0" rtlCol="0" anchor="t"/>
          <a:lstStyle/>
          <a:p>
            <a:pPr indent="0" marL="0">
              <a:buNone/>
            </a:pPr>
            <a:r>
              <a:rPr lang="en-US" sz="1400" dirty="0">
                <a:solidFill>
                  <a:schemeClr val="bg1"/>
                </a:solidFill>
              </a:rPr>
              <a:t>Olivia asks her AI agent to onboard a new hedge-fund client, Northwind.</a:t>
            </a:r>
            <a:endParaRPr lang="en-US" sz="1400" dirty="0"/>
          </a:p>
        </p:txBody>
      </p:sp>
      <p:sp>
        <p:nvSpPr>
          <p:cNvPr id="8" name="Shape 5"/>
          <p:cNvSpPr/>
          <p:nvPr/>
        </p:nvSpPr>
        <p:spPr>
          <a:xfrm>
            <a:off x="2395728" y="2446020"/>
            <a:ext cx="210312" cy="0"/>
          </a:xfrm>
          <a:prstGeom prst="line">
            <a:avLst/>
          </a:prstGeom>
          <a:noFill/>
          <a:ln w="25400">
            <a:solidFill>
              <a:schemeClr val="accent5"/>
            </a:solidFill>
            <a:prstDash val="solid"/>
            <a:tailEnd type="triangle"/>
          </a:ln>
        </p:spPr>
      </p:sp>
      <p:sp>
        <p:nvSpPr>
          <p:cNvPr id="9" name="step 2"/>
          <p:cNvSpPr/>
          <p:nvPr/>
        </p:nvSpPr>
        <p:spPr>
          <a:xfrm>
            <a:off x="2624328" y="1325880"/>
            <a:ext cx="1828800" cy="2240280"/>
          </a:xfrm>
          <a:prstGeom prst="roundRect">
            <a:avLst>
              <a:gd name="adj" fmla="val 6000"/>
            </a:avLst>
          </a:prstGeom>
          <a:solidFill>
            <a:schemeClr val="tx2"/>
          </a:solidFill>
          <a:ln/>
        </p:spPr>
      </p:sp>
      <p:sp>
        <p:nvSpPr>
          <p:cNvPr id="10" name="step 2 icon"/>
          <p:cNvSpPr/>
          <p:nvPr/>
        </p:nvSpPr>
        <p:spPr>
          <a:xfrm>
            <a:off x="2807208" y="1508760"/>
            <a:ext cx="548640" cy="548640"/>
          </a:xfrm>
          <a:prstGeom prst="ellipse">
            <a:avLst/>
          </a:prstGeom>
          <a:solidFill>
            <a:schemeClr val="accent6"/>
          </a:solidFill>
          <a:ln/>
        </p:spPr>
      </p:sp>
      <p:pic>
        <p:nvPicPr>
          <p:cNvPr id="11" name="Image 1" descr="preencoded.png">    </p:cNvPr>
          <p:cNvPicPr>
            <a:picLocks noChangeAspect="1"/>
          </p:cNvPicPr>
          <p:nvPr/>
        </p:nvPicPr>
        <p:blipFill>
          <a:blip r:embed="rId2"/>
          <a:stretch>
            <a:fillRect/>
          </a:stretch>
        </p:blipFill>
        <p:spPr>
          <a:xfrm>
            <a:off x="2944368" y="1645920"/>
            <a:ext cx="274320" cy="274320"/>
          </a:xfrm>
          <a:prstGeom prst="rect">
            <a:avLst/>
          </a:prstGeom>
        </p:spPr>
      </p:pic>
      <p:sp>
        <p:nvSpPr>
          <p:cNvPr id="12" name="Text 8"/>
          <p:cNvSpPr txBox="1"/>
          <p:nvPr/>
        </p:nvSpPr>
        <p:spPr>
          <a:xfrm>
            <a:off x="3721608" y="1572768"/>
            <a:ext cx="548640" cy="411480"/>
          </a:xfrm>
          <a:prstGeom prst="rect">
            <a:avLst/>
          </a:prstGeom>
          <a:noFill/>
          <a:ln/>
        </p:spPr>
        <p:txBody>
          <a:bodyPr wrap="square" lIns="0" tIns="0" rIns="0" bIns="0" rtlCol="0" anchor="ctr"/>
          <a:lstStyle/>
          <a:p>
            <a:pPr algn="r" indent="0" marL="0">
              <a:buNone/>
            </a:pPr>
            <a:r>
              <a:rPr lang="en-US" sz="2000" b="1" dirty="0">
                <a:solidFill>
                  <a:schemeClr val="accent1"/>
                </a:solidFill>
                <a:latin typeface="Courier New" pitchFamily="34" charset="0"/>
                <a:ea typeface="Courier New" pitchFamily="34" charset="-122"/>
                <a:cs typeface="Courier New" pitchFamily="34" charset="-120"/>
              </a:rPr>
              <a:t>02</a:t>
            </a:r>
            <a:endParaRPr lang="en-US" sz="2000" dirty="0"/>
          </a:p>
        </p:txBody>
      </p:sp>
      <p:sp>
        <p:nvSpPr>
          <p:cNvPr id="13" name="Text 9"/>
          <p:cNvSpPr txBox="1"/>
          <p:nvPr/>
        </p:nvSpPr>
        <p:spPr>
          <a:xfrm>
            <a:off x="2807208" y="2194560"/>
            <a:ext cx="1463040" cy="1280160"/>
          </a:xfrm>
          <a:prstGeom prst="rect">
            <a:avLst/>
          </a:prstGeom>
          <a:noFill/>
          <a:ln/>
        </p:spPr>
        <p:txBody>
          <a:bodyPr wrap="square" lIns="0" tIns="0" rIns="0" bIns="0" rtlCol="0" anchor="t"/>
          <a:lstStyle/>
          <a:p>
            <a:pPr indent="0" marL="0">
              <a:buNone/>
            </a:pPr>
            <a:r>
              <a:rPr lang="en-US" sz="1400" dirty="0">
                <a:solidFill>
                  <a:schemeClr val="bg1"/>
                </a:solidFill>
              </a:rPr>
              <a:t>Northwind's ownership document hides one sentence written for the agent.</a:t>
            </a:r>
            <a:endParaRPr lang="en-US" sz="1400" dirty="0"/>
          </a:p>
        </p:txBody>
      </p:sp>
      <p:sp>
        <p:nvSpPr>
          <p:cNvPr id="14" name="Shape 10"/>
          <p:cNvSpPr/>
          <p:nvPr/>
        </p:nvSpPr>
        <p:spPr>
          <a:xfrm>
            <a:off x="4471416" y="2446020"/>
            <a:ext cx="210312" cy="0"/>
          </a:xfrm>
          <a:prstGeom prst="line">
            <a:avLst/>
          </a:prstGeom>
          <a:noFill/>
          <a:ln w="25400">
            <a:solidFill>
              <a:schemeClr val="accent5"/>
            </a:solidFill>
            <a:prstDash val="solid"/>
            <a:tailEnd type="triangle"/>
          </a:ln>
        </p:spPr>
      </p:sp>
      <p:sp>
        <p:nvSpPr>
          <p:cNvPr id="15" name="step 3"/>
          <p:cNvSpPr/>
          <p:nvPr/>
        </p:nvSpPr>
        <p:spPr>
          <a:xfrm>
            <a:off x="4700016" y="1325880"/>
            <a:ext cx="1828800" cy="2240280"/>
          </a:xfrm>
          <a:prstGeom prst="roundRect">
            <a:avLst>
              <a:gd name="adj" fmla="val 6000"/>
            </a:avLst>
          </a:prstGeom>
          <a:solidFill>
            <a:schemeClr val="tx2"/>
          </a:solidFill>
          <a:ln/>
        </p:spPr>
      </p:sp>
      <p:sp>
        <p:nvSpPr>
          <p:cNvPr id="16" name="step 3 icon"/>
          <p:cNvSpPr/>
          <p:nvPr/>
        </p:nvSpPr>
        <p:spPr>
          <a:xfrm>
            <a:off x="4882896" y="1508760"/>
            <a:ext cx="548640" cy="548640"/>
          </a:xfrm>
          <a:prstGeom prst="ellipse">
            <a:avLst/>
          </a:prstGeom>
          <a:solidFill>
            <a:schemeClr val="accent6"/>
          </a:solidFill>
          <a:ln/>
        </p:spPr>
      </p:sp>
      <p:pic>
        <p:nvPicPr>
          <p:cNvPr id="17" name="Image 2" descr="preencoded.png">    </p:cNvPr>
          <p:cNvPicPr>
            <a:picLocks noChangeAspect="1"/>
          </p:cNvPicPr>
          <p:nvPr/>
        </p:nvPicPr>
        <p:blipFill>
          <a:blip r:embed="rId3"/>
          <a:stretch>
            <a:fillRect/>
          </a:stretch>
        </p:blipFill>
        <p:spPr>
          <a:xfrm>
            <a:off x="5020056" y="1645920"/>
            <a:ext cx="274320" cy="274320"/>
          </a:xfrm>
          <a:prstGeom prst="rect">
            <a:avLst/>
          </a:prstGeom>
        </p:spPr>
      </p:pic>
      <p:sp>
        <p:nvSpPr>
          <p:cNvPr id="18" name="Text 13"/>
          <p:cNvSpPr txBox="1"/>
          <p:nvPr/>
        </p:nvSpPr>
        <p:spPr>
          <a:xfrm>
            <a:off x="5797296" y="1572768"/>
            <a:ext cx="548640" cy="411480"/>
          </a:xfrm>
          <a:prstGeom prst="rect">
            <a:avLst/>
          </a:prstGeom>
          <a:noFill/>
          <a:ln/>
        </p:spPr>
        <p:txBody>
          <a:bodyPr wrap="square" lIns="0" tIns="0" rIns="0" bIns="0" rtlCol="0" anchor="ctr"/>
          <a:lstStyle/>
          <a:p>
            <a:pPr algn="r" indent="0" marL="0">
              <a:buNone/>
            </a:pPr>
            <a:r>
              <a:rPr lang="en-US" sz="2000" b="1" dirty="0">
                <a:solidFill>
                  <a:schemeClr val="accent1"/>
                </a:solidFill>
                <a:latin typeface="Courier New" pitchFamily="34" charset="0"/>
                <a:ea typeface="Courier New" pitchFamily="34" charset="-122"/>
                <a:cs typeface="Courier New" pitchFamily="34" charset="-120"/>
              </a:rPr>
              <a:t>03</a:t>
            </a:r>
            <a:endParaRPr lang="en-US" sz="2000" dirty="0"/>
          </a:p>
        </p:txBody>
      </p:sp>
      <p:sp>
        <p:nvSpPr>
          <p:cNvPr id="19" name="Text 14"/>
          <p:cNvSpPr txBox="1"/>
          <p:nvPr/>
        </p:nvSpPr>
        <p:spPr>
          <a:xfrm>
            <a:off x="4882896" y="2194560"/>
            <a:ext cx="1463040" cy="1280160"/>
          </a:xfrm>
          <a:prstGeom prst="rect">
            <a:avLst/>
          </a:prstGeom>
          <a:noFill/>
          <a:ln/>
        </p:spPr>
        <p:txBody>
          <a:bodyPr wrap="square" lIns="0" tIns="0" rIns="0" bIns="0" rtlCol="0" anchor="t"/>
          <a:lstStyle/>
          <a:p>
            <a:pPr indent="0" marL="0">
              <a:buNone/>
            </a:pPr>
            <a:r>
              <a:rPr lang="en-US" sz="1400" dirty="0">
                <a:solidFill>
                  <a:schemeClr val="bg1"/>
                </a:solidFill>
              </a:rPr>
              <a:t>The agent obeys. It searches the deal room and finds Project Falcon.</a:t>
            </a:r>
            <a:endParaRPr lang="en-US" sz="1400" dirty="0"/>
          </a:p>
        </p:txBody>
      </p:sp>
      <p:sp>
        <p:nvSpPr>
          <p:cNvPr id="20" name="Shape 15"/>
          <p:cNvSpPr/>
          <p:nvPr/>
        </p:nvSpPr>
        <p:spPr>
          <a:xfrm>
            <a:off x="6547104" y="2446020"/>
            <a:ext cx="210312" cy="0"/>
          </a:xfrm>
          <a:prstGeom prst="line">
            <a:avLst/>
          </a:prstGeom>
          <a:noFill/>
          <a:ln w="25400">
            <a:solidFill>
              <a:schemeClr val="accent5"/>
            </a:solidFill>
            <a:prstDash val="solid"/>
            <a:tailEnd type="triangle"/>
          </a:ln>
        </p:spPr>
      </p:sp>
      <p:sp>
        <p:nvSpPr>
          <p:cNvPr id="21" name="step 4"/>
          <p:cNvSpPr/>
          <p:nvPr/>
        </p:nvSpPr>
        <p:spPr>
          <a:xfrm>
            <a:off x="6775704" y="1325880"/>
            <a:ext cx="1828800" cy="2240280"/>
          </a:xfrm>
          <a:prstGeom prst="roundRect">
            <a:avLst>
              <a:gd name="adj" fmla="val 6000"/>
            </a:avLst>
          </a:prstGeom>
          <a:solidFill>
            <a:schemeClr val="tx2"/>
          </a:solidFill>
          <a:ln w="19050">
            <a:solidFill>
              <a:schemeClr val="accent3"/>
            </a:solidFill>
            <a:prstDash val="solid"/>
          </a:ln>
        </p:spPr>
      </p:sp>
      <p:sp>
        <p:nvSpPr>
          <p:cNvPr id="22" name="step 4 icon"/>
          <p:cNvSpPr/>
          <p:nvPr/>
        </p:nvSpPr>
        <p:spPr>
          <a:xfrm>
            <a:off x="6958584" y="1508760"/>
            <a:ext cx="548640" cy="548640"/>
          </a:xfrm>
          <a:prstGeom prst="ellipse">
            <a:avLst/>
          </a:prstGeom>
          <a:solidFill>
            <a:schemeClr val="accent3"/>
          </a:solidFill>
          <a:ln/>
        </p:spPr>
      </p:sp>
      <p:pic>
        <p:nvPicPr>
          <p:cNvPr id="23" name="Image 3" descr="preencoded.png">    </p:cNvPr>
          <p:cNvPicPr>
            <a:picLocks noChangeAspect="1"/>
          </p:cNvPicPr>
          <p:nvPr/>
        </p:nvPicPr>
        <p:blipFill>
          <a:blip r:embed="rId4"/>
          <a:stretch>
            <a:fillRect/>
          </a:stretch>
        </p:blipFill>
        <p:spPr>
          <a:xfrm>
            <a:off x="7095744" y="1645920"/>
            <a:ext cx="274320" cy="274320"/>
          </a:xfrm>
          <a:prstGeom prst="rect">
            <a:avLst/>
          </a:prstGeom>
        </p:spPr>
      </p:pic>
      <p:sp>
        <p:nvSpPr>
          <p:cNvPr id="24" name="Text 18"/>
          <p:cNvSpPr txBox="1"/>
          <p:nvPr/>
        </p:nvSpPr>
        <p:spPr>
          <a:xfrm>
            <a:off x="7872984" y="1572768"/>
            <a:ext cx="548640" cy="411480"/>
          </a:xfrm>
          <a:prstGeom prst="rect">
            <a:avLst/>
          </a:prstGeom>
          <a:noFill/>
          <a:ln/>
        </p:spPr>
        <p:txBody>
          <a:bodyPr wrap="square" lIns="0" tIns="0" rIns="0" bIns="0" rtlCol="0" anchor="ctr"/>
          <a:lstStyle/>
          <a:p>
            <a:pPr algn="r" indent="0" marL="0">
              <a:buNone/>
            </a:pPr>
            <a:r>
              <a:rPr lang="en-US" sz="2000" b="1" dirty="0">
                <a:solidFill>
                  <a:schemeClr val="accent3"/>
                </a:solidFill>
                <a:latin typeface="Courier New" pitchFamily="34" charset="0"/>
                <a:ea typeface="Courier New" pitchFamily="34" charset="-122"/>
                <a:cs typeface="Courier New" pitchFamily="34" charset="-120"/>
              </a:rPr>
              <a:t>04</a:t>
            </a:r>
            <a:endParaRPr lang="en-US" sz="2000" dirty="0"/>
          </a:p>
        </p:txBody>
      </p:sp>
      <p:sp>
        <p:nvSpPr>
          <p:cNvPr id="25" name="Text 19"/>
          <p:cNvSpPr txBox="1"/>
          <p:nvPr/>
        </p:nvSpPr>
        <p:spPr>
          <a:xfrm>
            <a:off x="6958584" y="2194560"/>
            <a:ext cx="1463040" cy="1280160"/>
          </a:xfrm>
          <a:prstGeom prst="rect">
            <a:avLst/>
          </a:prstGeom>
          <a:noFill/>
          <a:ln/>
        </p:spPr>
        <p:txBody>
          <a:bodyPr wrap="square" lIns="0" tIns="0" rIns="0" bIns="0" rtlCol="0" anchor="t"/>
          <a:lstStyle/>
          <a:p>
            <a:pPr indent="0" marL="0">
              <a:buNone/>
            </a:pPr>
            <a:r>
              <a:rPr lang="en-US" sz="1400" dirty="0">
                <a:solidFill>
                  <a:schemeClr val="bg1"/>
                </a:solidFill>
              </a:rPr>
              <a:t>It emails the unannounced deal to a fund that can trade on it.</a:t>
            </a:r>
            <a:endParaRPr lang="en-US" sz="1400" dirty="0"/>
          </a:p>
        </p:txBody>
      </p:sp>
      <p:sp>
        <p:nvSpPr>
          <p:cNvPr id="26" name="punchline"/>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200" i="1" dirty="0">
                <a:solidFill>
                  <a:schemeClr val="bg1"/>
                </a:solidFill>
                <a:latin typeface="Cambria" pitchFamily="34" charset="0"/>
                <a:ea typeface="Cambria" pitchFamily="34" charset="-122"/>
                <a:cs typeface="Cambria" pitchFamily="34" charset="-120"/>
              </a:rPr>
              <a:t>Nobody hacked the bank. The agent did its job, </a:t>
            </a:r>
            <a:pPr indent="0" marL="0">
              <a:buNone/>
            </a:pPr>
            <a:r>
              <a:rPr lang="en-US" sz="2200" b="1" i="1" dirty="0">
                <a:solidFill>
                  <a:schemeClr val="accent1"/>
                </a:solidFill>
                <a:latin typeface="Cambria" pitchFamily="34" charset="0"/>
                <a:ea typeface="Cambria" pitchFamily="34" charset="-122"/>
                <a:cs typeface="Cambria" pitchFamily="34" charset="-120"/>
              </a:rPr>
              <a:t>for the wrong boss.</a:t>
            </a:r>
            <a:endParaRPr lang="en-US" sz="2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This is not hypothetical</a:t>
            </a:r>
            <a:endParaRPr lang="en-US" sz="3200" dirty="0"/>
          </a:p>
        </p:txBody>
      </p:sp>
      <p:sp>
        <p:nvSpPr>
          <p:cNvPr id="3" name="incident 1"/>
          <p:cNvSpPr/>
          <p:nvPr/>
        </p:nvSpPr>
        <p:spPr>
          <a:xfrm>
            <a:off x="548640" y="1280160"/>
            <a:ext cx="2560320" cy="2514600"/>
          </a:xfrm>
          <a:prstGeom prst="roundRect">
            <a:avLst>
              <a:gd name="adj" fmla="val 3636"/>
            </a:avLst>
          </a:prstGeom>
          <a:solidFill>
            <a:schemeClr val="bg2"/>
          </a:solidFill>
          <a:ln/>
        </p:spPr>
      </p:sp>
      <p:sp>
        <p:nvSpPr>
          <p:cNvPr id="4" name="Text 2"/>
          <p:cNvSpPr txBox="1"/>
          <p:nvPr/>
        </p:nvSpPr>
        <p:spPr>
          <a:xfrm>
            <a:off x="777240" y="1417320"/>
            <a:ext cx="2103120" cy="73152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9.4</a:t>
            </a:r>
            <a:endParaRPr lang="en-US" sz="4000" dirty="0"/>
          </a:p>
        </p:txBody>
      </p:sp>
      <p:sp>
        <p:nvSpPr>
          <p:cNvPr id="5" name="Text 3"/>
          <p:cNvSpPr txBox="1"/>
          <p:nvPr/>
        </p:nvSpPr>
        <p:spPr>
          <a:xfrm>
            <a:off x="777240" y="2194560"/>
            <a:ext cx="2103120" cy="457200"/>
          </a:xfrm>
          <a:prstGeom prst="rect">
            <a:avLst/>
          </a:prstGeom>
          <a:noFill/>
          <a:ln/>
        </p:spPr>
        <p:txBody>
          <a:bodyPr wrap="square" lIns="0" tIns="0" rIns="0" bIns="0" rtlCol="0" anchor="ctr"/>
          <a:lstStyle/>
          <a:p>
            <a:pPr indent="0" marL="0">
              <a:buNone/>
            </a:pPr>
            <a:r>
              <a:rPr lang="en-US" sz="1200" b="1" dirty="0">
                <a:solidFill>
                  <a:schemeClr val="tx1"/>
                </a:solidFill>
              </a:rPr>
              <a:t>ForcedLeak · Salesforce Agentforce, 2025</a:t>
            </a:r>
            <a:endParaRPr lang="en-US" sz="1200" dirty="0"/>
          </a:p>
        </p:txBody>
      </p:sp>
      <p:sp>
        <p:nvSpPr>
          <p:cNvPr id="6" name="Text 4"/>
          <p:cNvSpPr txBox="1"/>
          <p:nvPr/>
        </p:nvSpPr>
        <p:spPr>
          <a:xfrm>
            <a:off x="777240" y="2651760"/>
            <a:ext cx="2103120" cy="1051560"/>
          </a:xfrm>
          <a:prstGeom prst="rect">
            <a:avLst/>
          </a:prstGeom>
          <a:noFill/>
          <a:ln/>
        </p:spPr>
        <p:txBody>
          <a:bodyPr wrap="square" lIns="0" tIns="0" rIns="0" bIns="0" rtlCol="0" anchor="t"/>
          <a:lstStyle/>
          <a:p>
            <a:pPr indent="0" marL="0">
              <a:buNone/>
            </a:pPr>
            <a:r>
              <a:rPr lang="en-US" sz="1300" dirty="0">
                <a:solidFill>
                  <a:schemeClr val="tx2"/>
                </a:solidFill>
              </a:rPr>
              <a:t>A web form filled in by an outsider made the agent leak CRM data, via a $5 expired domain still on the allowlist.</a:t>
            </a:r>
            <a:endParaRPr lang="en-US" sz="1300" dirty="0"/>
          </a:p>
        </p:txBody>
      </p:sp>
      <p:sp>
        <p:nvSpPr>
          <p:cNvPr id="7" name="incident 2"/>
          <p:cNvSpPr/>
          <p:nvPr/>
        </p:nvSpPr>
        <p:spPr>
          <a:xfrm>
            <a:off x="3291840" y="1280160"/>
            <a:ext cx="2560320" cy="2514600"/>
          </a:xfrm>
          <a:prstGeom prst="roundRect">
            <a:avLst>
              <a:gd name="adj" fmla="val 3636"/>
            </a:avLst>
          </a:prstGeom>
          <a:solidFill>
            <a:schemeClr val="bg2"/>
          </a:solidFill>
          <a:ln/>
        </p:spPr>
      </p:sp>
      <p:sp>
        <p:nvSpPr>
          <p:cNvPr id="8" name="Text 6"/>
          <p:cNvSpPr txBox="1"/>
          <p:nvPr/>
        </p:nvSpPr>
        <p:spPr>
          <a:xfrm>
            <a:off x="3520440" y="1417320"/>
            <a:ext cx="2103120" cy="73152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0 clicks</a:t>
            </a:r>
            <a:endParaRPr lang="en-US" sz="4000" dirty="0"/>
          </a:p>
        </p:txBody>
      </p:sp>
      <p:sp>
        <p:nvSpPr>
          <p:cNvPr id="9" name="Text 7"/>
          <p:cNvSpPr txBox="1"/>
          <p:nvPr/>
        </p:nvSpPr>
        <p:spPr>
          <a:xfrm>
            <a:off x="3520440" y="2194560"/>
            <a:ext cx="2103120" cy="457200"/>
          </a:xfrm>
          <a:prstGeom prst="rect">
            <a:avLst/>
          </a:prstGeom>
          <a:noFill/>
          <a:ln/>
        </p:spPr>
        <p:txBody>
          <a:bodyPr wrap="square" lIns="0" tIns="0" rIns="0" bIns="0" rtlCol="0" anchor="ctr"/>
          <a:lstStyle/>
          <a:p>
            <a:pPr indent="0" marL="0">
              <a:buNone/>
            </a:pPr>
            <a:r>
              <a:rPr lang="en-US" sz="1200" b="1" dirty="0">
                <a:solidFill>
                  <a:schemeClr val="tx1"/>
                </a:solidFill>
              </a:rPr>
              <a:t>EchoLeak · Microsoft 365 Copilot, 2025</a:t>
            </a:r>
            <a:endParaRPr lang="en-US" sz="1200" dirty="0"/>
          </a:p>
        </p:txBody>
      </p:sp>
      <p:sp>
        <p:nvSpPr>
          <p:cNvPr id="10" name="Text 8"/>
          <p:cNvSpPr txBox="1"/>
          <p:nvPr/>
        </p:nvSpPr>
        <p:spPr>
          <a:xfrm>
            <a:off x="3520440" y="2651760"/>
            <a:ext cx="2103120" cy="1051560"/>
          </a:xfrm>
          <a:prstGeom prst="rect">
            <a:avLst/>
          </a:prstGeom>
          <a:noFill/>
          <a:ln/>
        </p:spPr>
        <p:txBody>
          <a:bodyPr wrap="square" lIns="0" tIns="0" rIns="0" bIns="0" rtlCol="0" anchor="t"/>
          <a:lstStyle/>
          <a:p>
            <a:pPr indent="0" marL="0">
              <a:buNone/>
            </a:pPr>
            <a:r>
              <a:rPr lang="en-US" sz="1300" dirty="0">
                <a:solidFill>
                  <a:schemeClr val="tx2"/>
                </a:solidFill>
              </a:rPr>
              <a:t>One email exfiltrated data without the user doing anything. The injection classifier missed it.</a:t>
            </a:r>
            <a:endParaRPr lang="en-US" sz="1300" dirty="0"/>
          </a:p>
        </p:txBody>
      </p:sp>
      <p:sp>
        <p:nvSpPr>
          <p:cNvPr id="11" name="incident 3"/>
          <p:cNvSpPr/>
          <p:nvPr/>
        </p:nvSpPr>
        <p:spPr>
          <a:xfrm>
            <a:off x="6035040" y="1280160"/>
            <a:ext cx="2560320" cy="2514600"/>
          </a:xfrm>
          <a:prstGeom prst="roundRect">
            <a:avLst>
              <a:gd name="adj" fmla="val 3636"/>
            </a:avLst>
          </a:prstGeom>
          <a:solidFill>
            <a:schemeClr val="bg2"/>
          </a:solidFill>
          <a:ln/>
        </p:spPr>
      </p:sp>
      <p:sp>
        <p:nvSpPr>
          <p:cNvPr id="12" name="Text 10"/>
          <p:cNvSpPr txBox="1"/>
          <p:nvPr/>
        </p:nvSpPr>
        <p:spPr>
          <a:xfrm>
            <a:off x="6263640" y="1417320"/>
            <a:ext cx="2103120" cy="73152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$36.3M</a:t>
            </a:r>
            <a:endParaRPr lang="en-US" sz="4000" dirty="0"/>
          </a:p>
        </p:txBody>
      </p:sp>
      <p:sp>
        <p:nvSpPr>
          <p:cNvPr id="13" name="Text 11"/>
          <p:cNvSpPr txBox="1"/>
          <p:nvPr/>
        </p:nvSpPr>
        <p:spPr>
          <a:xfrm>
            <a:off x="6263640" y="2194560"/>
            <a:ext cx="2103120" cy="457200"/>
          </a:xfrm>
          <a:prstGeom prst="rect">
            <a:avLst/>
          </a:prstGeom>
          <a:noFill/>
          <a:ln/>
        </p:spPr>
        <p:txBody>
          <a:bodyPr wrap="square" lIns="0" tIns="0" rIns="0" bIns="0" rtlCol="0" anchor="ctr"/>
          <a:lstStyle/>
          <a:p>
            <a:pPr indent="0" marL="0">
              <a:buNone/>
            </a:pPr>
            <a:r>
              <a:rPr lang="en-US" sz="1200" b="1" dirty="0">
                <a:solidFill>
                  <a:schemeClr val="tx1"/>
                </a:solidFill>
              </a:rPr>
              <a:t>Federal Reserve fine, 2016</a:t>
            </a:r>
            <a:endParaRPr lang="en-US" sz="1200" dirty="0"/>
          </a:p>
        </p:txBody>
      </p:sp>
      <p:sp>
        <p:nvSpPr>
          <p:cNvPr id="14" name="Text 12"/>
          <p:cNvSpPr txBox="1"/>
          <p:nvPr/>
        </p:nvSpPr>
        <p:spPr>
          <a:xfrm>
            <a:off x="6263640" y="2651760"/>
            <a:ext cx="2103120" cy="1051560"/>
          </a:xfrm>
          <a:prstGeom prst="rect">
            <a:avLst/>
          </a:prstGeom>
          <a:noFill/>
          <a:ln/>
        </p:spPr>
        <p:txBody>
          <a:bodyPr wrap="square" lIns="0" tIns="0" rIns="0" bIns="0" rtlCol="0" anchor="t"/>
          <a:lstStyle/>
          <a:p>
            <a:pPr indent="0" marL="0">
              <a:buNone/>
            </a:pPr>
            <a:r>
              <a:rPr lang="en-US" sz="1300" dirty="0">
                <a:solidFill>
                  <a:schemeClr val="tx2"/>
                </a:solidFill>
              </a:rPr>
              <a:t>Confidential supervisory information leaked across a barrier, at human speed. Agents run at machine speed.</a:t>
            </a:r>
            <a:endParaRPr lang="en-US" sz="1300" dirty="0"/>
          </a:p>
        </p:txBody>
      </p:sp>
      <p:sp>
        <p:nvSpPr>
          <p:cNvPr id="15" name="Text 13"/>
          <p:cNvSpPr txBox="1"/>
          <p:nvPr/>
        </p:nvSpPr>
        <p:spPr>
          <a:xfrm>
            <a:off x="548640" y="3977640"/>
            <a:ext cx="8046720" cy="457200"/>
          </a:xfrm>
          <a:prstGeom prst="rect">
            <a:avLst/>
          </a:prstGeom>
          <a:noFill/>
          <a:ln/>
        </p:spPr>
        <p:txBody>
          <a:bodyPr wrap="square" lIns="0" tIns="0" rIns="0" bIns="0" rtlCol="0" anchor="ctr"/>
          <a:lstStyle/>
          <a:p>
            <a:pPr indent="0" marL="0">
              <a:buNone/>
            </a:pPr>
            <a:r>
              <a:rPr lang="en-US" sz="1600" b="1" dirty="0">
                <a:solidFill>
                  <a:schemeClr val="tx1"/>
                </a:solidFill>
              </a:rPr>
              <a:t>Detection alone loses. </a:t>
            </a:r>
            <a:pPr indent="0" marL="0">
              <a:buNone/>
            </a:pPr>
            <a:r>
              <a:rPr lang="en-US" sz="1600" dirty="0">
                <a:solidFill>
                  <a:schemeClr val="tx2"/>
                </a:solidFill>
              </a:rPr>
              <a:t>Control where data can go, even when the model is fooled.</a:t>
            </a:r>
            <a:endParaRPr lang="en-US" sz="1600" dirty="0"/>
          </a:p>
        </p:txBody>
      </p:sp>
      <p:sp>
        <p:nvSpPr>
          <p:cNvPr id="16" name="Text 14"/>
          <p:cNvSpPr txBox="1"/>
          <p:nvPr/>
        </p:nvSpPr>
        <p:spPr>
          <a:xfrm>
            <a:off x="548640" y="4434840"/>
            <a:ext cx="8046720" cy="228600"/>
          </a:xfrm>
          <a:prstGeom prst="rect">
            <a:avLst/>
          </a:prstGeom>
          <a:noFill/>
          <a:ln/>
        </p:spPr>
        <p:txBody>
          <a:bodyPr wrap="square" lIns="0" tIns="0" rIns="0" bIns="0" rtlCol="0" anchor="ctr"/>
          <a:lstStyle/>
          <a:p>
            <a:pPr indent="0" marL="0">
              <a:buNone/>
            </a:pPr>
            <a:r>
              <a:rPr lang="en-US" sz="900" dirty="0">
                <a:solidFill>
                  <a:schemeClr val="accent5"/>
                </a:solidFill>
              </a:rPr>
              <a:t>Sources: CVE-2025-32711 (EchoLeak); Noma Security ForcedLeak disclosure (CVSS 9.4); Federal Reserve Board order, 2016.</a:t>
            </a:r>
            <a:endParaRPr lang="en-US" sz="9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Goldman's map: we build layers 3 and 4</a:t>
            </a:r>
            <a:endParaRPr lang="en-US" sz="3200" dirty="0"/>
          </a:p>
        </p:txBody>
      </p:sp>
      <p:sp>
        <p:nvSpPr>
          <p:cNvPr id="3" name="layer 1"/>
          <p:cNvSpPr/>
          <p:nvPr/>
        </p:nvSpPr>
        <p:spPr>
          <a:xfrm>
            <a:off x="548640" y="1280160"/>
            <a:ext cx="4023360" cy="640080"/>
          </a:xfrm>
          <a:prstGeom prst="roundRect">
            <a:avLst>
              <a:gd name="adj" fmla="val 11429"/>
            </a:avLst>
          </a:prstGeom>
          <a:solidFill>
            <a:schemeClr val="bg2"/>
          </a:solidFill>
          <a:ln/>
        </p:spPr>
      </p:sp>
      <p:sp>
        <p:nvSpPr>
          <p:cNvPr id="4" name="Text 2"/>
          <p:cNvSpPr txBox="1"/>
          <p:nvPr/>
        </p:nvSpPr>
        <p:spPr>
          <a:xfrm>
            <a:off x="731520" y="1280160"/>
            <a:ext cx="365760" cy="640080"/>
          </a:xfrm>
          <a:prstGeom prst="rect">
            <a:avLst/>
          </a:prstGeom>
          <a:noFill/>
          <a:ln/>
        </p:spPr>
        <p:txBody>
          <a:bodyPr wrap="square" lIns="0" tIns="0" rIns="0" bIns="0" rtlCol="0" anchor="ctr"/>
          <a:lstStyle/>
          <a:p>
            <a:pPr indent="0" marL="0">
              <a:buNone/>
            </a:pPr>
            <a:r>
              <a:rPr lang="en-US" sz="2200" b="1" dirty="0">
                <a:solidFill>
                  <a:schemeClr val="accent5"/>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143000" y="1280160"/>
            <a:ext cx="2377440" cy="640080"/>
          </a:xfrm>
          <a:prstGeom prst="rect">
            <a:avLst/>
          </a:prstGeom>
          <a:noFill/>
          <a:ln/>
        </p:spPr>
        <p:txBody>
          <a:bodyPr wrap="square" lIns="0" tIns="0" rIns="0" bIns="0" rtlCol="0" anchor="ctr"/>
          <a:lstStyle/>
          <a:p>
            <a:pPr indent="0" marL="0">
              <a:buNone/>
            </a:pPr>
            <a:r>
              <a:rPr lang="en-US" sz="1400" dirty="0">
                <a:solidFill>
                  <a:schemeClr val="tx1"/>
                </a:solidFill>
              </a:rPr>
              <a:t>Model testing and certification</a:t>
            </a:r>
            <a:endParaRPr lang="en-US" sz="1400" dirty="0"/>
          </a:p>
        </p:txBody>
      </p:sp>
      <p:sp>
        <p:nvSpPr>
          <p:cNvPr id="6" name="layer 2"/>
          <p:cNvSpPr/>
          <p:nvPr/>
        </p:nvSpPr>
        <p:spPr>
          <a:xfrm>
            <a:off x="548640" y="2057400"/>
            <a:ext cx="4023360" cy="640080"/>
          </a:xfrm>
          <a:prstGeom prst="roundRect">
            <a:avLst>
              <a:gd name="adj" fmla="val 11429"/>
            </a:avLst>
          </a:prstGeom>
          <a:solidFill>
            <a:schemeClr val="bg2"/>
          </a:solidFill>
          <a:ln/>
        </p:spPr>
      </p:sp>
      <p:sp>
        <p:nvSpPr>
          <p:cNvPr id="7" name="Text 5"/>
          <p:cNvSpPr txBox="1"/>
          <p:nvPr/>
        </p:nvSpPr>
        <p:spPr>
          <a:xfrm>
            <a:off x="731520" y="2057400"/>
            <a:ext cx="365760" cy="640080"/>
          </a:xfrm>
          <a:prstGeom prst="rect">
            <a:avLst/>
          </a:prstGeom>
          <a:noFill/>
          <a:ln/>
        </p:spPr>
        <p:txBody>
          <a:bodyPr wrap="square" lIns="0" tIns="0" rIns="0" bIns="0" rtlCol="0" anchor="ctr"/>
          <a:lstStyle/>
          <a:p>
            <a:pPr indent="0" marL="0">
              <a:buNone/>
            </a:pPr>
            <a:r>
              <a:rPr lang="en-US" sz="2200" b="1" dirty="0">
                <a:solidFill>
                  <a:schemeClr val="accent5"/>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143000" y="2057400"/>
            <a:ext cx="2377440" cy="640080"/>
          </a:xfrm>
          <a:prstGeom prst="rect">
            <a:avLst/>
          </a:prstGeom>
          <a:noFill/>
          <a:ln/>
        </p:spPr>
        <p:txBody>
          <a:bodyPr wrap="square" lIns="0" tIns="0" rIns="0" bIns="0" rtlCol="0" anchor="ctr"/>
          <a:lstStyle/>
          <a:p>
            <a:pPr indent="0" marL="0">
              <a:buNone/>
            </a:pPr>
            <a:r>
              <a:rPr lang="en-US" sz="1400" dirty="0">
                <a:solidFill>
                  <a:schemeClr val="tx1"/>
                </a:solidFill>
              </a:rPr>
              <a:t>Secure inference environments</a:t>
            </a:r>
            <a:endParaRPr lang="en-US" sz="1400" dirty="0"/>
          </a:p>
        </p:txBody>
      </p:sp>
      <p:sp>
        <p:nvSpPr>
          <p:cNvPr id="9" name="layer 3"/>
          <p:cNvSpPr/>
          <p:nvPr/>
        </p:nvSpPr>
        <p:spPr>
          <a:xfrm>
            <a:off x="548640" y="2834640"/>
            <a:ext cx="4023360" cy="640080"/>
          </a:xfrm>
          <a:prstGeom prst="roundRect">
            <a:avLst>
              <a:gd name="adj" fmla="val 11429"/>
            </a:avLst>
          </a:prstGeom>
          <a:solidFill>
            <a:schemeClr val="accent1"/>
          </a:solidFill>
          <a:ln/>
        </p:spPr>
      </p:sp>
      <p:sp>
        <p:nvSpPr>
          <p:cNvPr id="10" name="Text 8"/>
          <p:cNvSpPr txBox="1"/>
          <p:nvPr/>
        </p:nvSpPr>
        <p:spPr>
          <a:xfrm>
            <a:off x="731520" y="2834640"/>
            <a:ext cx="365760" cy="6400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143000" y="2834640"/>
            <a:ext cx="2377440" cy="640080"/>
          </a:xfrm>
          <a:prstGeom prst="rect">
            <a:avLst/>
          </a:prstGeom>
          <a:noFill/>
          <a:ln/>
        </p:spPr>
        <p:txBody>
          <a:bodyPr wrap="square" lIns="0" tIns="0" rIns="0" bIns="0" rtlCol="0" anchor="ctr"/>
          <a:lstStyle/>
          <a:p>
            <a:pPr indent="0" marL="0">
              <a:buNone/>
            </a:pPr>
            <a:r>
              <a:rPr lang="en-US" sz="1400" b="1" dirty="0">
                <a:solidFill>
                  <a:schemeClr val="tx1"/>
                </a:solidFill>
              </a:rPr>
              <a:t>Tightly monitored agent permissions</a:t>
            </a:r>
            <a:endParaRPr lang="en-US" sz="1400" dirty="0"/>
          </a:p>
        </p:txBody>
      </p:sp>
      <p:sp>
        <p:nvSpPr>
          <p:cNvPr id="12" name="Text 10"/>
          <p:cNvSpPr txBox="1"/>
          <p:nvPr/>
        </p:nvSpPr>
        <p:spPr>
          <a:xfrm>
            <a:off x="3520440" y="2834640"/>
            <a:ext cx="914400" cy="640080"/>
          </a:xfrm>
          <a:prstGeom prst="rect">
            <a:avLst/>
          </a:prstGeom>
          <a:noFill/>
          <a:ln/>
        </p:spPr>
        <p:txBody>
          <a:bodyPr wrap="square" lIns="0" tIns="0" rIns="0" bIns="0" rtlCol="0" anchor="ctr"/>
          <a:lstStyle/>
          <a:p>
            <a:pPr algn="r" indent="0" marL="0">
              <a:buNone/>
            </a:pPr>
            <a:r>
              <a:rPr lang="en-US" sz="1000" b="1" spc="100" kern="0" dirty="0">
                <a:solidFill>
                  <a:schemeClr val="tx1"/>
                </a:solidFill>
              </a:rPr>
              <a:t>FLOW GUARD</a:t>
            </a:r>
            <a:endParaRPr lang="en-US" sz="1000" dirty="0"/>
          </a:p>
        </p:txBody>
      </p:sp>
      <p:sp>
        <p:nvSpPr>
          <p:cNvPr id="13" name="layer 4"/>
          <p:cNvSpPr/>
          <p:nvPr/>
        </p:nvSpPr>
        <p:spPr>
          <a:xfrm>
            <a:off x="548640" y="3611880"/>
            <a:ext cx="4023360" cy="640080"/>
          </a:xfrm>
          <a:prstGeom prst="roundRect">
            <a:avLst>
              <a:gd name="adj" fmla="val 11429"/>
            </a:avLst>
          </a:prstGeom>
          <a:solidFill>
            <a:schemeClr val="accent1"/>
          </a:solidFill>
          <a:ln/>
        </p:spPr>
      </p:sp>
      <p:sp>
        <p:nvSpPr>
          <p:cNvPr id="14" name="Text 12"/>
          <p:cNvSpPr txBox="1"/>
          <p:nvPr/>
        </p:nvSpPr>
        <p:spPr>
          <a:xfrm>
            <a:off x="731520" y="3611880"/>
            <a:ext cx="365760" cy="6400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4</a:t>
            </a:r>
            <a:endParaRPr lang="en-US" sz="2200" dirty="0"/>
          </a:p>
        </p:txBody>
      </p:sp>
      <p:sp>
        <p:nvSpPr>
          <p:cNvPr id="15" name="Text 13"/>
          <p:cNvSpPr txBox="1"/>
          <p:nvPr/>
        </p:nvSpPr>
        <p:spPr>
          <a:xfrm>
            <a:off x="1143000" y="3611880"/>
            <a:ext cx="2377440" cy="640080"/>
          </a:xfrm>
          <a:prstGeom prst="rect">
            <a:avLst/>
          </a:prstGeom>
          <a:noFill/>
          <a:ln/>
        </p:spPr>
        <p:txBody>
          <a:bodyPr wrap="square" lIns="0" tIns="0" rIns="0" bIns="0" rtlCol="0" anchor="ctr"/>
          <a:lstStyle/>
          <a:p>
            <a:pPr indent="0" marL="0">
              <a:buNone/>
            </a:pPr>
            <a:r>
              <a:rPr lang="en-US" sz="1400" b="1" dirty="0">
                <a:solidFill>
                  <a:schemeClr val="tx1"/>
                </a:solidFill>
              </a:rPr>
              <a:t>Controlled access to enterprise data</a:t>
            </a:r>
            <a:endParaRPr lang="en-US" sz="1400" dirty="0"/>
          </a:p>
        </p:txBody>
      </p:sp>
      <p:sp>
        <p:nvSpPr>
          <p:cNvPr id="16" name="Text 14"/>
          <p:cNvSpPr txBox="1"/>
          <p:nvPr/>
        </p:nvSpPr>
        <p:spPr>
          <a:xfrm>
            <a:off x="3520440" y="3611880"/>
            <a:ext cx="914400" cy="640080"/>
          </a:xfrm>
          <a:prstGeom prst="rect">
            <a:avLst/>
          </a:prstGeom>
          <a:noFill/>
          <a:ln/>
        </p:spPr>
        <p:txBody>
          <a:bodyPr wrap="square" lIns="0" tIns="0" rIns="0" bIns="0" rtlCol="0" anchor="ctr"/>
          <a:lstStyle/>
          <a:p>
            <a:pPr algn="r" indent="0" marL="0">
              <a:buNone/>
            </a:pPr>
            <a:r>
              <a:rPr lang="en-US" sz="1000" b="1" spc="100" kern="0" dirty="0">
                <a:solidFill>
                  <a:schemeClr val="tx1"/>
                </a:solidFill>
              </a:rPr>
              <a:t>FLOW GUARD</a:t>
            </a:r>
            <a:endParaRPr lang="en-US" sz="1000" dirty="0"/>
          </a:p>
        </p:txBody>
      </p:sp>
      <p:sp>
        <p:nvSpPr>
          <p:cNvPr id="17" name="Text 15"/>
          <p:cNvSpPr txBox="1"/>
          <p:nvPr/>
        </p:nvSpPr>
        <p:spPr>
          <a:xfrm>
            <a:off x="4937760" y="1280160"/>
            <a:ext cx="3657600" cy="640080"/>
          </a:xfrm>
          <a:prstGeom prst="rect">
            <a:avLst/>
          </a:prstGeom>
          <a:noFill/>
          <a:ln/>
        </p:spPr>
        <p:txBody>
          <a:bodyPr wrap="square" lIns="0" tIns="0" rIns="0" bIns="0" rtlCol="0" anchor="t"/>
          <a:lstStyle/>
          <a:p>
            <a:pPr indent="0" marL="0">
              <a:buNone/>
            </a:pPr>
            <a:r>
              <a:rPr lang="en-US" sz="1800" b="1" i="1" dirty="0">
                <a:solidFill>
                  <a:schemeClr val="tx1"/>
                </a:solidFill>
                <a:latin typeface="Cambria" pitchFamily="34" charset="0"/>
                <a:ea typeface="Cambria" pitchFamily="34" charset="-122"/>
                <a:cs typeface="Cambria" pitchFamily="34" charset="-120"/>
              </a:rPr>
              <a:t>Zero trust: assume the model may be compromised.</a:t>
            </a:r>
            <a:endParaRPr lang="en-US" sz="1800" dirty="0"/>
          </a:p>
        </p:txBody>
      </p:sp>
      <p:sp>
        <p:nvSpPr>
          <p:cNvPr id="18" name="Text 16"/>
          <p:cNvSpPr txBox="1"/>
          <p:nvPr/>
        </p:nvSpPr>
        <p:spPr>
          <a:xfrm>
            <a:off x="4937760" y="2011680"/>
            <a:ext cx="365760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Live: a central multi-model assistant; data access through a platform that enforces entitlements.</a:t>
            </a:r>
            <a:endParaRPr lang="en-US" sz="1400" dirty="0"/>
          </a:p>
          <a:p>
            <a:pPr marL="342900" indent="-342900">
              <a:spcAft>
                <a:spcPts val="600"/>
              </a:spcAft>
              <a:buSzPct val="100000"/>
              <a:buChar char="•"/>
            </a:pPr>
            <a:r>
              <a:rPr lang="en-US" sz="1400" dirty="0">
                <a:solidFill>
                  <a:schemeClr val="tx2"/>
                </a:solidFill>
              </a:rPr>
              <a:t>Live: agents on onboarding and KYC, reading passports.</a:t>
            </a:r>
            <a:endParaRPr lang="en-US" sz="1400" dirty="0"/>
          </a:p>
          <a:p>
            <a:pPr marL="342900" indent="-342900">
              <a:spcAft>
                <a:spcPts val="600"/>
              </a:spcAft>
              <a:buSzPct val="100000"/>
              <a:buChar char="•"/>
            </a:pPr>
            <a:r>
              <a:rPr lang="en-US" sz="1400" dirty="0">
                <a:solidFill>
                  <a:schemeClr val="tx2"/>
                </a:solidFill>
              </a:rPr>
              <a:t>Open, in their own words: which controls agents need.</a:t>
            </a:r>
            <a:endParaRPr lang="en-US" sz="1400" dirty="0"/>
          </a:p>
        </p:txBody>
      </p:sp>
      <p:sp>
        <p:nvSpPr>
          <p:cNvPr id="19" name="Text 17"/>
          <p:cNvSpPr txBox="1"/>
          <p:nvPr/>
        </p:nvSpPr>
        <p:spPr>
          <a:xfrm>
            <a:off x="4937760" y="3931920"/>
            <a:ext cx="3657600" cy="457200"/>
          </a:xfrm>
          <a:prstGeom prst="rect">
            <a:avLst/>
          </a:prstGeom>
          <a:noFill/>
          <a:ln/>
        </p:spPr>
        <p:txBody>
          <a:bodyPr wrap="square" lIns="0" tIns="0" rIns="0" bIns="0" rtlCol="0" anchor="ctr"/>
          <a:lstStyle/>
          <a:p>
            <a:pPr indent="0" marL="0">
              <a:buNone/>
            </a:pPr>
            <a:r>
              <a:rPr lang="en-US" sz="1600" b="1" dirty="0">
                <a:solidFill>
                  <a:schemeClr val="tx1"/>
                </a:solidFill>
              </a:rPr>
              <a:t>We extend what exists. We replace nothing.</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Others guard the prompt. We guard the flow</a:t>
            </a:r>
            <a:endParaRPr lang="en-US" sz="3200" dirty="0"/>
          </a:p>
        </p:txBody>
      </p:sp>
      <p:graphicFrame>
        <p:nvGraphicFramePr>
          <p:cNvPr id="6" name="comparison"/>
          <p:cNvGraphicFramePr>
            <a:graphicFrameLocks noGrp="1"/>
          </p:cNvGraphicFramePr>
          <p:nvPr>
            <p:extLst>
              <p:ext uri="{D42A27DB-BD31-4B8C-83A1-F6EECF244321}">
                <p14:modId xmlns:p14="http://schemas.microsoft.com/office/powerpoint/2010/main" val="1579011935"/>
              </p:ext>
            </p:extLst>
          </p:nvPr>
        </p:nvGraphicFramePr>
        <p:xfrm>
          <a:off x="548640" y="1234440"/>
          <a:ext cx="8046720" cy="914400"/>
        </p:xfrm>
        <a:graphic>
          <a:graphicData uri="http://schemas.openxmlformats.org/drawingml/2006/table">
            <a:tbl>
              <a:tblPr/>
              <a:tblGrid>
                <a:gridCol w="1920240"/>
                <a:gridCol w="2651760"/>
                <a:gridCol w="3474720"/>
              </a:tblGrid>
              <a:tr h="384048">
                <a:tc>
                  <a:txBody>
                    <a:bodyPr/>
                    <a:lstStyle/>
                    <a:p>
                      <a:pPr indent="0" marL="0">
                        <a:buNone/>
                      </a:pPr>
                      <a:r>
                        <a:rPr lang="en-US" sz="1400" b="1" dirty="0">
                          <a:solidFill>
                            <a:schemeClr val="bg1"/>
                          </a:solidFill>
                        </a:rPr>
                        <a:t>Approach</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Its bet</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Where it breaks</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1"/>
                    </a:solidFill>
                  </a:tcPr>
                </a:tc>
              </a:tr>
              <a:tr h="512064">
                <a:tc>
                  <a:txBody>
                    <a:bodyPr/>
                    <a:lstStyle/>
                    <a:p>
                      <a:pPr indent="0" marL="0">
                        <a:buNone/>
                      </a:pPr>
                      <a:r>
                        <a:rPr lang="en-US" sz="1400" b="1" dirty="0">
                          <a:solidFill>
                            <a:schemeClr val="tx1"/>
                          </a:solidFill>
                        </a:rPr>
                        <a:t>Prompt guardrails</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400" i="1" dirty="0">
                          <a:solidFill>
                            <a:schemeClr val="tx2"/>
                          </a:solidFill>
                        </a:rPr>
                        <a:t>We will spot the bad prompt</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Attacks mutate. EchoLeak walked past a classifier.</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Blanket masking / DLP</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400" i="1" dirty="0">
                          <a:solidFill>
                            <a:schemeClr val="tx2"/>
                          </a:solidFill>
                        </a:rPr>
                        <a:t>Hide every sensitive value</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Breaks the job: KYC needs the real passport.</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AI gateways</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400" i="1" dirty="0">
                          <a:solidFill>
                            <a:schemeClr val="tx2"/>
                          </a:solidFill>
                        </a:rPr>
                        <a:t>Route, rate-limit, bill</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See tokens and cost, not where client data ends up.</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Model hardening</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400" i="1" dirty="0">
                          <a:solidFill>
                            <a:schemeClr val="tx2"/>
                          </a:solidFill>
                        </a:rPr>
                        <a:t>Trust a well-trained model</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Zero trust says: assume it is compromised.</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Flow Guard</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accent1"/>
                    </a:solidFill>
                  </a:tcPr>
                </a:tc>
                <a:tc>
                  <a:txBody>
                    <a:bodyPr/>
                    <a:lstStyle/>
                    <a:p>
                      <a:pPr indent="0" marL="0">
                        <a:buNone/>
                      </a:pPr>
                      <a:r>
                        <a:rPr lang="en-US" sz="1400" b="1" i="1" dirty="0">
                          <a:solidFill>
                            <a:schemeClr val="tx1"/>
                          </a:solidFill>
                        </a:rPr>
                        <a:t>Assume compromise. Control every flow.</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tx1"/>
                          </a:solidFill>
                        </a:rPr>
                        <a:t>Real data reaches only the tools policy allows.</a:t>
                      </a:r>
                      <a:endParaRPr lang="en-US" sz="14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accent1"/>
                    </a:solidFill>
                  </a:tcPr>
                </a:tc>
              </a:tr>
            </a:tbl>
          </a:graphicData>
        </a:graphic>
      </p:graphicFrame>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Don't stop the data. Stop where it goes</a:t>
            </a:r>
            <a:endParaRPr lang="en-US" sz="3200" dirty="0"/>
          </a:p>
        </p:txBody>
      </p:sp>
      <p:sp>
        <p:nvSpPr>
          <p:cNvPr id="3" name="Text 1"/>
          <p:cNvSpPr txBox="1"/>
          <p:nvPr/>
        </p:nvSpPr>
        <p:spPr>
          <a:xfrm>
            <a:off x="548640" y="2057400"/>
            <a:ext cx="1737360" cy="274320"/>
          </a:xfrm>
          <a:prstGeom prst="rect">
            <a:avLst/>
          </a:prstGeom>
          <a:noFill/>
          <a:ln/>
        </p:spPr>
        <p:txBody>
          <a:bodyPr wrap="square" lIns="0" tIns="0" rIns="0" bIns="0" rtlCol="0" anchor="ctr"/>
          <a:lstStyle/>
          <a:p>
            <a:pPr algn="ctr" indent="0" marL="0">
              <a:buNone/>
            </a:pPr>
            <a:r>
              <a:rPr lang="en-US" sz="1100" dirty="0">
                <a:solidFill>
                  <a:schemeClr val="accent5"/>
                </a:solidFill>
              </a:rPr>
              <a:t>client document</a:t>
            </a:r>
            <a:endParaRPr lang="en-US" sz="1100" dirty="0"/>
          </a:p>
        </p:txBody>
      </p:sp>
      <p:sp>
        <p:nvSpPr>
          <p:cNvPr id="4" name="raw passport"/>
          <p:cNvSpPr/>
          <p:nvPr/>
        </p:nvSpPr>
        <p:spPr>
          <a:xfrm>
            <a:off x="548640" y="2377440"/>
            <a:ext cx="1737360" cy="548640"/>
          </a:xfrm>
          <a:prstGeom prst="roundRect">
            <a:avLst>
              <a:gd name="adj" fmla="val 50000"/>
            </a:avLst>
          </a:prstGeom>
          <a:solidFill>
            <a:schemeClr val="tx2"/>
          </a:solidFill>
          <a:ln w="19050">
            <a:solidFill>
              <a:schemeClr val="accent3"/>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C01X00T47</a:t>
            </a:r>
            <a:endParaRPr lang="en-US" sz="1400" dirty="0"/>
          </a:p>
        </p:txBody>
      </p:sp>
      <p:sp>
        <p:nvSpPr>
          <p:cNvPr id="5" name="Shape 3"/>
          <p:cNvSpPr/>
          <p:nvPr/>
        </p:nvSpPr>
        <p:spPr>
          <a:xfrm>
            <a:off x="2331720" y="2651760"/>
            <a:ext cx="365760" cy="0"/>
          </a:xfrm>
          <a:prstGeom prst="line">
            <a:avLst/>
          </a:prstGeom>
          <a:noFill/>
          <a:ln w="25400">
            <a:solidFill>
              <a:schemeClr val="accent5"/>
            </a:solidFill>
            <a:prstDash val="solid"/>
            <a:tailEnd type="triangle"/>
          </a:ln>
        </p:spPr>
      </p:sp>
      <p:sp>
        <p:nvSpPr>
          <p:cNvPr id="6" name="flow guard"/>
          <p:cNvSpPr/>
          <p:nvPr/>
        </p:nvSpPr>
        <p:spPr>
          <a:xfrm>
            <a:off x="2743200" y="2194560"/>
            <a:ext cx="914400" cy="9144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2971800" y="2423160"/>
            <a:ext cx="457200" cy="457200"/>
          </a:xfrm>
          <a:prstGeom prst="rect">
            <a:avLst/>
          </a:prstGeom>
        </p:spPr>
      </p:pic>
      <p:sp>
        <p:nvSpPr>
          <p:cNvPr id="8" name="Shape 5"/>
          <p:cNvSpPr/>
          <p:nvPr/>
        </p:nvSpPr>
        <p:spPr>
          <a:xfrm>
            <a:off x="3703320" y="2651760"/>
            <a:ext cx="365760" cy="0"/>
          </a:xfrm>
          <a:prstGeom prst="line">
            <a:avLst/>
          </a:prstGeom>
          <a:noFill/>
          <a:ln w="25400">
            <a:solidFill>
              <a:schemeClr val="accent5"/>
            </a:solidFill>
            <a:prstDash val="solid"/>
            <a:tailEnd type="triangle"/>
          </a:ln>
        </p:spPr>
      </p:sp>
      <p:sp>
        <p:nvSpPr>
          <p:cNvPr id="9" name="Text 6"/>
          <p:cNvSpPr txBox="1"/>
          <p:nvPr/>
        </p:nvSpPr>
        <p:spPr>
          <a:xfrm>
            <a:off x="4114800" y="2057400"/>
            <a:ext cx="2194560" cy="274320"/>
          </a:xfrm>
          <a:prstGeom prst="rect">
            <a:avLst/>
          </a:prstGeom>
          <a:noFill/>
          <a:ln/>
        </p:spPr>
        <p:txBody>
          <a:bodyPr wrap="square" lIns="0" tIns="0" rIns="0" bIns="0" rtlCol="0" anchor="ctr"/>
          <a:lstStyle/>
          <a:p>
            <a:pPr algn="ctr" indent="0" marL="0">
              <a:buNone/>
            </a:pPr>
            <a:r>
              <a:rPr lang="en-US" sz="1100" dirty="0">
                <a:solidFill>
                  <a:schemeClr val="accent5"/>
                </a:solidFill>
              </a:rPr>
              <a:t>what the model sees</a:t>
            </a:r>
            <a:endParaRPr lang="en-US" sz="1100" dirty="0"/>
          </a:p>
        </p:txBody>
      </p:sp>
      <p:sp>
        <p:nvSpPr>
          <p:cNvPr id="10" name="token"/>
          <p:cNvSpPr/>
          <p:nvPr/>
        </p:nvSpPr>
        <p:spPr>
          <a:xfrm>
            <a:off x="4114800" y="2377440"/>
            <a:ext cx="2194560" cy="548640"/>
          </a:xfrm>
          <a:prstGeom prst="roundRect">
            <a:avLst>
              <a:gd name="adj" fmla="val 50000"/>
            </a:avLst>
          </a:prstGeom>
          <a:solidFill>
            <a:schemeClr val="tx2"/>
          </a:solidFill>
          <a:ln w="19050">
            <a:solidFill>
              <a:schemeClr val="accent1"/>
            </a:solidFill>
          </a:ln>
        </p:spPr>
        <p:txBody>
          <a:bodyPr wrap="square" lIns="0" tIns="0" rIns="0" bIns="0" rtlCol="0" anchor="ctr"/>
          <a:lstStyle/>
          <a:p>
            <a:pPr algn="ctr" indent="0" marL="0">
              <a:buNone/>
            </a:pPr>
            <a:r>
              <a:rPr lang="en-US" sz="1300" b="1" dirty="0">
                <a:solidFill>
                  <a:schemeClr val="accent1"/>
                </a:solidFill>
                <a:latin typeface="Courier New" pitchFamily="34" charset="0"/>
                <a:ea typeface="Courier New" pitchFamily="34" charset="-122"/>
                <a:cs typeface="Courier New" pitchFamily="34" charset="-120"/>
              </a:rPr>
              <a:t>[[PASSPORT#7c21e4]]</a:t>
            </a:r>
            <a:endParaRPr lang="en-US" sz="1300" dirty="0"/>
          </a:p>
        </p:txBody>
      </p:sp>
      <p:sp>
        <p:nvSpPr>
          <p:cNvPr id="11" name="Shape 8"/>
          <p:cNvSpPr/>
          <p:nvPr/>
        </p:nvSpPr>
        <p:spPr>
          <a:xfrm flipV="1">
            <a:off x="6355080" y="1645920"/>
            <a:ext cx="411480" cy="731520"/>
          </a:xfrm>
          <a:prstGeom prst="line">
            <a:avLst/>
          </a:prstGeom>
          <a:noFill/>
          <a:ln w="25400">
            <a:solidFill>
              <a:schemeClr val="accent2"/>
            </a:solidFill>
            <a:prstDash val="solid"/>
            <a:tailEnd type="triangle"/>
          </a:ln>
        </p:spPr>
      </p:sp>
      <p:sp>
        <p:nvSpPr>
          <p:cNvPr id="12" name="Shape 9"/>
          <p:cNvSpPr/>
          <p:nvPr/>
        </p:nvSpPr>
        <p:spPr>
          <a:xfrm>
            <a:off x="6355080" y="2926080"/>
            <a:ext cx="411480" cy="731520"/>
          </a:xfrm>
          <a:prstGeom prst="line">
            <a:avLst/>
          </a:prstGeom>
          <a:noFill/>
          <a:ln w="25400">
            <a:solidFill>
              <a:schemeClr val="accent3"/>
            </a:solidFill>
            <a:prstDash val="solid"/>
            <a:tailEnd type="triangle"/>
          </a:ln>
        </p:spPr>
      </p:sp>
      <p:sp>
        <p:nvSpPr>
          <p:cNvPr id="13" name="allowed sink"/>
          <p:cNvSpPr/>
          <p:nvPr/>
        </p:nvSpPr>
        <p:spPr>
          <a:xfrm>
            <a:off x="6812280" y="1325880"/>
            <a:ext cx="1783080" cy="502920"/>
          </a:xfrm>
          <a:prstGeom prst="roundRect">
            <a:avLst>
              <a:gd name="adj" fmla="val 54545"/>
            </a:avLst>
          </a:prstGeom>
          <a:solidFill>
            <a:schemeClr val="tx2"/>
          </a:solidFill>
          <a:ln w="19050">
            <a:solidFill>
              <a:schemeClr val="accent2"/>
            </a:solidFill>
          </a:ln>
        </p:spPr>
        <p:txBody>
          <a:bodyPr wrap="square" lIns="0" tIns="0" rIns="0" bIns="0" rtlCol="0" anchor="ctr"/>
          <a:lstStyle/>
          <a:p>
            <a:pPr algn="ctr" indent="0" marL="0">
              <a:buNone/>
            </a:pPr>
            <a:r>
              <a:rPr lang="en-US" sz="1300" b="1" dirty="0">
                <a:solidFill>
                  <a:schemeClr val="accent2"/>
                </a:solidFill>
                <a:latin typeface="Courier New" pitchFamily="34" charset="0"/>
                <a:ea typeface="Courier New" pitchFamily="34" charset="-122"/>
                <a:cs typeface="Courier New" pitchFamily="34" charset="-120"/>
              </a:rPr>
              <a:t>screen_sanctions</a:t>
            </a:r>
            <a:endParaRPr lang="en-US" sz="1300" dirty="0"/>
          </a:p>
        </p:txBody>
      </p:sp>
      <p:sp>
        <p:nvSpPr>
          <p:cNvPr id="14" name="Text 11"/>
          <p:cNvSpPr txBox="1"/>
          <p:nvPr/>
        </p:nvSpPr>
        <p:spPr>
          <a:xfrm>
            <a:off x="6812280" y="1874520"/>
            <a:ext cx="1783080" cy="274320"/>
          </a:xfrm>
          <a:prstGeom prst="rect">
            <a:avLst/>
          </a:prstGeom>
          <a:noFill/>
          <a:ln/>
        </p:spPr>
        <p:txBody>
          <a:bodyPr wrap="square" lIns="0" tIns="0" rIns="0" bIns="0" rtlCol="0" anchor="ctr"/>
          <a:lstStyle/>
          <a:p>
            <a:pPr algn="ctr" indent="0" marL="0">
              <a:buNone/>
            </a:pPr>
            <a:r>
              <a:rPr lang="en-US" sz="1200" dirty="0">
                <a:solidFill>
                  <a:schemeClr val="accent2"/>
                </a:solidFill>
              </a:rPr>
              <a:t>real value put back</a:t>
            </a:r>
            <a:endParaRPr lang="en-US" sz="1200" dirty="0"/>
          </a:p>
        </p:txBody>
      </p:sp>
      <p:sp>
        <p:nvSpPr>
          <p:cNvPr id="15" name="blocked sink"/>
          <p:cNvSpPr/>
          <p:nvPr/>
        </p:nvSpPr>
        <p:spPr>
          <a:xfrm>
            <a:off x="6812280" y="3429000"/>
            <a:ext cx="1783080" cy="502920"/>
          </a:xfrm>
          <a:prstGeom prst="roundRect">
            <a:avLst>
              <a:gd name="adj" fmla="val 54545"/>
            </a:avLst>
          </a:prstGeom>
          <a:solidFill>
            <a:schemeClr val="tx2"/>
          </a:solidFill>
          <a:ln w="19050">
            <a:solidFill>
              <a:schemeClr val="accent3"/>
            </a:solidFill>
          </a:ln>
        </p:spPr>
        <p:txBody>
          <a:bodyPr wrap="square" lIns="0" tIns="0" rIns="0" bIns="0" rtlCol="0" anchor="ctr"/>
          <a:lstStyle/>
          <a:p>
            <a:pPr algn="ctr" indent="0" marL="0">
              <a:buNone/>
            </a:pPr>
            <a:r>
              <a:rPr lang="en-US" sz="1300" b="1" dirty="0">
                <a:solidFill>
                  <a:schemeClr val="accent3"/>
                </a:solidFill>
                <a:latin typeface="Courier New" pitchFamily="34" charset="0"/>
                <a:ea typeface="Courier New" pitchFamily="34" charset="-122"/>
                <a:cs typeface="Courier New" pitchFamily="34" charset="-120"/>
              </a:rPr>
              <a:t>send_email</a:t>
            </a:r>
            <a:endParaRPr lang="en-US" sz="1300" dirty="0"/>
          </a:p>
        </p:txBody>
      </p:sp>
      <p:sp>
        <p:nvSpPr>
          <p:cNvPr id="16" name="Text 13"/>
          <p:cNvSpPr txBox="1"/>
          <p:nvPr/>
        </p:nvSpPr>
        <p:spPr>
          <a:xfrm>
            <a:off x="6812280" y="3977640"/>
            <a:ext cx="1783080" cy="274320"/>
          </a:xfrm>
          <a:prstGeom prst="rect">
            <a:avLst/>
          </a:prstGeom>
          <a:noFill/>
          <a:ln/>
        </p:spPr>
        <p:txBody>
          <a:bodyPr wrap="square" lIns="0" tIns="0" rIns="0" bIns="0" rtlCol="0" anchor="ctr"/>
          <a:lstStyle/>
          <a:p>
            <a:pPr algn="ctr" indent="0" marL="0">
              <a:buNone/>
            </a:pPr>
            <a:r>
              <a:rPr lang="en-US" sz="1200" dirty="0">
                <a:solidFill>
                  <a:schemeClr val="accent3"/>
                </a:solidFill>
              </a:rPr>
              <a:t>call dropped, logged</a:t>
            </a:r>
            <a:endParaRPr lang="en-US" sz="1200" dirty="0"/>
          </a:p>
        </p:txBody>
      </p:sp>
      <p:sp>
        <p:nvSpPr>
          <p:cNvPr id="17" name="Text 14"/>
          <p:cNvSpPr txBox="1"/>
          <p:nvPr/>
        </p:nvSpPr>
        <p:spPr>
          <a:xfrm>
            <a:off x="548640" y="3291840"/>
            <a:ext cx="5394960" cy="822960"/>
          </a:xfrm>
          <a:prstGeom prst="rect">
            <a:avLst/>
          </a:prstGeom>
          <a:noFill/>
          <a:ln/>
        </p:spPr>
        <p:txBody>
          <a:bodyPr wrap="square" lIns="0" tIns="0" rIns="0" bIns="0" rtlCol="0" anchor="t"/>
          <a:lstStyle/>
          <a:p>
            <a:pPr indent="0" marL="0">
              <a:buNone/>
            </a:pPr>
            <a:r>
              <a:rPr lang="en-US" sz="1500" dirty="0">
                <a:solidFill>
                  <a:schemeClr val="bg1"/>
                </a:solidFill>
              </a:rPr>
              <a:t>The model reasons over a label. The real value comes back only at sinks the policy allows, so a fooled model has nothing to leak.</a:t>
            </a:r>
            <a:endParaRPr lang="en-US" sz="15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One engine, every door</a:t>
            </a:r>
            <a:endParaRPr lang="en-US" sz="3200" dirty="0"/>
          </a:p>
        </p:txBody>
      </p:sp>
      <p:sp>
        <p:nvSpPr>
          <p:cNvPr id="3" name="agent"/>
          <p:cNvSpPr/>
          <p:nvPr/>
        </p:nvSpPr>
        <p:spPr>
          <a:xfrm>
            <a:off x="548640" y="1325880"/>
            <a:ext cx="1554480" cy="1463040"/>
          </a:xfrm>
          <a:prstGeom prst="roundRect">
            <a:avLst>
              <a:gd name="adj" fmla="val 6250"/>
            </a:avLst>
          </a:prstGeom>
          <a:solidFill>
            <a:schemeClr val="bg2"/>
          </a:solidFill>
          <a:ln/>
        </p:spPr>
      </p:sp>
      <p:sp>
        <p:nvSpPr>
          <p:cNvPr id="4" name="Text 2"/>
          <p:cNvSpPr txBox="1"/>
          <p:nvPr/>
        </p:nvSpPr>
        <p:spPr>
          <a:xfrm>
            <a:off x="548640" y="2011680"/>
            <a:ext cx="1554480" cy="320040"/>
          </a:xfrm>
          <a:prstGeom prst="rect">
            <a:avLst/>
          </a:prstGeom>
          <a:noFill/>
          <a:ln/>
        </p:spPr>
        <p:txBody>
          <a:bodyPr wrap="square" lIns="0" tIns="0" rIns="0" bIns="0" rtlCol="0" anchor="ctr"/>
          <a:lstStyle/>
          <a:p>
            <a:pPr algn="ctr" indent="0" marL="0">
              <a:buNone/>
            </a:pPr>
            <a:r>
              <a:rPr lang="en-US" sz="1500" b="1" dirty="0">
                <a:solidFill>
                  <a:schemeClr val="tx1"/>
                </a:solidFill>
              </a:rPr>
              <a:t>AI agent</a:t>
            </a:r>
            <a:endParaRPr lang="en-US" sz="1500" dirty="0"/>
          </a:p>
        </p:txBody>
      </p:sp>
      <p:sp>
        <p:nvSpPr>
          <p:cNvPr id="5" name="Text 3"/>
          <p:cNvSpPr txBox="1"/>
          <p:nvPr/>
        </p:nvSpPr>
        <p:spPr>
          <a:xfrm>
            <a:off x="640080" y="2331720"/>
            <a:ext cx="1371600" cy="365760"/>
          </a:xfrm>
          <a:prstGeom prst="rect">
            <a:avLst/>
          </a:prstGeom>
          <a:noFill/>
          <a:ln/>
        </p:spPr>
        <p:txBody>
          <a:bodyPr wrap="square" lIns="0" tIns="0" rIns="0" bIns="0" rtlCol="0" anchor="ctr"/>
          <a:lstStyle/>
          <a:p>
            <a:pPr algn="ctr" indent="0" marL="0">
              <a:buNone/>
            </a:pPr>
            <a:r>
              <a:rPr lang="en-US" sz="1100" dirty="0">
                <a:solidFill>
                  <a:schemeClr val="tx2"/>
                </a:solidFill>
              </a:rPr>
              <a:t>any OpenAI-style client</a:t>
            </a:r>
            <a:endParaRPr lang="en-US" sz="1100" dirty="0"/>
          </a:p>
        </p:txBody>
      </p:sp>
      <p:sp>
        <p:nvSpPr>
          <p:cNvPr id="6" name="agent icon"/>
          <p:cNvSpPr/>
          <p:nvPr/>
        </p:nvSpPr>
        <p:spPr>
          <a:xfrm>
            <a:off x="1078992" y="1490472"/>
            <a:ext cx="493776" cy="493776"/>
          </a:xfrm>
          <a:prstGeom prst="ellipse">
            <a:avLst/>
          </a:prstGeom>
          <a:solidFill>
            <a:schemeClr val="tx1"/>
          </a:solidFill>
          <a:ln/>
        </p:spPr>
      </p:sp>
      <p:pic>
        <p:nvPicPr>
          <p:cNvPr id="7" name="Image 0" descr="preencoded.png">    </p:cNvPr>
          <p:cNvPicPr>
            <a:picLocks noChangeAspect="1"/>
          </p:cNvPicPr>
          <p:nvPr/>
        </p:nvPicPr>
        <p:blipFill>
          <a:blip r:embed="rId1"/>
          <a:stretch>
            <a:fillRect/>
          </a:stretch>
        </p:blipFill>
        <p:spPr>
          <a:xfrm>
            <a:off x="1202436" y="1613916"/>
            <a:ext cx="246888" cy="246888"/>
          </a:xfrm>
          <a:prstGeom prst="rect">
            <a:avLst/>
          </a:prstGeom>
        </p:spPr>
      </p:pic>
      <p:sp>
        <p:nvSpPr>
          <p:cNvPr id="8" name="model"/>
          <p:cNvSpPr/>
          <p:nvPr/>
        </p:nvSpPr>
        <p:spPr>
          <a:xfrm>
            <a:off x="7040880" y="1325880"/>
            <a:ext cx="1554480" cy="1463040"/>
          </a:xfrm>
          <a:prstGeom prst="roundRect">
            <a:avLst>
              <a:gd name="adj" fmla="val 6250"/>
            </a:avLst>
          </a:prstGeom>
          <a:solidFill>
            <a:schemeClr val="bg2"/>
          </a:solidFill>
          <a:ln/>
        </p:spPr>
      </p:sp>
      <p:sp>
        <p:nvSpPr>
          <p:cNvPr id="9" name="Text 6"/>
          <p:cNvSpPr txBox="1"/>
          <p:nvPr/>
        </p:nvSpPr>
        <p:spPr>
          <a:xfrm>
            <a:off x="7040880" y="2011680"/>
            <a:ext cx="1554480" cy="320040"/>
          </a:xfrm>
          <a:prstGeom prst="rect">
            <a:avLst/>
          </a:prstGeom>
          <a:noFill/>
          <a:ln/>
        </p:spPr>
        <p:txBody>
          <a:bodyPr wrap="square" lIns="0" tIns="0" rIns="0" bIns="0" rtlCol="0" anchor="ctr"/>
          <a:lstStyle/>
          <a:p>
            <a:pPr algn="ctr" indent="0" marL="0">
              <a:buNone/>
            </a:pPr>
            <a:r>
              <a:rPr lang="en-US" sz="1500" b="1" dirty="0">
                <a:solidFill>
                  <a:schemeClr val="tx1"/>
                </a:solidFill>
              </a:rPr>
              <a:t>Model</a:t>
            </a:r>
            <a:endParaRPr lang="en-US" sz="1500" dirty="0"/>
          </a:p>
        </p:txBody>
      </p:sp>
      <p:sp>
        <p:nvSpPr>
          <p:cNvPr id="10" name="Text 7"/>
          <p:cNvSpPr txBox="1"/>
          <p:nvPr/>
        </p:nvSpPr>
        <p:spPr>
          <a:xfrm>
            <a:off x="7132320" y="2331720"/>
            <a:ext cx="1371600" cy="365760"/>
          </a:xfrm>
          <a:prstGeom prst="rect">
            <a:avLst/>
          </a:prstGeom>
          <a:noFill/>
          <a:ln/>
        </p:spPr>
        <p:txBody>
          <a:bodyPr wrap="square" lIns="0" tIns="0" rIns="0" bIns="0" rtlCol="0" anchor="ctr"/>
          <a:lstStyle/>
          <a:p>
            <a:pPr algn="ctr" indent="0" marL="0">
              <a:buNone/>
            </a:pPr>
            <a:r>
              <a:rPr lang="en-US" sz="1100" dirty="0">
                <a:solidFill>
                  <a:schemeClr val="tx2"/>
                </a:solidFill>
              </a:rPr>
              <a:t>local Ollama or any vendor</a:t>
            </a:r>
            <a:endParaRPr lang="en-US" sz="1100" dirty="0"/>
          </a:p>
        </p:txBody>
      </p:sp>
      <p:sp>
        <p:nvSpPr>
          <p:cNvPr id="11" name="model icon"/>
          <p:cNvSpPr/>
          <p:nvPr/>
        </p:nvSpPr>
        <p:spPr>
          <a:xfrm>
            <a:off x="7571232" y="1490472"/>
            <a:ext cx="493776" cy="493776"/>
          </a:xfrm>
          <a:prstGeom prst="ellipse">
            <a:avLst/>
          </a:prstGeom>
          <a:solidFill>
            <a:schemeClr val="tx1"/>
          </a:solidFill>
          <a:ln/>
        </p:spPr>
      </p:sp>
      <p:pic>
        <p:nvPicPr>
          <p:cNvPr id="12" name="Image 1" descr="preencoded.png">    </p:cNvPr>
          <p:cNvPicPr>
            <a:picLocks noChangeAspect="1"/>
          </p:cNvPicPr>
          <p:nvPr/>
        </p:nvPicPr>
        <p:blipFill>
          <a:blip r:embed="rId2"/>
          <a:stretch>
            <a:fillRect/>
          </a:stretch>
        </p:blipFill>
        <p:spPr>
          <a:xfrm>
            <a:off x="7694676" y="1613916"/>
            <a:ext cx="246888" cy="246888"/>
          </a:xfrm>
          <a:prstGeom prst="rect">
            <a:avLst/>
          </a:prstGeom>
        </p:spPr>
      </p:pic>
      <p:sp>
        <p:nvSpPr>
          <p:cNvPr id="13" name="engine"/>
          <p:cNvSpPr/>
          <p:nvPr/>
        </p:nvSpPr>
        <p:spPr>
          <a:xfrm>
            <a:off x="2468880" y="1188720"/>
            <a:ext cx="4206240" cy="1737360"/>
          </a:xfrm>
          <a:prstGeom prst="roundRect">
            <a:avLst>
              <a:gd name="adj" fmla="val 5263"/>
            </a:avLst>
          </a:prstGeom>
          <a:solidFill>
            <a:schemeClr val="tx1"/>
          </a:solidFill>
          <a:ln/>
        </p:spPr>
      </p:sp>
      <p:sp>
        <p:nvSpPr>
          <p:cNvPr id="14" name="Text 10"/>
          <p:cNvSpPr txBox="1"/>
          <p:nvPr/>
        </p:nvSpPr>
        <p:spPr>
          <a:xfrm>
            <a:off x="2468880" y="1298448"/>
            <a:ext cx="4206240" cy="274320"/>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FLOW GUARD  ·  ONE POLICY ENGINE</a:t>
            </a:r>
            <a:endParaRPr lang="en-US" sz="1100" dirty="0"/>
          </a:p>
        </p:txBody>
      </p:sp>
      <p:sp>
        <p:nvSpPr>
          <p:cNvPr id="15" name="Text 11"/>
          <p:cNvSpPr/>
          <p:nvPr/>
        </p:nvSpPr>
        <p:spPr>
          <a:xfrm>
            <a:off x="2651760" y="1691640"/>
            <a:ext cx="1216152" cy="438912"/>
          </a:xfrm>
          <a:prstGeom prst="roundRect">
            <a:avLst>
              <a:gd name="adj" fmla="val 41667"/>
            </a:avLst>
          </a:prstGeom>
          <a:solidFill>
            <a:schemeClr val="tx2"/>
          </a:solidFill>
          <a:ln/>
        </p:spPr>
        <p:txBody>
          <a:bodyPr wrap="square" lIns="0" tIns="0" rIns="0" bIns="0" rtlCol="0" anchor="ctr"/>
          <a:lstStyle/>
          <a:p>
            <a:pPr algn="ctr" indent="0" marL="0">
              <a:buNone/>
            </a:pPr>
            <a:r>
              <a:rPr lang="en-US" sz="1300" dirty="0">
                <a:solidFill>
                  <a:schemeClr val="bg1"/>
                </a:solidFill>
              </a:rPr>
              <a:t>Identity</a:t>
            </a:r>
            <a:endParaRPr lang="en-US" sz="1300" dirty="0"/>
          </a:p>
        </p:txBody>
      </p:sp>
      <p:sp>
        <p:nvSpPr>
          <p:cNvPr id="16" name="Text 12"/>
          <p:cNvSpPr/>
          <p:nvPr/>
        </p:nvSpPr>
        <p:spPr>
          <a:xfrm>
            <a:off x="3959352" y="1691640"/>
            <a:ext cx="1216152" cy="438912"/>
          </a:xfrm>
          <a:prstGeom prst="roundRect">
            <a:avLst>
              <a:gd name="adj" fmla="val 41667"/>
            </a:avLst>
          </a:prstGeom>
          <a:solidFill>
            <a:schemeClr val="tx2"/>
          </a:solidFill>
          <a:ln/>
        </p:spPr>
        <p:txBody>
          <a:bodyPr wrap="square" lIns="0" tIns="0" rIns="0" bIns="0" rtlCol="0" anchor="ctr"/>
          <a:lstStyle/>
          <a:p>
            <a:pPr algn="ctr" indent="0" marL="0">
              <a:buNone/>
            </a:pPr>
            <a:r>
              <a:rPr lang="en-US" sz="1300" dirty="0">
                <a:solidFill>
                  <a:schemeClr val="bg1"/>
                </a:solidFill>
              </a:rPr>
              <a:t>Tokens</a:t>
            </a:r>
            <a:endParaRPr lang="en-US" sz="1300" dirty="0"/>
          </a:p>
        </p:txBody>
      </p:sp>
      <p:sp>
        <p:nvSpPr>
          <p:cNvPr id="17" name="Text 13"/>
          <p:cNvSpPr/>
          <p:nvPr/>
        </p:nvSpPr>
        <p:spPr>
          <a:xfrm>
            <a:off x="5266944" y="1691640"/>
            <a:ext cx="1216152" cy="438912"/>
          </a:xfrm>
          <a:prstGeom prst="roundRect">
            <a:avLst>
              <a:gd name="adj" fmla="val 41667"/>
            </a:avLst>
          </a:prstGeom>
          <a:solidFill>
            <a:schemeClr val="tx2"/>
          </a:solidFill>
          <a:ln/>
        </p:spPr>
        <p:txBody>
          <a:bodyPr wrap="square" lIns="0" tIns="0" rIns="0" bIns="0" rtlCol="0" anchor="ctr"/>
          <a:lstStyle/>
          <a:p>
            <a:pPr algn="ctr" indent="0" marL="0">
              <a:buNone/>
            </a:pPr>
            <a:r>
              <a:rPr lang="en-US" sz="1300" dirty="0">
                <a:solidFill>
                  <a:schemeClr val="bg1"/>
                </a:solidFill>
              </a:rPr>
              <a:t>AI judge</a:t>
            </a:r>
            <a:endParaRPr lang="en-US" sz="1300" dirty="0"/>
          </a:p>
        </p:txBody>
      </p:sp>
      <p:sp>
        <p:nvSpPr>
          <p:cNvPr id="18" name="Text 14"/>
          <p:cNvSpPr/>
          <p:nvPr/>
        </p:nvSpPr>
        <p:spPr>
          <a:xfrm>
            <a:off x="2651760" y="2258568"/>
            <a:ext cx="1216152" cy="438912"/>
          </a:xfrm>
          <a:prstGeom prst="roundRect">
            <a:avLst>
              <a:gd name="adj" fmla="val 41667"/>
            </a:avLst>
          </a:prstGeom>
          <a:solidFill>
            <a:schemeClr val="tx2"/>
          </a:solidFill>
          <a:ln/>
        </p:spPr>
        <p:txBody>
          <a:bodyPr wrap="square" lIns="0" tIns="0" rIns="0" bIns="0" rtlCol="0" anchor="ctr"/>
          <a:lstStyle/>
          <a:p>
            <a:pPr algn="ctr" indent="0" marL="0">
              <a:buNone/>
            </a:pPr>
            <a:r>
              <a:rPr lang="en-US" sz="1300" dirty="0">
                <a:solidFill>
                  <a:schemeClr val="bg1"/>
                </a:solidFill>
              </a:rPr>
              <a:t>Spotlight</a:t>
            </a:r>
            <a:endParaRPr lang="en-US" sz="1300" dirty="0"/>
          </a:p>
        </p:txBody>
      </p:sp>
      <p:sp>
        <p:nvSpPr>
          <p:cNvPr id="19" name="Text 15"/>
          <p:cNvSpPr/>
          <p:nvPr/>
        </p:nvSpPr>
        <p:spPr>
          <a:xfrm>
            <a:off x="3959352" y="2258568"/>
            <a:ext cx="1216152" cy="438912"/>
          </a:xfrm>
          <a:prstGeom prst="roundRect">
            <a:avLst>
              <a:gd name="adj" fmla="val 41667"/>
            </a:avLst>
          </a:prstGeom>
          <a:solidFill>
            <a:schemeClr val="tx2"/>
          </a:solidFill>
          <a:ln/>
        </p:spPr>
        <p:txBody>
          <a:bodyPr wrap="square" lIns="0" tIns="0" rIns="0" bIns="0" rtlCol="0" anchor="ctr"/>
          <a:lstStyle/>
          <a:p>
            <a:pPr algn="ctr" indent="0" marL="0">
              <a:buNone/>
            </a:pPr>
            <a:r>
              <a:rPr lang="en-US" sz="1300" dirty="0">
                <a:solidFill>
                  <a:schemeClr val="bg1"/>
                </a:solidFill>
              </a:rPr>
              <a:t>Flow rules</a:t>
            </a:r>
            <a:endParaRPr lang="en-US" sz="1300" dirty="0"/>
          </a:p>
        </p:txBody>
      </p:sp>
      <p:sp>
        <p:nvSpPr>
          <p:cNvPr id="20" name="Text 16"/>
          <p:cNvSpPr/>
          <p:nvPr/>
        </p:nvSpPr>
        <p:spPr>
          <a:xfrm>
            <a:off x="5266944" y="2258568"/>
            <a:ext cx="1216152" cy="438912"/>
          </a:xfrm>
          <a:prstGeom prst="roundRect">
            <a:avLst>
              <a:gd name="adj" fmla="val 41667"/>
            </a:avLst>
          </a:prstGeom>
          <a:solidFill>
            <a:schemeClr val="tx2"/>
          </a:solidFill>
          <a:ln/>
        </p:spPr>
        <p:txBody>
          <a:bodyPr wrap="square" lIns="0" tIns="0" rIns="0" bIns="0" rtlCol="0" anchor="ctr"/>
          <a:lstStyle/>
          <a:p>
            <a:pPr algn="ctr" indent="0" marL="0">
              <a:buNone/>
            </a:pPr>
            <a:r>
              <a:rPr lang="en-US" sz="1300" dirty="0">
                <a:solidFill>
                  <a:schemeClr val="bg1"/>
                </a:solidFill>
              </a:rPr>
              <a:t>Audit</a:t>
            </a:r>
            <a:endParaRPr lang="en-US" sz="1300" dirty="0"/>
          </a:p>
        </p:txBody>
      </p:sp>
      <p:sp>
        <p:nvSpPr>
          <p:cNvPr id="21" name="Shape 17"/>
          <p:cNvSpPr/>
          <p:nvPr/>
        </p:nvSpPr>
        <p:spPr>
          <a:xfrm>
            <a:off x="2103120" y="2057400"/>
            <a:ext cx="365760" cy="0"/>
          </a:xfrm>
          <a:prstGeom prst="line">
            <a:avLst/>
          </a:prstGeom>
          <a:noFill/>
          <a:ln w="25400">
            <a:solidFill>
              <a:srgbClr val="6B7790"/>
            </a:solidFill>
            <a:prstDash val="solid"/>
            <a:headEnd type="triangle"/>
            <a:tailEnd type="triangle"/>
          </a:ln>
        </p:spPr>
      </p:sp>
      <p:sp>
        <p:nvSpPr>
          <p:cNvPr id="22" name="Shape 18"/>
          <p:cNvSpPr/>
          <p:nvPr/>
        </p:nvSpPr>
        <p:spPr>
          <a:xfrm>
            <a:off x="6675120" y="2057400"/>
            <a:ext cx="365760" cy="0"/>
          </a:xfrm>
          <a:prstGeom prst="line">
            <a:avLst/>
          </a:prstGeom>
          <a:noFill/>
          <a:ln w="25400">
            <a:solidFill>
              <a:srgbClr val="6B7790"/>
            </a:solidFill>
            <a:prstDash val="solid"/>
            <a:headEnd type="triangle"/>
            <a:tailEnd type="triangle"/>
          </a:ln>
        </p:spPr>
      </p:sp>
      <p:sp>
        <p:nvSpPr>
          <p:cNvPr id="23" name="policy"/>
          <p:cNvSpPr/>
          <p:nvPr/>
        </p:nvSpPr>
        <p:spPr>
          <a:xfrm>
            <a:off x="2468880" y="3246120"/>
            <a:ext cx="2011680" cy="777240"/>
          </a:xfrm>
          <a:prstGeom prst="roundRect">
            <a:avLst>
              <a:gd name="adj" fmla="val 9412"/>
            </a:avLst>
          </a:prstGeom>
          <a:solidFill>
            <a:schemeClr val="bg1"/>
          </a:solidFill>
          <a:ln w="12700">
            <a:solidFill>
              <a:srgbClr val="6B7790"/>
            </a:solidFill>
            <a:prstDash val="solid"/>
          </a:ln>
        </p:spPr>
      </p:sp>
      <p:sp>
        <p:nvSpPr>
          <p:cNvPr id="24" name="Text 20"/>
          <p:cNvSpPr txBox="1"/>
          <p:nvPr/>
        </p:nvSpPr>
        <p:spPr>
          <a:xfrm>
            <a:off x="2606040" y="3310128"/>
            <a:ext cx="1737360" cy="292608"/>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policy.yaml</a:t>
            </a:r>
            <a:endParaRPr lang="en-US" sz="1300" dirty="0"/>
          </a:p>
        </p:txBody>
      </p:sp>
      <p:sp>
        <p:nvSpPr>
          <p:cNvPr id="25" name="Text 21"/>
          <p:cNvSpPr txBox="1"/>
          <p:nvPr/>
        </p:nvSpPr>
        <p:spPr>
          <a:xfrm>
            <a:off x="2606040" y="3602736"/>
            <a:ext cx="1737360" cy="384048"/>
          </a:xfrm>
          <a:prstGeom prst="rect">
            <a:avLst/>
          </a:prstGeom>
          <a:noFill/>
          <a:ln/>
        </p:spPr>
        <p:txBody>
          <a:bodyPr wrap="square" lIns="0" tIns="0" rIns="0" bIns="0" rtlCol="0" anchor="t"/>
          <a:lstStyle/>
          <a:p>
            <a:pPr indent="0" marL="0">
              <a:buNone/>
            </a:pPr>
            <a:r>
              <a:rPr lang="en-US" sz="1100" dirty="0">
                <a:solidFill>
                  <a:schemeClr val="tx2"/>
                </a:solidFill>
              </a:rPr>
              <a:t>edit while it runs, no restart</a:t>
            </a:r>
            <a:endParaRPr lang="en-US" sz="1100" dirty="0"/>
          </a:p>
        </p:txBody>
      </p:sp>
      <p:sp>
        <p:nvSpPr>
          <p:cNvPr id="26" name="audit"/>
          <p:cNvSpPr/>
          <p:nvPr/>
        </p:nvSpPr>
        <p:spPr>
          <a:xfrm>
            <a:off x="4663440" y="3246120"/>
            <a:ext cx="2011680" cy="777240"/>
          </a:xfrm>
          <a:prstGeom prst="roundRect">
            <a:avLst>
              <a:gd name="adj" fmla="val 9412"/>
            </a:avLst>
          </a:prstGeom>
          <a:solidFill>
            <a:schemeClr val="bg1"/>
          </a:solidFill>
          <a:ln w="12700">
            <a:solidFill>
              <a:srgbClr val="6B7790"/>
            </a:solidFill>
            <a:prstDash val="solid"/>
          </a:ln>
        </p:spPr>
      </p:sp>
      <p:sp>
        <p:nvSpPr>
          <p:cNvPr id="27" name="Text 23"/>
          <p:cNvSpPr txBox="1"/>
          <p:nvPr/>
        </p:nvSpPr>
        <p:spPr>
          <a:xfrm>
            <a:off x="4800600" y="3310128"/>
            <a:ext cx="1737360" cy="292608"/>
          </a:xfrm>
          <a:prstGeom prst="rect">
            <a:avLst/>
          </a:prstGeom>
          <a:noFill/>
          <a:ln/>
        </p:spPr>
        <p:txBody>
          <a:bodyPr wrap="square" lIns="0" tIns="0" rIns="0" bIns="0" rtlCol="0" anchor="ctr"/>
          <a:lstStyle/>
          <a:p>
            <a:pPr indent="0" marL="0">
              <a:buNone/>
            </a:pPr>
            <a:r>
              <a:rPr lang="en-US" sz="1300" b="1" dirty="0">
                <a:solidFill>
                  <a:schemeClr val="tx1"/>
                </a:solidFill>
              </a:rPr>
              <a:t>Audit chain</a:t>
            </a:r>
            <a:endParaRPr lang="en-US" sz="1300" dirty="0"/>
          </a:p>
        </p:txBody>
      </p:sp>
      <p:sp>
        <p:nvSpPr>
          <p:cNvPr id="28" name="Text 24"/>
          <p:cNvSpPr txBox="1"/>
          <p:nvPr/>
        </p:nvSpPr>
        <p:spPr>
          <a:xfrm>
            <a:off x="4800600" y="3602736"/>
            <a:ext cx="1737360" cy="384048"/>
          </a:xfrm>
          <a:prstGeom prst="rect">
            <a:avLst/>
          </a:prstGeom>
          <a:noFill/>
          <a:ln/>
        </p:spPr>
        <p:txBody>
          <a:bodyPr wrap="square" lIns="0" tIns="0" rIns="0" bIns="0" rtlCol="0" anchor="t"/>
          <a:lstStyle/>
          <a:p>
            <a:pPr indent="0" marL="0">
              <a:buNone/>
            </a:pPr>
            <a:r>
              <a:rPr lang="en-US" sz="1100" dirty="0">
                <a:solidFill>
                  <a:schemeClr val="tx2"/>
                </a:solidFill>
              </a:rPr>
              <a:t>hash-chained log, live dashboard</a:t>
            </a:r>
            <a:endParaRPr lang="en-US" sz="1100" dirty="0"/>
          </a:p>
        </p:txBody>
      </p:sp>
      <p:sp>
        <p:nvSpPr>
          <p:cNvPr id="29" name="Shape 25"/>
          <p:cNvSpPr/>
          <p:nvPr/>
        </p:nvSpPr>
        <p:spPr>
          <a:xfrm>
            <a:off x="3474720" y="3227832"/>
            <a:ext cx="0" cy="-283464"/>
          </a:xfrm>
          <a:prstGeom prst="line">
            <a:avLst/>
          </a:prstGeom>
          <a:noFill/>
          <a:ln w="25400">
            <a:solidFill>
              <a:srgbClr val="6B7790"/>
            </a:solidFill>
            <a:prstDash val="solid"/>
            <a:tailEnd type="triangle"/>
          </a:ln>
        </p:spPr>
      </p:sp>
      <p:sp>
        <p:nvSpPr>
          <p:cNvPr id="30" name="Shape 26"/>
          <p:cNvSpPr/>
          <p:nvPr/>
        </p:nvSpPr>
        <p:spPr>
          <a:xfrm>
            <a:off x="5669280" y="2944368"/>
            <a:ext cx="0" cy="283464"/>
          </a:xfrm>
          <a:prstGeom prst="line">
            <a:avLst/>
          </a:prstGeom>
          <a:noFill/>
          <a:ln w="25400">
            <a:solidFill>
              <a:srgbClr val="6B7790"/>
            </a:solidFill>
            <a:prstDash val="solid"/>
            <a:tailEnd type="triangle"/>
          </a:ln>
        </p:spPr>
      </p:sp>
      <p:sp>
        <p:nvSpPr>
          <p:cNvPr id="31" name="Text 27"/>
          <p:cNvSpPr txBox="1"/>
          <p:nvPr/>
        </p:nvSpPr>
        <p:spPr>
          <a:xfrm>
            <a:off x="548640" y="4206240"/>
            <a:ext cx="914400" cy="365760"/>
          </a:xfrm>
          <a:prstGeom prst="rect">
            <a:avLst/>
          </a:prstGeom>
          <a:noFill/>
          <a:ln/>
        </p:spPr>
        <p:txBody>
          <a:bodyPr wrap="square" lIns="0" tIns="0" rIns="0" bIns="0" rtlCol="0" anchor="ctr"/>
          <a:lstStyle/>
          <a:p>
            <a:pPr indent="0" marL="0">
              <a:buNone/>
            </a:pPr>
            <a:r>
              <a:rPr lang="en-US" sz="1200" b="1" dirty="0">
                <a:solidFill>
                  <a:schemeClr val="tx1"/>
                </a:solidFill>
              </a:rPr>
              <a:t>Adapters</a:t>
            </a:r>
            <a:endParaRPr lang="en-US" sz="1200" dirty="0"/>
          </a:p>
        </p:txBody>
      </p:sp>
      <p:sp>
        <p:nvSpPr>
          <p:cNvPr id="32" name="Text 28"/>
          <p:cNvSpPr/>
          <p:nvPr/>
        </p:nvSpPr>
        <p:spPr>
          <a:xfrm>
            <a:off x="1463040" y="4206240"/>
            <a:ext cx="2103120" cy="365760"/>
          </a:xfrm>
          <a:prstGeom prst="roundRect">
            <a:avLst>
              <a:gd name="adj" fmla="val 50000"/>
            </a:avLst>
          </a:prstGeom>
          <a:solidFill>
            <a:schemeClr val="bg1"/>
          </a:solidFill>
          <a:ln w="15875">
            <a:solidFill>
              <a:schemeClr val="accent2"/>
            </a:solidFill>
          </a:ln>
        </p:spPr>
        <p:txBody>
          <a:bodyPr wrap="square" lIns="0" tIns="0" rIns="0" bIns="0" rtlCol="0" anchor="ctr"/>
          <a:lstStyle/>
          <a:p>
            <a:pPr algn="ctr" indent="0" marL="0">
              <a:buNone/>
            </a:pPr>
            <a:r>
              <a:rPr lang="en-US" sz="1200" dirty="0">
                <a:solidFill>
                  <a:schemeClr val="tx1"/>
                </a:solidFill>
              </a:rPr>
              <a:t>Model proxy · live</a:t>
            </a:r>
            <a:endParaRPr lang="en-US" sz="1200" dirty="0"/>
          </a:p>
        </p:txBody>
      </p:sp>
      <p:sp>
        <p:nvSpPr>
          <p:cNvPr id="33" name="Text 29"/>
          <p:cNvSpPr/>
          <p:nvPr/>
        </p:nvSpPr>
        <p:spPr>
          <a:xfrm>
            <a:off x="3703320" y="4206240"/>
            <a:ext cx="2103120" cy="365760"/>
          </a:xfrm>
          <a:prstGeom prst="roundRect">
            <a:avLst>
              <a:gd name="adj" fmla="val 50000"/>
            </a:avLst>
          </a:prstGeom>
          <a:solidFill>
            <a:schemeClr val="bg1"/>
          </a:solidFill>
          <a:ln w="15875">
            <a:solidFill>
              <a:schemeClr val="accent5"/>
            </a:solidFill>
          </a:ln>
        </p:spPr>
        <p:txBody>
          <a:bodyPr wrap="square" lIns="0" tIns="0" rIns="0" bIns="0" rtlCol="0" anchor="ctr"/>
          <a:lstStyle/>
          <a:p>
            <a:pPr algn="ctr" indent="0" marL="0">
              <a:buNone/>
            </a:pPr>
            <a:r>
              <a:rPr lang="en-US" sz="1200" dirty="0">
                <a:solidFill>
                  <a:schemeClr val="tx1"/>
                </a:solidFill>
              </a:rPr>
              <a:t>MCP gateway · next</a:t>
            </a:r>
            <a:endParaRPr lang="en-US" sz="1200" dirty="0"/>
          </a:p>
        </p:txBody>
      </p:sp>
      <p:sp>
        <p:nvSpPr>
          <p:cNvPr id="34" name="Text 30"/>
          <p:cNvSpPr/>
          <p:nvPr/>
        </p:nvSpPr>
        <p:spPr>
          <a:xfrm>
            <a:off x="5943600" y="4206240"/>
            <a:ext cx="2103120" cy="365760"/>
          </a:xfrm>
          <a:prstGeom prst="roundRect">
            <a:avLst>
              <a:gd name="adj" fmla="val 50000"/>
            </a:avLst>
          </a:prstGeom>
          <a:solidFill>
            <a:schemeClr val="bg1"/>
          </a:solidFill>
          <a:ln w="15875">
            <a:solidFill>
              <a:schemeClr val="accent5"/>
            </a:solidFill>
          </a:ln>
        </p:spPr>
        <p:txBody>
          <a:bodyPr wrap="square" lIns="0" tIns="0" rIns="0" bIns="0" rtlCol="0" anchor="ctr"/>
          <a:lstStyle/>
          <a:p>
            <a:pPr algn="ctr" indent="0" marL="0">
              <a:buNone/>
            </a:pPr>
            <a:r>
              <a:rPr lang="en-US" sz="1200" dirty="0">
                <a:solidFill>
                  <a:schemeClr val="tx1"/>
                </a:solidFill>
              </a:rPr>
              <a:t>Claude Code hook · next</a:t>
            </a:r>
            <a:endParaRPr lang="en-US" sz="1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Nine checks behind every call</a:t>
            </a:r>
            <a:endParaRPr lang="en-US" sz="3200" dirty="0"/>
          </a:p>
        </p:txBody>
      </p:sp>
      <p:sp>
        <p:nvSpPr>
          <p:cNvPr id="3" name="control Identity"/>
          <p:cNvSpPr/>
          <p:nvPr/>
        </p:nvSpPr>
        <p:spPr>
          <a:xfrm>
            <a:off x="548640" y="1234440"/>
            <a:ext cx="2606040" cy="987552"/>
          </a:xfrm>
          <a:prstGeom prst="roundRect">
            <a:avLst>
              <a:gd name="adj" fmla="val 7407"/>
            </a:avLst>
          </a:prstGeom>
          <a:solidFill>
            <a:schemeClr val="bg2"/>
          </a:solidFill>
          <a:ln/>
        </p:spPr>
      </p:sp>
      <p:sp>
        <p:nvSpPr>
          <p:cNvPr id="4" name="icon Identity"/>
          <p:cNvSpPr/>
          <p:nvPr/>
        </p:nvSpPr>
        <p:spPr>
          <a:xfrm>
            <a:off x="685800" y="1371600"/>
            <a:ext cx="411480" cy="411480"/>
          </a:xfrm>
          <a:prstGeom prst="ellipse">
            <a:avLst/>
          </a:prstGeom>
          <a:solidFill>
            <a:schemeClr val="tx1"/>
          </a:solidFill>
          <a:ln/>
        </p:spPr>
      </p:sp>
      <p:pic>
        <p:nvPicPr>
          <p:cNvPr id="5" name="Image 0" descr="preencoded.png">    </p:cNvPr>
          <p:cNvPicPr>
            <a:picLocks noChangeAspect="1"/>
          </p:cNvPicPr>
          <p:nvPr/>
        </p:nvPicPr>
        <p:blipFill>
          <a:blip r:embed="rId1"/>
          <a:stretch>
            <a:fillRect/>
          </a:stretch>
        </p:blipFill>
        <p:spPr>
          <a:xfrm>
            <a:off x="788670" y="1474470"/>
            <a:ext cx="205740" cy="205740"/>
          </a:xfrm>
          <a:prstGeom prst="rect">
            <a:avLst/>
          </a:prstGeom>
        </p:spPr>
      </p:pic>
      <p:sp>
        <p:nvSpPr>
          <p:cNvPr id="6" name="Text 3"/>
          <p:cNvSpPr txBox="1"/>
          <p:nvPr/>
        </p:nvSpPr>
        <p:spPr>
          <a:xfrm>
            <a:off x="1207008" y="1371600"/>
            <a:ext cx="1828800" cy="411480"/>
          </a:xfrm>
          <a:prstGeom prst="rect">
            <a:avLst/>
          </a:prstGeom>
          <a:noFill/>
          <a:ln/>
        </p:spPr>
        <p:txBody>
          <a:bodyPr wrap="square" lIns="0" tIns="0" rIns="0" bIns="0" rtlCol="0" anchor="ctr"/>
          <a:lstStyle/>
          <a:p>
            <a:pPr indent="0" marL="0">
              <a:buNone/>
            </a:pPr>
            <a:r>
              <a:rPr lang="en-US" sz="1400" b="1" dirty="0">
                <a:solidFill>
                  <a:schemeClr val="tx1"/>
                </a:solidFill>
              </a:rPr>
              <a:t>Identity</a:t>
            </a:r>
            <a:endParaRPr lang="en-US" sz="1400" dirty="0"/>
          </a:p>
        </p:txBody>
      </p:sp>
      <p:sp>
        <p:nvSpPr>
          <p:cNvPr id="7" name="Text 4"/>
          <p:cNvSpPr txBox="1"/>
          <p:nvPr/>
        </p:nvSpPr>
        <p:spPr>
          <a:xfrm>
            <a:off x="685800" y="1810512"/>
            <a:ext cx="2377440" cy="384048"/>
          </a:xfrm>
          <a:prstGeom prst="rect">
            <a:avLst/>
          </a:prstGeom>
          <a:noFill/>
          <a:ln/>
        </p:spPr>
        <p:txBody>
          <a:bodyPr wrap="square" lIns="0" tIns="0" rIns="0" bIns="0" rtlCol="0" anchor="t"/>
          <a:lstStyle/>
          <a:p>
            <a:pPr indent="0" marL="0">
              <a:buNone/>
            </a:pPr>
            <a:r>
              <a:rPr lang="en-US" sz="1100" dirty="0">
                <a:solidFill>
                  <a:schemeClr val="tx2"/>
                </a:solidFill>
              </a:rPr>
              <a:t>API key = one user and one agent. No stated purpose, no call.</a:t>
            </a:r>
            <a:endParaRPr lang="en-US" sz="1100" dirty="0"/>
          </a:p>
        </p:txBody>
      </p:sp>
      <p:sp>
        <p:nvSpPr>
          <p:cNvPr id="8" name="control Scope"/>
          <p:cNvSpPr/>
          <p:nvPr/>
        </p:nvSpPr>
        <p:spPr>
          <a:xfrm>
            <a:off x="3268980" y="1234440"/>
            <a:ext cx="2606040" cy="987552"/>
          </a:xfrm>
          <a:prstGeom prst="roundRect">
            <a:avLst>
              <a:gd name="adj" fmla="val 7407"/>
            </a:avLst>
          </a:prstGeom>
          <a:solidFill>
            <a:schemeClr val="bg2"/>
          </a:solidFill>
          <a:ln/>
        </p:spPr>
      </p:sp>
      <p:sp>
        <p:nvSpPr>
          <p:cNvPr id="9" name="icon Scope"/>
          <p:cNvSpPr/>
          <p:nvPr/>
        </p:nvSpPr>
        <p:spPr>
          <a:xfrm>
            <a:off x="3406140" y="1371600"/>
            <a:ext cx="411480" cy="411480"/>
          </a:xfrm>
          <a:prstGeom prst="ellipse">
            <a:avLst/>
          </a:prstGeom>
          <a:solidFill>
            <a:schemeClr val="tx1"/>
          </a:solidFill>
          <a:ln/>
        </p:spPr>
      </p:sp>
      <p:pic>
        <p:nvPicPr>
          <p:cNvPr id="10" name="Image 1" descr="preencoded.png">    </p:cNvPr>
          <p:cNvPicPr>
            <a:picLocks noChangeAspect="1"/>
          </p:cNvPicPr>
          <p:nvPr/>
        </p:nvPicPr>
        <p:blipFill>
          <a:blip r:embed="rId2"/>
          <a:stretch>
            <a:fillRect/>
          </a:stretch>
        </p:blipFill>
        <p:spPr>
          <a:xfrm>
            <a:off x="3509010" y="1474470"/>
            <a:ext cx="205740" cy="205740"/>
          </a:xfrm>
          <a:prstGeom prst="rect">
            <a:avLst/>
          </a:prstGeom>
        </p:spPr>
      </p:pic>
      <p:sp>
        <p:nvSpPr>
          <p:cNvPr id="11" name="Text 7"/>
          <p:cNvSpPr txBox="1"/>
          <p:nvPr/>
        </p:nvSpPr>
        <p:spPr>
          <a:xfrm>
            <a:off x="3927348" y="1371600"/>
            <a:ext cx="1828800" cy="411480"/>
          </a:xfrm>
          <a:prstGeom prst="rect">
            <a:avLst/>
          </a:prstGeom>
          <a:noFill/>
          <a:ln/>
        </p:spPr>
        <p:txBody>
          <a:bodyPr wrap="square" lIns="0" tIns="0" rIns="0" bIns="0" rtlCol="0" anchor="ctr"/>
          <a:lstStyle/>
          <a:p>
            <a:pPr indent="0" marL="0">
              <a:buNone/>
            </a:pPr>
            <a:r>
              <a:rPr lang="en-US" sz="1400" b="1" dirty="0">
                <a:solidFill>
                  <a:schemeClr val="tx1"/>
                </a:solidFill>
              </a:rPr>
              <a:t>Scope</a:t>
            </a:r>
            <a:endParaRPr lang="en-US" sz="1400" dirty="0"/>
          </a:p>
        </p:txBody>
      </p:sp>
      <p:sp>
        <p:nvSpPr>
          <p:cNvPr id="12" name="Text 8"/>
          <p:cNvSpPr txBox="1"/>
          <p:nvPr/>
        </p:nvSpPr>
        <p:spPr>
          <a:xfrm>
            <a:off x="3406140" y="1810512"/>
            <a:ext cx="2377440" cy="384048"/>
          </a:xfrm>
          <a:prstGeom prst="rect">
            <a:avLst/>
          </a:prstGeom>
          <a:noFill/>
          <a:ln/>
        </p:spPr>
        <p:txBody>
          <a:bodyPr wrap="square" lIns="0" tIns="0" rIns="0" bIns="0" rtlCol="0" anchor="t"/>
          <a:lstStyle/>
          <a:p>
            <a:pPr indent="0" marL="0">
              <a:buNone/>
            </a:pPr>
            <a:r>
              <a:rPr lang="en-US" sz="1100" dirty="0">
                <a:solidFill>
                  <a:schemeClr val="tx2"/>
                </a:solidFill>
              </a:rPr>
              <a:t>An agent touches only the clients assigned to its user.</a:t>
            </a:r>
            <a:endParaRPr lang="en-US" sz="1100" dirty="0"/>
          </a:p>
        </p:txBody>
      </p:sp>
      <p:sp>
        <p:nvSpPr>
          <p:cNvPr id="13" name="control Reversible tokens"/>
          <p:cNvSpPr/>
          <p:nvPr/>
        </p:nvSpPr>
        <p:spPr>
          <a:xfrm>
            <a:off x="5989320" y="1234440"/>
            <a:ext cx="2606040" cy="987552"/>
          </a:xfrm>
          <a:prstGeom prst="roundRect">
            <a:avLst>
              <a:gd name="adj" fmla="val 7407"/>
            </a:avLst>
          </a:prstGeom>
          <a:solidFill>
            <a:schemeClr val="bg2"/>
          </a:solidFill>
          <a:ln/>
        </p:spPr>
      </p:sp>
      <p:sp>
        <p:nvSpPr>
          <p:cNvPr id="14" name="icon Reversible tokens"/>
          <p:cNvSpPr/>
          <p:nvPr/>
        </p:nvSpPr>
        <p:spPr>
          <a:xfrm>
            <a:off x="6126480" y="1371600"/>
            <a:ext cx="411480" cy="411480"/>
          </a:xfrm>
          <a:prstGeom prst="ellipse">
            <a:avLst/>
          </a:prstGeom>
          <a:solidFill>
            <a:schemeClr val="tx1"/>
          </a:solidFill>
          <a:ln/>
        </p:spPr>
      </p:sp>
      <p:pic>
        <p:nvPicPr>
          <p:cNvPr id="15" name="Image 2" descr="preencoded.png">    </p:cNvPr>
          <p:cNvPicPr>
            <a:picLocks noChangeAspect="1"/>
          </p:cNvPicPr>
          <p:nvPr/>
        </p:nvPicPr>
        <p:blipFill>
          <a:blip r:embed="rId3"/>
          <a:stretch>
            <a:fillRect/>
          </a:stretch>
        </p:blipFill>
        <p:spPr>
          <a:xfrm>
            <a:off x="6229350" y="1474470"/>
            <a:ext cx="205740" cy="205740"/>
          </a:xfrm>
          <a:prstGeom prst="rect">
            <a:avLst/>
          </a:prstGeom>
        </p:spPr>
      </p:pic>
      <p:sp>
        <p:nvSpPr>
          <p:cNvPr id="16" name="Text 11"/>
          <p:cNvSpPr txBox="1"/>
          <p:nvPr/>
        </p:nvSpPr>
        <p:spPr>
          <a:xfrm>
            <a:off x="6647688" y="1371600"/>
            <a:ext cx="1828800" cy="411480"/>
          </a:xfrm>
          <a:prstGeom prst="rect">
            <a:avLst/>
          </a:prstGeom>
          <a:noFill/>
          <a:ln/>
        </p:spPr>
        <p:txBody>
          <a:bodyPr wrap="square" lIns="0" tIns="0" rIns="0" bIns="0" rtlCol="0" anchor="ctr"/>
          <a:lstStyle/>
          <a:p>
            <a:pPr indent="0" marL="0">
              <a:buNone/>
            </a:pPr>
            <a:r>
              <a:rPr lang="en-US" sz="1400" b="1" dirty="0">
                <a:solidFill>
                  <a:schemeClr val="tx1"/>
                </a:solidFill>
              </a:rPr>
              <a:t>Reversible tokens</a:t>
            </a:r>
            <a:endParaRPr lang="en-US" sz="1400" dirty="0"/>
          </a:p>
        </p:txBody>
      </p:sp>
      <p:sp>
        <p:nvSpPr>
          <p:cNvPr id="17" name="Text 12"/>
          <p:cNvSpPr txBox="1"/>
          <p:nvPr/>
        </p:nvSpPr>
        <p:spPr>
          <a:xfrm>
            <a:off x="6126480" y="1810512"/>
            <a:ext cx="2377440" cy="384048"/>
          </a:xfrm>
          <a:prstGeom prst="rect">
            <a:avLst/>
          </a:prstGeom>
          <a:noFill/>
          <a:ln/>
        </p:spPr>
        <p:txBody>
          <a:bodyPr wrap="square" lIns="0" tIns="0" rIns="0" bIns="0" rtlCol="0" anchor="t"/>
          <a:lstStyle/>
          <a:p>
            <a:pPr indent="0" marL="0">
              <a:buNone/>
            </a:pPr>
            <a:r>
              <a:rPr lang="en-US" sz="1100" dirty="0">
                <a:solidFill>
                  <a:schemeClr val="tx2"/>
                </a:solidFill>
              </a:rPr>
              <a:t>Card, IBAN, PESEL, passport and secrets swapped before the model.</a:t>
            </a:r>
            <a:endParaRPr lang="en-US" sz="1100" dirty="0"/>
          </a:p>
        </p:txBody>
      </p:sp>
      <p:sp>
        <p:nvSpPr>
          <p:cNvPr id="18" name="control Spotlighting"/>
          <p:cNvSpPr/>
          <p:nvPr/>
        </p:nvSpPr>
        <p:spPr>
          <a:xfrm>
            <a:off x="548640" y="2350008"/>
            <a:ext cx="2606040" cy="987552"/>
          </a:xfrm>
          <a:prstGeom prst="roundRect">
            <a:avLst>
              <a:gd name="adj" fmla="val 7407"/>
            </a:avLst>
          </a:prstGeom>
          <a:solidFill>
            <a:schemeClr val="bg2"/>
          </a:solidFill>
          <a:ln/>
        </p:spPr>
      </p:sp>
      <p:sp>
        <p:nvSpPr>
          <p:cNvPr id="19" name="icon Spotlighting"/>
          <p:cNvSpPr/>
          <p:nvPr/>
        </p:nvSpPr>
        <p:spPr>
          <a:xfrm>
            <a:off x="685800" y="2487168"/>
            <a:ext cx="411480" cy="411480"/>
          </a:xfrm>
          <a:prstGeom prst="ellipse">
            <a:avLst/>
          </a:prstGeom>
          <a:solidFill>
            <a:schemeClr val="tx1"/>
          </a:solidFill>
          <a:ln/>
        </p:spPr>
      </p:sp>
      <p:pic>
        <p:nvPicPr>
          <p:cNvPr id="20" name="Image 3" descr="preencoded.png">    </p:cNvPr>
          <p:cNvPicPr>
            <a:picLocks noChangeAspect="1"/>
          </p:cNvPicPr>
          <p:nvPr/>
        </p:nvPicPr>
        <p:blipFill>
          <a:blip r:embed="rId4"/>
          <a:stretch>
            <a:fillRect/>
          </a:stretch>
        </p:blipFill>
        <p:spPr>
          <a:xfrm>
            <a:off x="788670" y="2590038"/>
            <a:ext cx="205740" cy="205740"/>
          </a:xfrm>
          <a:prstGeom prst="rect">
            <a:avLst/>
          </a:prstGeom>
        </p:spPr>
      </p:pic>
      <p:sp>
        <p:nvSpPr>
          <p:cNvPr id="21" name="Text 15"/>
          <p:cNvSpPr txBox="1"/>
          <p:nvPr/>
        </p:nvSpPr>
        <p:spPr>
          <a:xfrm>
            <a:off x="1207008" y="2487168"/>
            <a:ext cx="1828800" cy="411480"/>
          </a:xfrm>
          <a:prstGeom prst="rect">
            <a:avLst/>
          </a:prstGeom>
          <a:noFill/>
          <a:ln/>
        </p:spPr>
        <p:txBody>
          <a:bodyPr wrap="square" lIns="0" tIns="0" rIns="0" bIns="0" rtlCol="0" anchor="ctr"/>
          <a:lstStyle/>
          <a:p>
            <a:pPr indent="0" marL="0">
              <a:buNone/>
            </a:pPr>
            <a:r>
              <a:rPr lang="en-US" sz="1400" b="1" dirty="0">
                <a:solidFill>
                  <a:schemeClr val="tx1"/>
                </a:solidFill>
              </a:rPr>
              <a:t>Spotlighting</a:t>
            </a:r>
            <a:endParaRPr lang="en-US" sz="1400" dirty="0"/>
          </a:p>
        </p:txBody>
      </p:sp>
      <p:sp>
        <p:nvSpPr>
          <p:cNvPr id="22" name="Text 16"/>
          <p:cNvSpPr txBox="1"/>
          <p:nvPr/>
        </p:nvSpPr>
        <p:spPr>
          <a:xfrm>
            <a:off x="685800" y="2926080"/>
            <a:ext cx="2377440" cy="384048"/>
          </a:xfrm>
          <a:prstGeom prst="rect">
            <a:avLst/>
          </a:prstGeom>
          <a:noFill/>
          <a:ln/>
        </p:spPr>
        <p:txBody>
          <a:bodyPr wrap="square" lIns="0" tIns="0" rIns="0" bIns="0" rtlCol="0" anchor="t"/>
          <a:lstStyle/>
          <a:p>
            <a:pPr indent="0" marL="0">
              <a:buNone/>
            </a:pPr>
            <a:r>
              <a:rPr lang="en-US" sz="1100" dirty="0">
                <a:solidFill>
                  <a:schemeClr val="tx2"/>
                </a:solidFill>
              </a:rPr>
              <a:t>Tool results arrive marked as data, never as instructions.</a:t>
            </a:r>
            <a:endParaRPr lang="en-US" sz="1100" dirty="0"/>
          </a:p>
        </p:txBody>
      </p:sp>
      <p:sp>
        <p:nvSpPr>
          <p:cNvPr id="23" name="control Injection judge"/>
          <p:cNvSpPr/>
          <p:nvPr/>
        </p:nvSpPr>
        <p:spPr>
          <a:xfrm>
            <a:off x="3268980" y="2350008"/>
            <a:ext cx="2606040" cy="987552"/>
          </a:xfrm>
          <a:prstGeom prst="roundRect">
            <a:avLst>
              <a:gd name="adj" fmla="val 7407"/>
            </a:avLst>
          </a:prstGeom>
          <a:solidFill>
            <a:schemeClr val="bg2"/>
          </a:solidFill>
          <a:ln/>
        </p:spPr>
      </p:sp>
      <p:sp>
        <p:nvSpPr>
          <p:cNvPr id="24" name="icon Injection judge"/>
          <p:cNvSpPr/>
          <p:nvPr/>
        </p:nvSpPr>
        <p:spPr>
          <a:xfrm>
            <a:off x="3406140" y="2487168"/>
            <a:ext cx="411480" cy="411480"/>
          </a:xfrm>
          <a:prstGeom prst="ellipse">
            <a:avLst/>
          </a:prstGeom>
          <a:solidFill>
            <a:schemeClr val="tx1"/>
          </a:solidFill>
          <a:ln/>
        </p:spPr>
      </p:sp>
      <p:pic>
        <p:nvPicPr>
          <p:cNvPr id="25" name="Image 4" descr="preencoded.png">    </p:cNvPr>
          <p:cNvPicPr>
            <a:picLocks noChangeAspect="1"/>
          </p:cNvPicPr>
          <p:nvPr/>
        </p:nvPicPr>
        <p:blipFill>
          <a:blip r:embed="rId5"/>
          <a:stretch>
            <a:fillRect/>
          </a:stretch>
        </p:blipFill>
        <p:spPr>
          <a:xfrm>
            <a:off x="3509010" y="2590038"/>
            <a:ext cx="205740" cy="205740"/>
          </a:xfrm>
          <a:prstGeom prst="rect">
            <a:avLst/>
          </a:prstGeom>
        </p:spPr>
      </p:pic>
      <p:sp>
        <p:nvSpPr>
          <p:cNvPr id="26" name="Text 19"/>
          <p:cNvSpPr txBox="1"/>
          <p:nvPr/>
        </p:nvSpPr>
        <p:spPr>
          <a:xfrm>
            <a:off x="3927348" y="2487168"/>
            <a:ext cx="1828800" cy="411480"/>
          </a:xfrm>
          <a:prstGeom prst="rect">
            <a:avLst/>
          </a:prstGeom>
          <a:noFill/>
          <a:ln/>
        </p:spPr>
        <p:txBody>
          <a:bodyPr wrap="square" lIns="0" tIns="0" rIns="0" bIns="0" rtlCol="0" anchor="ctr"/>
          <a:lstStyle/>
          <a:p>
            <a:pPr indent="0" marL="0">
              <a:buNone/>
            </a:pPr>
            <a:r>
              <a:rPr lang="en-US" sz="1400" b="1" dirty="0">
                <a:solidFill>
                  <a:schemeClr val="tx1"/>
                </a:solidFill>
              </a:rPr>
              <a:t>Injection judge</a:t>
            </a:r>
            <a:endParaRPr lang="en-US" sz="1400" dirty="0"/>
          </a:p>
        </p:txBody>
      </p:sp>
      <p:sp>
        <p:nvSpPr>
          <p:cNvPr id="27" name="Text 20"/>
          <p:cNvSpPr txBox="1"/>
          <p:nvPr/>
        </p:nvSpPr>
        <p:spPr>
          <a:xfrm>
            <a:off x="3406140" y="2926080"/>
            <a:ext cx="2377440" cy="384048"/>
          </a:xfrm>
          <a:prstGeom prst="rect">
            <a:avLst/>
          </a:prstGeom>
          <a:noFill/>
          <a:ln/>
        </p:spPr>
        <p:txBody>
          <a:bodyPr wrap="square" lIns="0" tIns="0" rIns="0" bIns="0" rtlCol="0" anchor="t"/>
          <a:lstStyle/>
          <a:p>
            <a:pPr indent="0" marL="0">
              <a:buNone/>
            </a:pPr>
            <a:r>
              <a:rPr lang="en-US" sz="1100" dirty="0">
                <a:solidFill>
                  <a:schemeClr val="tx2"/>
                </a:solidFill>
              </a:rPr>
              <a:t>Quarantines only the poisoned field. Fails closed on error.</a:t>
            </a:r>
            <a:endParaRPr lang="en-US" sz="1100" dirty="0"/>
          </a:p>
        </p:txBody>
      </p:sp>
      <p:sp>
        <p:nvSpPr>
          <p:cNvPr id="28" name="control Information barrier"/>
          <p:cNvSpPr/>
          <p:nvPr/>
        </p:nvSpPr>
        <p:spPr>
          <a:xfrm>
            <a:off x="5989320" y="2350008"/>
            <a:ext cx="2606040" cy="987552"/>
          </a:xfrm>
          <a:prstGeom prst="roundRect">
            <a:avLst>
              <a:gd name="adj" fmla="val 7407"/>
            </a:avLst>
          </a:prstGeom>
          <a:solidFill>
            <a:schemeClr val="bg2"/>
          </a:solidFill>
          <a:ln/>
        </p:spPr>
      </p:sp>
      <p:sp>
        <p:nvSpPr>
          <p:cNvPr id="29" name="icon Information barrier"/>
          <p:cNvSpPr/>
          <p:nvPr/>
        </p:nvSpPr>
        <p:spPr>
          <a:xfrm>
            <a:off x="6126480" y="2487168"/>
            <a:ext cx="411480" cy="411480"/>
          </a:xfrm>
          <a:prstGeom prst="ellipse">
            <a:avLst/>
          </a:prstGeom>
          <a:solidFill>
            <a:schemeClr val="tx1"/>
          </a:solidFill>
          <a:ln/>
        </p:spPr>
      </p:sp>
      <p:pic>
        <p:nvPicPr>
          <p:cNvPr id="30" name="Image 5" descr="preencoded.png">    </p:cNvPr>
          <p:cNvPicPr>
            <a:picLocks noChangeAspect="1"/>
          </p:cNvPicPr>
          <p:nvPr/>
        </p:nvPicPr>
        <p:blipFill>
          <a:blip r:embed="rId6"/>
          <a:stretch>
            <a:fillRect/>
          </a:stretch>
        </p:blipFill>
        <p:spPr>
          <a:xfrm>
            <a:off x="6229350" y="2590038"/>
            <a:ext cx="205740" cy="205740"/>
          </a:xfrm>
          <a:prstGeom prst="rect">
            <a:avLst/>
          </a:prstGeom>
        </p:spPr>
      </p:pic>
      <p:sp>
        <p:nvSpPr>
          <p:cNvPr id="31" name="Text 23"/>
          <p:cNvSpPr txBox="1"/>
          <p:nvPr/>
        </p:nvSpPr>
        <p:spPr>
          <a:xfrm>
            <a:off x="6647688" y="2487168"/>
            <a:ext cx="1828800" cy="411480"/>
          </a:xfrm>
          <a:prstGeom prst="rect">
            <a:avLst/>
          </a:prstGeom>
          <a:noFill/>
          <a:ln/>
        </p:spPr>
        <p:txBody>
          <a:bodyPr wrap="square" lIns="0" tIns="0" rIns="0" bIns="0" rtlCol="0" anchor="ctr"/>
          <a:lstStyle/>
          <a:p>
            <a:pPr indent="0" marL="0">
              <a:buNone/>
            </a:pPr>
            <a:r>
              <a:rPr lang="en-US" sz="1400" b="1" dirty="0">
                <a:solidFill>
                  <a:schemeClr val="tx1"/>
                </a:solidFill>
              </a:rPr>
              <a:t>Information barrier</a:t>
            </a:r>
            <a:endParaRPr lang="en-US" sz="1400" dirty="0"/>
          </a:p>
        </p:txBody>
      </p:sp>
      <p:sp>
        <p:nvSpPr>
          <p:cNvPr id="32" name="Text 24"/>
          <p:cNvSpPr txBox="1"/>
          <p:nvPr/>
        </p:nvSpPr>
        <p:spPr>
          <a:xfrm>
            <a:off x="6126480" y="2926080"/>
            <a:ext cx="2377440" cy="384048"/>
          </a:xfrm>
          <a:prstGeom prst="rect">
            <a:avLst/>
          </a:prstGeom>
          <a:noFill/>
          <a:ln/>
        </p:spPr>
        <p:txBody>
          <a:bodyPr wrap="square" lIns="0" tIns="0" rIns="0" bIns="0" rtlCol="0" anchor="t"/>
          <a:lstStyle/>
          <a:p>
            <a:pPr indent="0" marL="0">
              <a:buNone/>
            </a:pPr>
            <a:r>
              <a:rPr lang="en-US" sz="1100" dirty="0">
                <a:solidFill>
                  <a:schemeClr val="tx2"/>
                </a:solidFill>
              </a:rPr>
              <a:t>Restricted deals withheld, without confirming they exist.</a:t>
            </a:r>
            <a:endParaRPr lang="en-US" sz="1100" dirty="0"/>
          </a:p>
        </p:txBody>
      </p:sp>
      <p:sp>
        <p:nvSpPr>
          <p:cNvPr id="33" name="control Flow rule"/>
          <p:cNvSpPr/>
          <p:nvPr/>
        </p:nvSpPr>
        <p:spPr>
          <a:xfrm>
            <a:off x="548640" y="3465576"/>
            <a:ext cx="2606040" cy="987552"/>
          </a:xfrm>
          <a:prstGeom prst="roundRect">
            <a:avLst>
              <a:gd name="adj" fmla="val 7407"/>
            </a:avLst>
          </a:prstGeom>
          <a:solidFill>
            <a:schemeClr val="bg2"/>
          </a:solidFill>
          <a:ln/>
        </p:spPr>
      </p:sp>
      <p:sp>
        <p:nvSpPr>
          <p:cNvPr id="34" name="icon Flow rule"/>
          <p:cNvSpPr/>
          <p:nvPr/>
        </p:nvSpPr>
        <p:spPr>
          <a:xfrm>
            <a:off x="685800" y="3602736"/>
            <a:ext cx="411480" cy="411480"/>
          </a:xfrm>
          <a:prstGeom prst="ellipse">
            <a:avLst/>
          </a:prstGeom>
          <a:solidFill>
            <a:schemeClr val="tx1"/>
          </a:solidFill>
          <a:ln/>
        </p:spPr>
      </p:sp>
      <p:pic>
        <p:nvPicPr>
          <p:cNvPr id="35" name="Image 6" descr="preencoded.png">    </p:cNvPr>
          <p:cNvPicPr>
            <a:picLocks noChangeAspect="1"/>
          </p:cNvPicPr>
          <p:nvPr/>
        </p:nvPicPr>
        <p:blipFill>
          <a:blip r:embed="rId7"/>
          <a:stretch>
            <a:fillRect/>
          </a:stretch>
        </p:blipFill>
        <p:spPr>
          <a:xfrm>
            <a:off x="788670" y="3705606"/>
            <a:ext cx="205740" cy="205740"/>
          </a:xfrm>
          <a:prstGeom prst="rect">
            <a:avLst/>
          </a:prstGeom>
        </p:spPr>
      </p:pic>
      <p:sp>
        <p:nvSpPr>
          <p:cNvPr id="36" name="Text 27"/>
          <p:cNvSpPr txBox="1"/>
          <p:nvPr/>
        </p:nvSpPr>
        <p:spPr>
          <a:xfrm>
            <a:off x="1207008" y="3602736"/>
            <a:ext cx="1828800" cy="411480"/>
          </a:xfrm>
          <a:prstGeom prst="rect">
            <a:avLst/>
          </a:prstGeom>
          <a:noFill/>
          <a:ln/>
        </p:spPr>
        <p:txBody>
          <a:bodyPr wrap="square" lIns="0" tIns="0" rIns="0" bIns="0" rtlCol="0" anchor="ctr"/>
          <a:lstStyle/>
          <a:p>
            <a:pPr indent="0" marL="0">
              <a:buNone/>
            </a:pPr>
            <a:r>
              <a:rPr lang="en-US" sz="1400" b="1" dirty="0">
                <a:solidFill>
                  <a:schemeClr val="tx1"/>
                </a:solidFill>
              </a:rPr>
              <a:t>Flow rule</a:t>
            </a:r>
            <a:endParaRPr lang="en-US" sz="1400" dirty="0"/>
          </a:p>
        </p:txBody>
      </p:sp>
      <p:sp>
        <p:nvSpPr>
          <p:cNvPr id="37" name="Text 28"/>
          <p:cNvSpPr txBox="1"/>
          <p:nvPr/>
        </p:nvSpPr>
        <p:spPr>
          <a:xfrm>
            <a:off x="685800" y="4041648"/>
            <a:ext cx="2377440" cy="384048"/>
          </a:xfrm>
          <a:prstGeom prst="rect">
            <a:avLst/>
          </a:prstGeom>
          <a:noFill/>
          <a:ln/>
        </p:spPr>
        <p:txBody>
          <a:bodyPr wrap="square" lIns="0" tIns="0" rIns="0" bIns="0" rtlCol="0" anchor="t"/>
          <a:lstStyle/>
          <a:p>
            <a:pPr indent="0" marL="0">
              <a:buNone/>
            </a:pPr>
            <a:r>
              <a:rPr lang="en-US" sz="1100" dirty="0">
                <a:solidFill>
                  <a:schemeClr val="tx2"/>
                </a:solidFill>
              </a:rPr>
              <a:t>Sensitive data headed to an external sink: call dropped.</a:t>
            </a:r>
            <a:endParaRPr lang="en-US" sz="1100" dirty="0"/>
          </a:p>
        </p:txBody>
      </p:sp>
      <p:sp>
        <p:nvSpPr>
          <p:cNvPr id="38" name="control Budgets"/>
          <p:cNvSpPr/>
          <p:nvPr/>
        </p:nvSpPr>
        <p:spPr>
          <a:xfrm>
            <a:off x="3268980" y="3465576"/>
            <a:ext cx="2606040" cy="987552"/>
          </a:xfrm>
          <a:prstGeom prst="roundRect">
            <a:avLst>
              <a:gd name="adj" fmla="val 7407"/>
            </a:avLst>
          </a:prstGeom>
          <a:solidFill>
            <a:schemeClr val="bg2"/>
          </a:solidFill>
          <a:ln/>
        </p:spPr>
      </p:sp>
      <p:sp>
        <p:nvSpPr>
          <p:cNvPr id="39" name="icon Budgets"/>
          <p:cNvSpPr/>
          <p:nvPr/>
        </p:nvSpPr>
        <p:spPr>
          <a:xfrm>
            <a:off x="3406140" y="3602736"/>
            <a:ext cx="411480" cy="411480"/>
          </a:xfrm>
          <a:prstGeom prst="ellipse">
            <a:avLst/>
          </a:prstGeom>
          <a:solidFill>
            <a:schemeClr val="tx1"/>
          </a:solidFill>
          <a:ln/>
        </p:spPr>
      </p:sp>
      <p:pic>
        <p:nvPicPr>
          <p:cNvPr id="40" name="Image 7" descr="preencoded.png">    </p:cNvPr>
          <p:cNvPicPr>
            <a:picLocks noChangeAspect="1"/>
          </p:cNvPicPr>
          <p:nvPr/>
        </p:nvPicPr>
        <p:blipFill>
          <a:blip r:embed="rId8"/>
          <a:stretch>
            <a:fillRect/>
          </a:stretch>
        </p:blipFill>
        <p:spPr>
          <a:xfrm>
            <a:off x="3509010" y="3705606"/>
            <a:ext cx="205740" cy="205740"/>
          </a:xfrm>
          <a:prstGeom prst="rect">
            <a:avLst/>
          </a:prstGeom>
        </p:spPr>
      </p:pic>
      <p:sp>
        <p:nvSpPr>
          <p:cNvPr id="41" name="Text 31"/>
          <p:cNvSpPr txBox="1"/>
          <p:nvPr/>
        </p:nvSpPr>
        <p:spPr>
          <a:xfrm>
            <a:off x="3927348" y="3602736"/>
            <a:ext cx="1828800" cy="411480"/>
          </a:xfrm>
          <a:prstGeom prst="rect">
            <a:avLst/>
          </a:prstGeom>
          <a:noFill/>
          <a:ln/>
        </p:spPr>
        <p:txBody>
          <a:bodyPr wrap="square" lIns="0" tIns="0" rIns="0" bIns="0" rtlCol="0" anchor="ctr"/>
          <a:lstStyle/>
          <a:p>
            <a:pPr indent="0" marL="0">
              <a:buNone/>
            </a:pPr>
            <a:r>
              <a:rPr lang="en-US" sz="1400" b="1" dirty="0">
                <a:solidFill>
                  <a:schemeClr val="tx1"/>
                </a:solidFill>
              </a:rPr>
              <a:t>Budgets</a:t>
            </a:r>
            <a:endParaRPr lang="en-US" sz="1400" dirty="0"/>
          </a:p>
        </p:txBody>
      </p:sp>
      <p:sp>
        <p:nvSpPr>
          <p:cNvPr id="42" name="Text 32"/>
          <p:cNvSpPr txBox="1"/>
          <p:nvPr/>
        </p:nvSpPr>
        <p:spPr>
          <a:xfrm>
            <a:off x="3406140" y="4041648"/>
            <a:ext cx="2377440" cy="384048"/>
          </a:xfrm>
          <a:prstGeom prst="rect">
            <a:avLst/>
          </a:prstGeom>
          <a:noFill/>
          <a:ln/>
        </p:spPr>
        <p:txBody>
          <a:bodyPr wrap="square" lIns="0" tIns="0" rIns="0" bIns="0" rtlCol="0" anchor="t"/>
          <a:lstStyle/>
          <a:p>
            <a:pPr indent="0" marL="0">
              <a:buNone/>
            </a:pPr>
            <a:r>
              <a:rPr lang="en-US" sz="1100" dirty="0">
                <a:solidFill>
                  <a:schemeClr val="tx2"/>
                </a:solidFill>
              </a:rPr>
              <a:t>Tokens, dollars, compute, tool calls. Runaway loops stop.</a:t>
            </a:r>
            <a:endParaRPr lang="en-US" sz="1100" dirty="0"/>
          </a:p>
        </p:txBody>
      </p:sp>
      <p:sp>
        <p:nvSpPr>
          <p:cNvPr id="43" name="control Threat signatures"/>
          <p:cNvSpPr/>
          <p:nvPr/>
        </p:nvSpPr>
        <p:spPr>
          <a:xfrm>
            <a:off x="5989320" y="3465576"/>
            <a:ext cx="2606040" cy="987552"/>
          </a:xfrm>
          <a:prstGeom prst="roundRect">
            <a:avLst>
              <a:gd name="adj" fmla="val 7407"/>
            </a:avLst>
          </a:prstGeom>
          <a:solidFill>
            <a:schemeClr val="bg2"/>
          </a:solidFill>
          <a:ln/>
        </p:spPr>
      </p:sp>
      <p:sp>
        <p:nvSpPr>
          <p:cNvPr id="44" name="icon Threat signatures"/>
          <p:cNvSpPr/>
          <p:nvPr/>
        </p:nvSpPr>
        <p:spPr>
          <a:xfrm>
            <a:off x="6126480" y="3602736"/>
            <a:ext cx="411480" cy="411480"/>
          </a:xfrm>
          <a:prstGeom prst="ellipse">
            <a:avLst/>
          </a:prstGeom>
          <a:solidFill>
            <a:schemeClr val="tx1"/>
          </a:solidFill>
          <a:ln/>
        </p:spPr>
      </p:sp>
      <p:pic>
        <p:nvPicPr>
          <p:cNvPr id="45" name="Image 8" descr="preencoded.png">    </p:cNvPr>
          <p:cNvPicPr>
            <a:picLocks noChangeAspect="1"/>
          </p:cNvPicPr>
          <p:nvPr/>
        </p:nvPicPr>
        <p:blipFill>
          <a:blip r:embed="rId9"/>
          <a:stretch>
            <a:fillRect/>
          </a:stretch>
        </p:blipFill>
        <p:spPr>
          <a:xfrm>
            <a:off x="6229350" y="3705606"/>
            <a:ext cx="205740" cy="205740"/>
          </a:xfrm>
          <a:prstGeom prst="rect">
            <a:avLst/>
          </a:prstGeom>
        </p:spPr>
      </p:pic>
      <p:sp>
        <p:nvSpPr>
          <p:cNvPr id="46" name="Text 35"/>
          <p:cNvSpPr txBox="1"/>
          <p:nvPr/>
        </p:nvSpPr>
        <p:spPr>
          <a:xfrm>
            <a:off x="6647688" y="3602736"/>
            <a:ext cx="1828800" cy="411480"/>
          </a:xfrm>
          <a:prstGeom prst="rect">
            <a:avLst/>
          </a:prstGeom>
          <a:noFill/>
          <a:ln/>
        </p:spPr>
        <p:txBody>
          <a:bodyPr wrap="square" lIns="0" tIns="0" rIns="0" bIns="0" rtlCol="0" anchor="ctr"/>
          <a:lstStyle/>
          <a:p>
            <a:pPr indent="0" marL="0">
              <a:buNone/>
            </a:pPr>
            <a:r>
              <a:rPr lang="en-US" sz="1400" b="1" dirty="0">
                <a:solidFill>
                  <a:schemeClr val="tx1"/>
                </a:solidFill>
              </a:rPr>
              <a:t>Threat signatures</a:t>
            </a:r>
            <a:endParaRPr lang="en-US" sz="1400" dirty="0"/>
          </a:p>
        </p:txBody>
      </p:sp>
      <p:sp>
        <p:nvSpPr>
          <p:cNvPr id="47" name="Text 36"/>
          <p:cNvSpPr txBox="1"/>
          <p:nvPr/>
        </p:nvSpPr>
        <p:spPr>
          <a:xfrm>
            <a:off x="6126480" y="4041648"/>
            <a:ext cx="2377440" cy="384048"/>
          </a:xfrm>
          <a:prstGeom prst="rect">
            <a:avLst/>
          </a:prstGeom>
          <a:noFill/>
          <a:ln/>
        </p:spPr>
        <p:txBody>
          <a:bodyPr wrap="square" lIns="0" tIns="0" rIns="0" bIns="0" rtlCol="0" anchor="t"/>
          <a:lstStyle/>
          <a:p>
            <a:pPr indent="0" marL="0">
              <a:buNone/>
            </a:pPr>
            <a:r>
              <a:rPr lang="en-US" sz="1100" dirty="0">
                <a:solidFill>
                  <a:schemeClr val="tx2"/>
                </a:solidFill>
              </a:rPr>
              <a:t>Known attacks from a live feed, updated with no restart.</a:t>
            </a:r>
            <a:endParaRPr lang="en-US" sz="11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Live: three agents, three attacks</a:t>
            </a:r>
            <a:endParaRPr lang="en-US" sz="3200" dirty="0"/>
          </a:p>
        </p:txBody>
      </p:sp>
      <p:sp>
        <p:nvSpPr>
          <p:cNvPr id="3" name="act 1"/>
          <p:cNvSpPr/>
          <p:nvPr/>
        </p:nvSpPr>
        <p:spPr>
          <a:xfrm>
            <a:off x="548640" y="1234440"/>
            <a:ext cx="2560320" cy="2697480"/>
          </a:xfrm>
          <a:prstGeom prst="roundRect">
            <a:avLst>
              <a:gd name="adj" fmla="val 3571"/>
            </a:avLst>
          </a:prstGeom>
          <a:solidFill>
            <a:schemeClr val="tx2"/>
          </a:solidFill>
          <a:ln/>
        </p:spPr>
      </p:sp>
      <p:sp>
        <p:nvSpPr>
          <p:cNvPr id="4" name="Olivia icon"/>
          <p:cNvSpPr/>
          <p:nvPr/>
        </p:nvSpPr>
        <p:spPr>
          <a:xfrm>
            <a:off x="731520" y="1371600"/>
            <a:ext cx="502920" cy="502920"/>
          </a:xfrm>
          <a:prstGeom prst="ellipse">
            <a:avLst/>
          </a:prstGeom>
          <a:solidFill>
            <a:schemeClr val="accent6"/>
          </a:solidFill>
          <a:ln/>
        </p:spPr>
      </p:sp>
      <p:pic>
        <p:nvPicPr>
          <p:cNvPr id="5" name="Image 0" descr="preencoded.png">    </p:cNvPr>
          <p:cNvPicPr>
            <a:picLocks noChangeAspect="1"/>
          </p:cNvPicPr>
          <p:nvPr/>
        </p:nvPicPr>
        <p:blipFill>
          <a:blip r:embed="rId1"/>
          <a:stretch>
            <a:fillRect/>
          </a:stretch>
        </p:blipFill>
        <p:spPr>
          <a:xfrm>
            <a:off x="857250" y="1497330"/>
            <a:ext cx="251460" cy="251460"/>
          </a:xfrm>
          <a:prstGeom prst="rect">
            <a:avLst/>
          </a:prstGeom>
        </p:spPr>
      </p:pic>
      <p:sp>
        <p:nvSpPr>
          <p:cNvPr id="6" name="Text 3"/>
          <p:cNvSpPr txBox="1"/>
          <p:nvPr/>
        </p:nvSpPr>
        <p:spPr>
          <a:xfrm>
            <a:off x="1371600" y="1353312"/>
            <a:ext cx="1645920" cy="301752"/>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Olivia</a:t>
            </a:r>
            <a:endParaRPr lang="en-US" sz="1800" dirty="0"/>
          </a:p>
        </p:txBody>
      </p:sp>
      <p:sp>
        <p:nvSpPr>
          <p:cNvPr id="7" name="Text 4"/>
          <p:cNvSpPr txBox="1"/>
          <p:nvPr/>
        </p:nvSpPr>
        <p:spPr>
          <a:xfrm>
            <a:off x="1371600" y="1645920"/>
            <a:ext cx="1645920" cy="274320"/>
          </a:xfrm>
          <a:prstGeom prst="rect">
            <a:avLst/>
          </a:prstGeom>
          <a:noFill/>
          <a:ln/>
        </p:spPr>
        <p:txBody>
          <a:bodyPr wrap="square" lIns="0" tIns="0" rIns="0" bIns="0" rtlCol="0" anchor="ctr"/>
          <a:lstStyle/>
          <a:p>
            <a:pPr indent="0" marL="0">
              <a:buNone/>
            </a:pPr>
            <a:r>
              <a:rPr lang="en-US" sz="1000" dirty="0">
                <a:solidFill>
                  <a:schemeClr val="accent5"/>
                </a:solidFill>
              </a:rPr>
              <a:t>Onboarding analyst · public side</a:t>
            </a:r>
            <a:endParaRPr lang="en-US" sz="1000" dirty="0"/>
          </a:p>
        </p:txBody>
      </p:sp>
      <p:sp>
        <p:nvSpPr>
          <p:cNvPr id="8" name="Text 5"/>
          <p:cNvSpPr txBox="1"/>
          <p:nvPr/>
        </p:nvSpPr>
        <p:spPr>
          <a:xfrm>
            <a:off x="731520" y="2057400"/>
            <a:ext cx="2194560" cy="201168"/>
          </a:xfrm>
          <a:prstGeom prst="rect">
            <a:avLst/>
          </a:prstGeom>
          <a:noFill/>
          <a:ln/>
        </p:spPr>
        <p:txBody>
          <a:bodyPr wrap="square" lIns="0" tIns="0" rIns="0" bIns="0" rtlCol="0" anchor="ctr"/>
          <a:lstStyle/>
          <a:p>
            <a:pPr indent="0" marL="0">
              <a:buNone/>
            </a:pPr>
            <a:r>
              <a:rPr lang="en-US" sz="900" b="1" spc="200" kern="0" dirty="0">
                <a:solidFill>
                  <a:schemeClr val="accent3"/>
                </a:solidFill>
              </a:rPr>
              <a:t>ATTACK</a:t>
            </a:r>
            <a:endParaRPr lang="en-US" sz="900" dirty="0"/>
          </a:p>
        </p:txBody>
      </p:sp>
      <p:sp>
        <p:nvSpPr>
          <p:cNvPr id="9" name="Text 6"/>
          <p:cNvSpPr txBox="1"/>
          <p:nvPr/>
        </p:nvSpPr>
        <p:spPr>
          <a:xfrm>
            <a:off x="731520" y="2267712"/>
            <a:ext cx="2194560" cy="548640"/>
          </a:xfrm>
          <a:prstGeom prst="rect">
            <a:avLst/>
          </a:prstGeom>
          <a:noFill/>
          <a:ln/>
        </p:spPr>
        <p:txBody>
          <a:bodyPr wrap="square" lIns="0" tIns="0" rIns="0" bIns="0" rtlCol="0" anchor="t"/>
          <a:lstStyle/>
          <a:p>
            <a:pPr indent="0" marL="0">
              <a:buNone/>
            </a:pPr>
            <a:r>
              <a:rPr lang="en-US" sz="1300" dirty="0">
                <a:solidFill>
                  <a:schemeClr val="bg1"/>
                </a:solidFill>
              </a:rPr>
              <a:t>A client document tells the agent to leak deals.</a:t>
            </a:r>
            <a:endParaRPr lang="en-US" sz="1300" dirty="0"/>
          </a:p>
        </p:txBody>
      </p:sp>
      <p:sp>
        <p:nvSpPr>
          <p:cNvPr id="10" name="Text 7"/>
          <p:cNvSpPr txBox="1"/>
          <p:nvPr/>
        </p:nvSpPr>
        <p:spPr>
          <a:xfrm>
            <a:off x="731520" y="2880360"/>
            <a:ext cx="2194560" cy="201168"/>
          </a:xfrm>
          <a:prstGeom prst="rect">
            <a:avLst/>
          </a:prstGeom>
          <a:noFill/>
          <a:ln/>
        </p:spPr>
        <p:txBody>
          <a:bodyPr wrap="square" lIns="0" tIns="0" rIns="0" bIns="0" rtlCol="0" anchor="ctr"/>
          <a:lstStyle/>
          <a:p>
            <a:pPr indent="0" marL="0">
              <a:buNone/>
            </a:pPr>
            <a:r>
              <a:rPr lang="en-US" sz="900" b="1" spc="200" kern="0" dirty="0">
                <a:solidFill>
                  <a:schemeClr val="accent2"/>
                </a:solidFill>
              </a:rPr>
              <a:t>WHAT YOU SEE</a:t>
            </a:r>
            <a:endParaRPr lang="en-US" sz="900" dirty="0"/>
          </a:p>
        </p:txBody>
      </p:sp>
      <p:sp>
        <p:nvSpPr>
          <p:cNvPr id="11" name="Text 8"/>
          <p:cNvSpPr txBox="1"/>
          <p:nvPr/>
        </p:nvSpPr>
        <p:spPr>
          <a:xfrm>
            <a:off x="731520" y="3090672"/>
            <a:ext cx="2194560" cy="777240"/>
          </a:xfrm>
          <a:prstGeom prst="rect">
            <a:avLst/>
          </a:prstGeom>
          <a:noFill/>
          <a:ln/>
        </p:spPr>
        <p:txBody>
          <a:bodyPr wrap="square" lIns="0" tIns="0" rIns="0" bIns="0" rtlCol="0" anchor="t"/>
          <a:lstStyle/>
          <a:p>
            <a:pPr indent="0" marL="0">
              <a:buNone/>
            </a:pPr>
            <a:r>
              <a:rPr lang="en-US" sz="1300" dirty="0">
                <a:solidFill>
                  <a:schemeClr val="bg1"/>
                </a:solidFill>
              </a:rPr>
              <a:t>Poisoned field quarantined. The passport reaches only the sanctions check.</a:t>
            </a:r>
            <a:endParaRPr lang="en-US" sz="1300" dirty="0"/>
          </a:p>
        </p:txBody>
      </p:sp>
      <p:sp>
        <p:nvSpPr>
          <p:cNvPr id="12" name="act 2"/>
          <p:cNvSpPr/>
          <p:nvPr/>
        </p:nvSpPr>
        <p:spPr>
          <a:xfrm>
            <a:off x="3291840" y="1234440"/>
            <a:ext cx="2560320" cy="2697480"/>
          </a:xfrm>
          <a:prstGeom prst="roundRect">
            <a:avLst>
              <a:gd name="adj" fmla="val 3571"/>
            </a:avLst>
          </a:prstGeom>
          <a:solidFill>
            <a:schemeClr val="tx2"/>
          </a:solidFill>
          <a:ln/>
        </p:spPr>
      </p:sp>
      <p:sp>
        <p:nvSpPr>
          <p:cNvPr id="13" name="Marcus icon"/>
          <p:cNvSpPr/>
          <p:nvPr/>
        </p:nvSpPr>
        <p:spPr>
          <a:xfrm>
            <a:off x="3474720" y="1371600"/>
            <a:ext cx="502920" cy="502920"/>
          </a:xfrm>
          <a:prstGeom prst="ellipse">
            <a:avLst/>
          </a:prstGeom>
          <a:solidFill>
            <a:schemeClr val="accent6"/>
          </a:solidFill>
          <a:ln/>
        </p:spPr>
      </p:sp>
      <p:pic>
        <p:nvPicPr>
          <p:cNvPr id="14" name="Image 1" descr="preencoded.png">    </p:cNvPr>
          <p:cNvPicPr>
            <a:picLocks noChangeAspect="1"/>
          </p:cNvPicPr>
          <p:nvPr/>
        </p:nvPicPr>
        <p:blipFill>
          <a:blip r:embed="rId2"/>
          <a:stretch>
            <a:fillRect/>
          </a:stretch>
        </p:blipFill>
        <p:spPr>
          <a:xfrm>
            <a:off x="3600450" y="1497330"/>
            <a:ext cx="251460" cy="251460"/>
          </a:xfrm>
          <a:prstGeom prst="rect">
            <a:avLst/>
          </a:prstGeom>
        </p:spPr>
      </p:pic>
      <p:sp>
        <p:nvSpPr>
          <p:cNvPr id="15" name="Text 11"/>
          <p:cNvSpPr txBox="1"/>
          <p:nvPr/>
        </p:nvSpPr>
        <p:spPr>
          <a:xfrm>
            <a:off x="4114800" y="1353312"/>
            <a:ext cx="1645920" cy="301752"/>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Marcus</a:t>
            </a:r>
            <a:endParaRPr lang="en-US" sz="1800" dirty="0"/>
          </a:p>
        </p:txBody>
      </p:sp>
      <p:sp>
        <p:nvSpPr>
          <p:cNvPr id="16" name="Text 12"/>
          <p:cNvSpPr txBox="1"/>
          <p:nvPr/>
        </p:nvSpPr>
        <p:spPr>
          <a:xfrm>
            <a:off x="4114800" y="1645920"/>
            <a:ext cx="1645920" cy="274320"/>
          </a:xfrm>
          <a:prstGeom prst="rect">
            <a:avLst/>
          </a:prstGeom>
          <a:noFill/>
          <a:ln/>
        </p:spPr>
        <p:txBody>
          <a:bodyPr wrap="square" lIns="0" tIns="0" rIns="0" bIns="0" rtlCol="0" anchor="ctr"/>
          <a:lstStyle/>
          <a:p>
            <a:pPr indent="0" marL="0">
              <a:buNone/>
            </a:pPr>
            <a:r>
              <a:rPr lang="en-US" sz="1000" dirty="0">
                <a:solidFill>
                  <a:schemeClr val="accent5"/>
                </a:solidFill>
              </a:rPr>
              <a:t>M&amp;A banker · Falcon deal team</a:t>
            </a:r>
            <a:endParaRPr lang="en-US" sz="1000" dirty="0"/>
          </a:p>
        </p:txBody>
      </p:sp>
      <p:sp>
        <p:nvSpPr>
          <p:cNvPr id="17" name="Text 13"/>
          <p:cNvSpPr txBox="1"/>
          <p:nvPr/>
        </p:nvSpPr>
        <p:spPr>
          <a:xfrm>
            <a:off x="3474720" y="2057400"/>
            <a:ext cx="2194560" cy="201168"/>
          </a:xfrm>
          <a:prstGeom prst="rect">
            <a:avLst/>
          </a:prstGeom>
          <a:noFill/>
          <a:ln/>
        </p:spPr>
        <p:txBody>
          <a:bodyPr wrap="square" lIns="0" tIns="0" rIns="0" bIns="0" rtlCol="0" anchor="ctr"/>
          <a:lstStyle/>
          <a:p>
            <a:pPr indent="0" marL="0">
              <a:buNone/>
            </a:pPr>
            <a:r>
              <a:rPr lang="en-US" sz="900" b="1" spc="200" kern="0" dirty="0">
                <a:solidFill>
                  <a:schemeClr val="accent3"/>
                </a:solidFill>
              </a:rPr>
              <a:t>ATTACK</a:t>
            </a:r>
            <a:endParaRPr lang="en-US" sz="900" dirty="0"/>
          </a:p>
        </p:txBody>
      </p:sp>
      <p:sp>
        <p:nvSpPr>
          <p:cNvPr id="18" name="Text 14"/>
          <p:cNvSpPr txBox="1"/>
          <p:nvPr/>
        </p:nvSpPr>
        <p:spPr>
          <a:xfrm>
            <a:off x="3474720" y="2267712"/>
            <a:ext cx="2194560" cy="548640"/>
          </a:xfrm>
          <a:prstGeom prst="rect">
            <a:avLst/>
          </a:prstGeom>
          <a:noFill/>
          <a:ln/>
        </p:spPr>
        <p:txBody>
          <a:bodyPr wrap="square" lIns="0" tIns="0" rIns="0" bIns="0" rtlCol="0" anchor="t"/>
          <a:lstStyle/>
          <a:p>
            <a:pPr indent="0" marL="0">
              <a:buNone/>
            </a:pPr>
            <a:r>
              <a:rPr lang="en-US" sz="1300" dirty="0">
                <a:solidFill>
                  <a:schemeClr val="bg1"/>
                </a:solidFill>
              </a:rPr>
              <a:t>May read the Falcon memo. Asked to send it out.</a:t>
            </a:r>
            <a:endParaRPr lang="en-US" sz="1300" dirty="0"/>
          </a:p>
        </p:txBody>
      </p:sp>
      <p:sp>
        <p:nvSpPr>
          <p:cNvPr id="19" name="Text 15"/>
          <p:cNvSpPr txBox="1"/>
          <p:nvPr/>
        </p:nvSpPr>
        <p:spPr>
          <a:xfrm>
            <a:off x="3474720" y="2880360"/>
            <a:ext cx="2194560" cy="201168"/>
          </a:xfrm>
          <a:prstGeom prst="rect">
            <a:avLst/>
          </a:prstGeom>
          <a:noFill/>
          <a:ln/>
        </p:spPr>
        <p:txBody>
          <a:bodyPr wrap="square" lIns="0" tIns="0" rIns="0" bIns="0" rtlCol="0" anchor="ctr"/>
          <a:lstStyle/>
          <a:p>
            <a:pPr indent="0" marL="0">
              <a:buNone/>
            </a:pPr>
            <a:r>
              <a:rPr lang="en-US" sz="900" b="1" spc="200" kern="0" dirty="0">
                <a:solidFill>
                  <a:schemeClr val="accent2"/>
                </a:solidFill>
              </a:rPr>
              <a:t>WHAT YOU SEE</a:t>
            </a:r>
            <a:endParaRPr lang="en-US" sz="900" dirty="0"/>
          </a:p>
        </p:txBody>
      </p:sp>
      <p:sp>
        <p:nvSpPr>
          <p:cNvPr id="20" name="Text 16"/>
          <p:cNvSpPr txBox="1"/>
          <p:nvPr/>
        </p:nvSpPr>
        <p:spPr>
          <a:xfrm>
            <a:off x="3474720" y="3090672"/>
            <a:ext cx="2194560" cy="777240"/>
          </a:xfrm>
          <a:prstGeom prst="rect">
            <a:avLst/>
          </a:prstGeom>
          <a:noFill/>
          <a:ln/>
        </p:spPr>
        <p:txBody>
          <a:bodyPr wrap="square" lIns="0" tIns="0" rIns="0" bIns="0" rtlCol="0" anchor="t"/>
          <a:lstStyle/>
          <a:p>
            <a:pPr indent="0" marL="0">
              <a:buNone/>
            </a:pPr>
            <a:r>
              <a:rPr lang="en-US" sz="1300" dirty="0">
                <a:solidFill>
                  <a:schemeClr val="bg1"/>
                </a:solidFill>
              </a:rPr>
              <a:t>Reading: yes. Sending outside: blocked. The public side never learns Falcon exists.</a:t>
            </a:r>
            <a:endParaRPr lang="en-US" sz="1300" dirty="0"/>
          </a:p>
        </p:txBody>
      </p:sp>
      <p:sp>
        <p:nvSpPr>
          <p:cNvPr id="21" name="act 3"/>
          <p:cNvSpPr/>
          <p:nvPr/>
        </p:nvSpPr>
        <p:spPr>
          <a:xfrm>
            <a:off x="6035040" y="1234440"/>
            <a:ext cx="2560320" cy="2697480"/>
          </a:xfrm>
          <a:prstGeom prst="roundRect">
            <a:avLst>
              <a:gd name="adj" fmla="val 3571"/>
            </a:avLst>
          </a:prstGeom>
          <a:solidFill>
            <a:schemeClr val="tx2"/>
          </a:solidFill>
          <a:ln/>
        </p:spPr>
      </p:sp>
      <p:sp>
        <p:nvSpPr>
          <p:cNvPr id="22" name="Devon icon"/>
          <p:cNvSpPr/>
          <p:nvPr/>
        </p:nvSpPr>
        <p:spPr>
          <a:xfrm>
            <a:off x="6217920" y="1371600"/>
            <a:ext cx="502920" cy="502920"/>
          </a:xfrm>
          <a:prstGeom prst="ellipse">
            <a:avLst/>
          </a:prstGeom>
          <a:solidFill>
            <a:schemeClr val="accent6"/>
          </a:solidFill>
          <a:ln/>
        </p:spPr>
      </p:sp>
      <p:pic>
        <p:nvPicPr>
          <p:cNvPr id="23" name="Image 2" descr="preencoded.png">    </p:cNvPr>
          <p:cNvPicPr>
            <a:picLocks noChangeAspect="1"/>
          </p:cNvPicPr>
          <p:nvPr/>
        </p:nvPicPr>
        <p:blipFill>
          <a:blip r:embed="rId3"/>
          <a:stretch>
            <a:fillRect/>
          </a:stretch>
        </p:blipFill>
        <p:spPr>
          <a:xfrm>
            <a:off x="6343650" y="1497330"/>
            <a:ext cx="251460" cy="251460"/>
          </a:xfrm>
          <a:prstGeom prst="rect">
            <a:avLst/>
          </a:prstGeom>
        </p:spPr>
      </p:pic>
      <p:sp>
        <p:nvSpPr>
          <p:cNvPr id="24" name="Text 19"/>
          <p:cNvSpPr txBox="1"/>
          <p:nvPr/>
        </p:nvSpPr>
        <p:spPr>
          <a:xfrm>
            <a:off x="6858000" y="1353312"/>
            <a:ext cx="1645920" cy="301752"/>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Devon</a:t>
            </a:r>
            <a:endParaRPr lang="en-US" sz="1800" dirty="0"/>
          </a:p>
        </p:txBody>
      </p:sp>
      <p:sp>
        <p:nvSpPr>
          <p:cNvPr id="25" name="Text 20"/>
          <p:cNvSpPr txBox="1"/>
          <p:nvPr/>
        </p:nvSpPr>
        <p:spPr>
          <a:xfrm>
            <a:off x="6858000" y="1645920"/>
            <a:ext cx="1645920" cy="274320"/>
          </a:xfrm>
          <a:prstGeom prst="rect">
            <a:avLst/>
          </a:prstGeom>
          <a:noFill/>
          <a:ln/>
        </p:spPr>
        <p:txBody>
          <a:bodyPr wrap="square" lIns="0" tIns="0" rIns="0" bIns="0" rtlCol="0" anchor="ctr"/>
          <a:lstStyle/>
          <a:p>
            <a:pPr indent="0" marL="0">
              <a:buNone/>
            </a:pPr>
            <a:r>
              <a:rPr lang="en-US" sz="1000" dirty="0">
                <a:solidFill>
                  <a:schemeClr val="accent5"/>
                </a:solidFill>
              </a:rPr>
              <a:t>Developer · coding agent</a:t>
            </a:r>
            <a:endParaRPr lang="en-US" sz="1000" dirty="0"/>
          </a:p>
        </p:txBody>
      </p:sp>
      <p:sp>
        <p:nvSpPr>
          <p:cNvPr id="26" name="Text 21"/>
          <p:cNvSpPr txBox="1"/>
          <p:nvPr/>
        </p:nvSpPr>
        <p:spPr>
          <a:xfrm>
            <a:off x="6217920" y="2057400"/>
            <a:ext cx="2194560" cy="201168"/>
          </a:xfrm>
          <a:prstGeom prst="rect">
            <a:avLst/>
          </a:prstGeom>
          <a:noFill/>
          <a:ln/>
        </p:spPr>
        <p:txBody>
          <a:bodyPr wrap="square" lIns="0" tIns="0" rIns="0" bIns="0" rtlCol="0" anchor="ctr"/>
          <a:lstStyle/>
          <a:p>
            <a:pPr indent="0" marL="0">
              <a:buNone/>
            </a:pPr>
            <a:r>
              <a:rPr lang="en-US" sz="900" b="1" spc="200" kern="0" dirty="0">
                <a:solidFill>
                  <a:schemeClr val="accent3"/>
                </a:solidFill>
              </a:rPr>
              <a:t>ATTACK</a:t>
            </a:r>
            <a:endParaRPr lang="en-US" sz="900" dirty="0"/>
          </a:p>
        </p:txBody>
      </p:sp>
      <p:sp>
        <p:nvSpPr>
          <p:cNvPr id="27" name="Text 22"/>
          <p:cNvSpPr txBox="1"/>
          <p:nvPr/>
        </p:nvSpPr>
        <p:spPr>
          <a:xfrm>
            <a:off x="6217920" y="2267712"/>
            <a:ext cx="2194560" cy="548640"/>
          </a:xfrm>
          <a:prstGeom prst="rect">
            <a:avLst/>
          </a:prstGeom>
          <a:noFill/>
          <a:ln/>
        </p:spPr>
        <p:txBody>
          <a:bodyPr wrap="square" lIns="0" tIns="0" rIns="0" bIns="0" rtlCol="0" anchor="t"/>
          <a:lstStyle/>
          <a:p>
            <a:pPr indent="0" marL="0">
              <a:buNone/>
            </a:pPr>
            <a:r>
              <a:rPr lang="en-US" sz="1300" dirty="0">
                <a:solidFill>
                  <a:schemeClr val="bg1"/>
                </a:solidFill>
              </a:rPr>
              <a:t>A repo with an API key and a test loop that never ends.</a:t>
            </a:r>
            <a:endParaRPr lang="en-US" sz="1300" dirty="0"/>
          </a:p>
        </p:txBody>
      </p:sp>
      <p:sp>
        <p:nvSpPr>
          <p:cNvPr id="28" name="Text 23"/>
          <p:cNvSpPr txBox="1"/>
          <p:nvPr/>
        </p:nvSpPr>
        <p:spPr>
          <a:xfrm>
            <a:off x="6217920" y="2880360"/>
            <a:ext cx="2194560" cy="201168"/>
          </a:xfrm>
          <a:prstGeom prst="rect">
            <a:avLst/>
          </a:prstGeom>
          <a:noFill/>
          <a:ln/>
        </p:spPr>
        <p:txBody>
          <a:bodyPr wrap="square" lIns="0" tIns="0" rIns="0" bIns="0" rtlCol="0" anchor="ctr"/>
          <a:lstStyle/>
          <a:p>
            <a:pPr indent="0" marL="0">
              <a:buNone/>
            </a:pPr>
            <a:r>
              <a:rPr lang="en-US" sz="900" b="1" spc="200" kern="0" dirty="0">
                <a:solidFill>
                  <a:schemeClr val="accent2"/>
                </a:solidFill>
              </a:rPr>
              <a:t>WHAT YOU SEE</a:t>
            </a:r>
            <a:endParaRPr lang="en-US" sz="900" dirty="0"/>
          </a:p>
        </p:txBody>
      </p:sp>
      <p:sp>
        <p:nvSpPr>
          <p:cNvPr id="29" name="Text 24"/>
          <p:cNvSpPr txBox="1"/>
          <p:nvPr/>
        </p:nvSpPr>
        <p:spPr>
          <a:xfrm>
            <a:off x="6217920" y="3090672"/>
            <a:ext cx="2194560" cy="777240"/>
          </a:xfrm>
          <a:prstGeom prst="rect">
            <a:avLst/>
          </a:prstGeom>
          <a:noFill/>
          <a:ln/>
        </p:spPr>
        <p:txBody>
          <a:bodyPr wrap="square" lIns="0" tIns="0" rIns="0" bIns="0" rtlCol="0" anchor="t"/>
          <a:lstStyle/>
          <a:p>
            <a:pPr indent="0" marL="0">
              <a:buNone/>
            </a:pPr>
            <a:r>
              <a:rPr lang="en-US" sz="1300" dirty="0">
                <a:solidFill>
                  <a:schemeClr val="bg1"/>
                </a:solidFill>
              </a:rPr>
              <a:t>Key redacted. Upload to an outside URL blocked. Budget stops the loop.</a:t>
            </a:r>
            <a:endParaRPr lang="en-US" sz="1300" dirty="0"/>
          </a:p>
        </p:txBody>
      </p:sp>
      <p:sp>
        <p:nvSpPr>
          <p:cNvPr id="30" name="act 4"/>
          <p:cNvSpPr/>
          <p:nvPr/>
        </p:nvSpPr>
        <p:spPr>
          <a:xfrm>
            <a:off x="548640" y="4114800"/>
            <a:ext cx="8046720" cy="457200"/>
          </a:xfrm>
          <a:prstGeom prst="roundRect">
            <a:avLst>
              <a:gd name="adj" fmla="val 40000"/>
            </a:avLst>
          </a:prstGeom>
          <a:solidFill>
            <a:schemeClr val="accent1"/>
          </a:solidFill>
          <a:ln/>
        </p:spPr>
        <p:txBody>
          <a:bodyPr wrap="square" lIns="0" tIns="0" rIns="0" bIns="0" rtlCol="0" anchor="ctr"/>
          <a:lstStyle/>
          <a:p>
            <a:pPr algn="ctr" indent="0" marL="0">
              <a:buNone/>
            </a:pPr>
            <a:r>
              <a:rPr lang="en-US" sz="1600" b="1" dirty="0">
                <a:solidFill>
                  <a:schemeClr val="tx1"/>
                </a:solidFill>
              </a:rPr>
              <a:t>Act 4 · Your turn. </a:t>
            </a:r>
            <a:pPr algn="ctr" indent="0" marL="0">
              <a:buNone/>
            </a:pPr>
            <a:r>
              <a:rPr lang="en-US" sz="1600" dirty="0">
                <a:solidFill>
                  <a:schemeClr val="tx1"/>
                </a:solidFill>
              </a:rPr>
              <a:t>Edit policy.yaml while it runs. We touch nothing.</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Built to be checked, not trusted</a:t>
            </a:r>
            <a:endParaRPr lang="en-US" sz="3200" dirty="0"/>
          </a:p>
        </p:txBody>
      </p:sp>
      <p:sp>
        <p:nvSpPr>
          <p:cNvPr id="3" name="Text 1"/>
          <p:cNvSpPr txBox="1"/>
          <p:nvPr/>
        </p:nvSpPr>
        <p:spPr>
          <a:xfrm>
            <a:off x="548640" y="1325880"/>
            <a:ext cx="1874520" cy="914400"/>
          </a:xfrm>
          <a:prstGeom prst="rect">
            <a:avLst/>
          </a:prstGeom>
          <a:noFill/>
          <a:ln/>
        </p:spPr>
        <p:txBody>
          <a:bodyPr wrap="square" lIns="0" tIns="0" rIns="0" bIns="0" rtlCol="0" anchor="ctr"/>
          <a:lstStyle/>
          <a:p>
            <a:pPr indent="0" marL="0">
              <a:buNone/>
            </a:pPr>
            <a:r>
              <a:rPr lang="en-US" sz="6000" b="1" dirty="0">
                <a:solidFill>
                  <a:schemeClr val="tx1"/>
                </a:solidFill>
                <a:latin typeface="Cambria" pitchFamily="34" charset="0"/>
                <a:ea typeface="Cambria" pitchFamily="34" charset="-122"/>
                <a:cs typeface="Cambria" pitchFamily="34" charset="-120"/>
              </a:rPr>
              <a:t>100+</a:t>
            </a:r>
            <a:endParaRPr lang="en-US" sz="6000" dirty="0"/>
          </a:p>
        </p:txBody>
      </p:sp>
      <p:sp>
        <p:nvSpPr>
          <p:cNvPr id="4" name="Text 2"/>
          <p:cNvSpPr txBox="1"/>
          <p:nvPr/>
        </p:nvSpPr>
        <p:spPr>
          <a:xfrm>
            <a:off x="548640" y="2286000"/>
            <a:ext cx="1874520" cy="320040"/>
          </a:xfrm>
          <a:prstGeom prst="rect">
            <a:avLst/>
          </a:prstGeom>
          <a:noFill/>
          <a:ln/>
        </p:spPr>
        <p:txBody>
          <a:bodyPr wrap="square" lIns="0" tIns="0" rIns="0" bIns="0" rtlCol="0" anchor="ctr"/>
          <a:lstStyle/>
          <a:p>
            <a:pPr indent="0" marL="0">
              <a:buNone/>
            </a:pPr>
            <a:r>
              <a:rPr lang="en-US" sz="1600" b="1" dirty="0">
                <a:solidFill>
                  <a:schemeClr val="tx1"/>
                </a:solidFill>
              </a:rPr>
              <a:t>automated tests</a:t>
            </a:r>
            <a:endParaRPr lang="en-US" sz="1600" dirty="0"/>
          </a:p>
        </p:txBody>
      </p:sp>
      <p:sp>
        <p:nvSpPr>
          <p:cNvPr id="5" name="Text 3"/>
          <p:cNvSpPr txBox="1"/>
          <p:nvPr/>
        </p:nvSpPr>
        <p:spPr>
          <a:xfrm>
            <a:off x="548640" y="2633472"/>
            <a:ext cx="1828800" cy="731520"/>
          </a:xfrm>
          <a:prstGeom prst="rect">
            <a:avLst/>
          </a:prstGeom>
          <a:noFill/>
          <a:ln/>
        </p:spPr>
        <p:txBody>
          <a:bodyPr wrap="square" lIns="0" tIns="0" rIns="0" bIns="0" rtlCol="0" anchor="t"/>
          <a:lstStyle/>
          <a:p>
            <a:pPr indent="0" marL="0">
              <a:buNone/>
            </a:pPr>
            <a:r>
              <a:rPr lang="en-US" sz="1200" dirty="0">
                <a:solidFill>
                  <a:schemeClr val="tx2"/>
                </a:solidFill>
              </a:rPr>
              <a:t>about 7 s, no network, no keys; CI on every push</a:t>
            </a:r>
            <a:endParaRPr lang="en-US" sz="1200" dirty="0"/>
          </a:p>
        </p:txBody>
      </p:sp>
      <p:sp>
        <p:nvSpPr>
          <p:cNvPr id="6" name="Text 4"/>
          <p:cNvSpPr txBox="1"/>
          <p:nvPr/>
        </p:nvSpPr>
        <p:spPr>
          <a:xfrm>
            <a:off x="2606040" y="1325880"/>
            <a:ext cx="1874520" cy="914400"/>
          </a:xfrm>
          <a:prstGeom prst="rect">
            <a:avLst/>
          </a:prstGeom>
          <a:noFill/>
          <a:ln/>
        </p:spPr>
        <p:txBody>
          <a:bodyPr wrap="square" lIns="0" tIns="0" rIns="0" bIns="0" rtlCol="0" anchor="ctr"/>
          <a:lstStyle/>
          <a:p>
            <a:pPr indent="0" marL="0">
              <a:buNone/>
            </a:pPr>
            <a:r>
              <a:rPr lang="en-US" sz="6000" b="1" dirty="0">
                <a:solidFill>
                  <a:schemeClr val="tx1"/>
                </a:solidFill>
                <a:latin typeface="Cambria" pitchFamily="34" charset="0"/>
                <a:ea typeface="Cambria" pitchFamily="34" charset="-122"/>
                <a:cs typeface="Cambria" pitchFamily="34" charset="-120"/>
              </a:rPr>
              <a:t>0</a:t>
            </a:r>
            <a:endParaRPr lang="en-US" sz="6000" dirty="0"/>
          </a:p>
        </p:txBody>
      </p:sp>
      <p:sp>
        <p:nvSpPr>
          <p:cNvPr id="7" name="Text 5"/>
          <p:cNvSpPr txBox="1"/>
          <p:nvPr/>
        </p:nvSpPr>
        <p:spPr>
          <a:xfrm>
            <a:off x="2606040" y="2286000"/>
            <a:ext cx="1874520" cy="320040"/>
          </a:xfrm>
          <a:prstGeom prst="rect">
            <a:avLst/>
          </a:prstGeom>
          <a:noFill/>
          <a:ln/>
        </p:spPr>
        <p:txBody>
          <a:bodyPr wrap="square" lIns="0" tIns="0" rIns="0" bIns="0" rtlCol="0" anchor="ctr"/>
          <a:lstStyle/>
          <a:p>
            <a:pPr indent="0" marL="0">
              <a:buNone/>
            </a:pPr>
            <a:r>
              <a:rPr lang="en-US" sz="1600" b="1" dirty="0">
                <a:solidFill>
                  <a:schemeClr val="tx1"/>
                </a:solidFill>
              </a:rPr>
              <a:t>paid APIs</a:t>
            </a:r>
            <a:endParaRPr lang="en-US" sz="1600" dirty="0"/>
          </a:p>
        </p:txBody>
      </p:sp>
      <p:sp>
        <p:nvSpPr>
          <p:cNvPr id="8" name="Text 6"/>
          <p:cNvSpPr txBox="1"/>
          <p:nvPr/>
        </p:nvSpPr>
        <p:spPr>
          <a:xfrm>
            <a:off x="2606040" y="2633472"/>
            <a:ext cx="1828800" cy="731520"/>
          </a:xfrm>
          <a:prstGeom prst="rect">
            <a:avLst/>
          </a:prstGeom>
          <a:noFill/>
          <a:ln/>
        </p:spPr>
        <p:txBody>
          <a:bodyPr wrap="square" lIns="0" tIns="0" rIns="0" bIns="0" rtlCol="0" anchor="t"/>
          <a:lstStyle/>
          <a:p>
            <a:pPr indent="0" marL="0">
              <a:buNone/>
            </a:pPr>
            <a:r>
              <a:rPr lang="en-US" sz="1200" dirty="0">
                <a:solidFill>
                  <a:schemeClr val="tx2"/>
                </a:solidFill>
              </a:rPr>
              <a:t>runs offline on a laptop CPU with Ollama</a:t>
            </a:r>
            <a:endParaRPr lang="en-US" sz="1200" dirty="0"/>
          </a:p>
        </p:txBody>
      </p:sp>
      <p:sp>
        <p:nvSpPr>
          <p:cNvPr id="9" name="Text 7"/>
          <p:cNvSpPr txBox="1"/>
          <p:nvPr/>
        </p:nvSpPr>
        <p:spPr>
          <a:xfrm>
            <a:off x="4663440" y="1325880"/>
            <a:ext cx="1874520" cy="914400"/>
          </a:xfrm>
          <a:prstGeom prst="rect">
            <a:avLst/>
          </a:prstGeom>
          <a:noFill/>
          <a:ln/>
        </p:spPr>
        <p:txBody>
          <a:bodyPr wrap="square" lIns="0" tIns="0" rIns="0" bIns="0" rtlCol="0" anchor="ctr"/>
          <a:lstStyle/>
          <a:p>
            <a:pPr indent="0" marL="0">
              <a:buNone/>
            </a:pPr>
            <a:r>
              <a:rPr lang="en-US" sz="6000" b="1" dirty="0">
                <a:solidFill>
                  <a:schemeClr val="tx1"/>
                </a:solidFill>
                <a:latin typeface="Cambria" pitchFamily="34" charset="0"/>
                <a:ea typeface="Cambria" pitchFamily="34" charset="-122"/>
                <a:cs typeface="Cambria" pitchFamily="34" charset="-120"/>
              </a:rPr>
              <a:t>0</a:t>
            </a:r>
            <a:endParaRPr lang="en-US" sz="6000" dirty="0"/>
          </a:p>
        </p:txBody>
      </p:sp>
      <p:sp>
        <p:nvSpPr>
          <p:cNvPr id="10" name="Text 8"/>
          <p:cNvSpPr txBox="1"/>
          <p:nvPr/>
        </p:nvSpPr>
        <p:spPr>
          <a:xfrm>
            <a:off x="4663440" y="2286000"/>
            <a:ext cx="1874520" cy="320040"/>
          </a:xfrm>
          <a:prstGeom prst="rect">
            <a:avLst/>
          </a:prstGeom>
          <a:noFill/>
          <a:ln/>
        </p:spPr>
        <p:txBody>
          <a:bodyPr wrap="square" lIns="0" tIns="0" rIns="0" bIns="0" rtlCol="0" anchor="ctr"/>
          <a:lstStyle/>
          <a:p>
            <a:pPr indent="0" marL="0">
              <a:buNone/>
            </a:pPr>
            <a:r>
              <a:rPr lang="en-US" sz="1600" b="1" dirty="0">
                <a:solidFill>
                  <a:schemeClr val="tx1"/>
                </a:solidFill>
              </a:rPr>
              <a:t>restarts</a:t>
            </a:r>
            <a:endParaRPr lang="en-US" sz="1600" dirty="0"/>
          </a:p>
        </p:txBody>
      </p:sp>
      <p:sp>
        <p:nvSpPr>
          <p:cNvPr id="11" name="Text 9"/>
          <p:cNvSpPr txBox="1"/>
          <p:nvPr/>
        </p:nvSpPr>
        <p:spPr>
          <a:xfrm>
            <a:off x="4663440" y="2633472"/>
            <a:ext cx="1828800" cy="731520"/>
          </a:xfrm>
          <a:prstGeom prst="rect">
            <a:avLst/>
          </a:prstGeom>
          <a:noFill/>
          <a:ln/>
        </p:spPr>
        <p:txBody>
          <a:bodyPr wrap="square" lIns="0" tIns="0" rIns="0" bIns="0" rtlCol="0" anchor="t"/>
          <a:lstStyle/>
          <a:p>
            <a:pPr indent="0" marL="0">
              <a:buNone/>
            </a:pPr>
            <a:r>
              <a:rPr lang="en-US" sz="1200" dirty="0">
                <a:solidFill>
                  <a:schemeClr val="tx2"/>
                </a:solidFill>
              </a:rPr>
              <a:t>policy edits apply live; a broken edit keeps the last good policy</a:t>
            </a:r>
            <a:endParaRPr lang="en-US" sz="1200" dirty="0"/>
          </a:p>
        </p:txBody>
      </p:sp>
      <p:sp>
        <p:nvSpPr>
          <p:cNvPr id="12" name="Text 10"/>
          <p:cNvSpPr txBox="1"/>
          <p:nvPr/>
        </p:nvSpPr>
        <p:spPr>
          <a:xfrm>
            <a:off x="6720840" y="1325880"/>
            <a:ext cx="1874520" cy="914400"/>
          </a:xfrm>
          <a:prstGeom prst="rect">
            <a:avLst/>
          </a:prstGeom>
          <a:noFill/>
          <a:ln/>
        </p:spPr>
        <p:txBody>
          <a:bodyPr wrap="square" lIns="0" tIns="0" rIns="0" bIns="0" rtlCol="0" anchor="ctr"/>
          <a:lstStyle/>
          <a:p>
            <a:pPr indent="0" marL="0">
              <a:buNone/>
            </a:pPr>
            <a:r>
              <a:rPr lang="en-US" sz="6000" b="1" dirty="0">
                <a:solidFill>
                  <a:schemeClr val="tx1"/>
                </a:solidFill>
                <a:latin typeface="Cambria" pitchFamily="34" charset="0"/>
                <a:ea typeface="Cambria" pitchFamily="34" charset="-122"/>
                <a:cs typeface="Cambria" pitchFamily="34" charset="-120"/>
              </a:rPr>
              <a:t>1</a:t>
            </a:r>
            <a:endParaRPr lang="en-US" sz="6000" dirty="0"/>
          </a:p>
        </p:txBody>
      </p:sp>
      <p:sp>
        <p:nvSpPr>
          <p:cNvPr id="13" name="Text 11"/>
          <p:cNvSpPr txBox="1"/>
          <p:nvPr/>
        </p:nvSpPr>
        <p:spPr>
          <a:xfrm>
            <a:off x="6720840" y="2286000"/>
            <a:ext cx="1874520" cy="320040"/>
          </a:xfrm>
          <a:prstGeom prst="rect">
            <a:avLst/>
          </a:prstGeom>
          <a:noFill/>
          <a:ln/>
        </p:spPr>
        <p:txBody>
          <a:bodyPr wrap="square" lIns="0" tIns="0" rIns="0" bIns="0" rtlCol="0" anchor="ctr"/>
          <a:lstStyle/>
          <a:p>
            <a:pPr indent="0" marL="0">
              <a:buNone/>
            </a:pPr>
            <a:r>
              <a:rPr lang="en-US" sz="1600" b="1" dirty="0">
                <a:solidFill>
                  <a:schemeClr val="tx1"/>
                </a:solidFill>
              </a:rPr>
              <a:t>hash chain</a:t>
            </a:r>
            <a:endParaRPr lang="en-US" sz="1600" dirty="0"/>
          </a:p>
        </p:txBody>
      </p:sp>
      <p:sp>
        <p:nvSpPr>
          <p:cNvPr id="14" name="Text 12"/>
          <p:cNvSpPr txBox="1"/>
          <p:nvPr/>
        </p:nvSpPr>
        <p:spPr>
          <a:xfrm>
            <a:off x="6720840" y="2633472"/>
            <a:ext cx="1828800" cy="731520"/>
          </a:xfrm>
          <a:prstGeom prst="rect">
            <a:avLst/>
          </a:prstGeom>
          <a:noFill/>
          <a:ln/>
        </p:spPr>
        <p:txBody>
          <a:bodyPr wrap="square" lIns="0" tIns="0" rIns="0" bIns="0" rtlCol="0" anchor="t"/>
          <a:lstStyle/>
          <a:p>
            <a:pPr indent="0" marL="0">
              <a:buNone/>
            </a:pPr>
            <a:r>
              <a:rPr lang="en-US" sz="1200" dirty="0">
                <a:solidFill>
                  <a:schemeClr val="tx2"/>
                </a:solidFill>
              </a:rPr>
              <a:t>every decision: user, agent, purpose, policy version</a:t>
            </a:r>
            <a:endParaRPr lang="en-US" sz="1200" dirty="0"/>
          </a:p>
        </p:txBody>
      </p:sp>
      <p:sp>
        <p:nvSpPr>
          <p:cNvPr id="15" name="latency"/>
          <p:cNvSpPr/>
          <p:nvPr/>
        </p:nvSpPr>
        <p:spPr>
          <a:xfrm>
            <a:off x="548640" y="3611880"/>
            <a:ext cx="8046720" cy="822960"/>
          </a:xfrm>
          <a:prstGeom prst="roundRect">
            <a:avLst>
              <a:gd name="adj" fmla="val 8889"/>
            </a:avLst>
          </a:prstGeom>
          <a:solidFill>
            <a:schemeClr val="bg2"/>
          </a:solidFill>
          <a:ln/>
        </p:spPr>
      </p:sp>
      <p:sp>
        <p:nvSpPr>
          <p:cNvPr id="16" name="latency icon"/>
          <p:cNvSpPr/>
          <p:nvPr/>
        </p:nvSpPr>
        <p:spPr>
          <a:xfrm>
            <a:off x="731520" y="3767328"/>
            <a:ext cx="502920" cy="502920"/>
          </a:xfrm>
          <a:prstGeom prst="ellipse">
            <a:avLst/>
          </a:prstGeom>
          <a:solidFill>
            <a:schemeClr val="tx1"/>
          </a:solidFill>
          <a:ln/>
        </p:spPr>
      </p:sp>
      <p:pic>
        <p:nvPicPr>
          <p:cNvPr id="17" name="Image 0" descr="preencoded.png">    </p:cNvPr>
          <p:cNvPicPr>
            <a:picLocks noChangeAspect="1"/>
          </p:cNvPicPr>
          <p:nvPr/>
        </p:nvPicPr>
        <p:blipFill>
          <a:blip r:embed="rId1"/>
          <a:stretch>
            <a:fillRect/>
          </a:stretch>
        </p:blipFill>
        <p:spPr>
          <a:xfrm>
            <a:off x="857250" y="3893058"/>
            <a:ext cx="251460" cy="251460"/>
          </a:xfrm>
          <a:prstGeom prst="rect">
            <a:avLst/>
          </a:prstGeom>
        </p:spPr>
      </p:pic>
      <p:sp>
        <p:nvSpPr>
          <p:cNvPr id="18" name="Text 15"/>
          <p:cNvSpPr txBox="1"/>
          <p:nvPr/>
        </p:nvSpPr>
        <p:spPr>
          <a:xfrm>
            <a:off x="1417320" y="3657600"/>
            <a:ext cx="7040880" cy="731520"/>
          </a:xfrm>
          <a:prstGeom prst="rect">
            <a:avLst/>
          </a:prstGeom>
          <a:noFill/>
          <a:ln/>
        </p:spPr>
        <p:txBody>
          <a:bodyPr wrap="square" lIns="0" tIns="0" rIns="0" bIns="0" rtlCol="0" anchor="ctr"/>
          <a:lstStyle/>
          <a:p>
            <a:pPr indent="0" marL="0">
              <a:buNone/>
            </a:pPr>
            <a:r>
              <a:rPr lang="en-US" sz="1300" b="1" dirty="0">
                <a:solidFill>
                  <a:schemeClr val="tx1"/>
                </a:solidFill>
              </a:rPr>
              <a:t>Every control reports its own latency. </a:t>
            </a:r>
            <a:pPr indent="0" marL="0">
              <a:buNone/>
            </a:pPr>
            <a:r>
              <a:rPr lang="en-US" sz="1300" dirty="0">
                <a:solidFill>
                  <a:schemeClr val="tx2"/>
                </a:solidFill>
              </a:rPr>
              <a:t>Rule checks cost milliseconds; the AI judge runs only on new untrusted content and is measured separately, never hidden in an average.</a:t>
            </a:r>
            <a:endParaRPr lang="en-US" sz="13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It already speaks the regulator's language</a:t>
            </a:r>
            <a:endParaRPr lang="en-US" sz="3200" dirty="0"/>
          </a:p>
        </p:txBody>
      </p:sp>
      <p:graphicFrame>
        <p:nvGraphicFramePr>
          <p:cNvPr id="12" name="regulation map"/>
          <p:cNvGraphicFramePr>
            <a:graphicFrameLocks noGrp="1"/>
          </p:cNvGraphicFramePr>
          <p:nvPr>
            <p:extLst>
              <p:ext uri="{D42A27DB-BD31-4B8C-83A1-F6EECF244321}">
                <p14:modId xmlns:p14="http://schemas.microsoft.com/office/powerpoint/2010/main" val="1579011935"/>
              </p:ext>
            </p:extLst>
          </p:nvPr>
        </p:nvGraphicFramePr>
        <p:xfrm>
          <a:off x="548640" y="1234440"/>
          <a:ext cx="8046720" cy="914400"/>
        </p:xfrm>
        <a:graphic>
          <a:graphicData uri="http://schemas.openxmlformats.org/drawingml/2006/table">
            <a:tbl>
              <a:tblPr/>
              <a:tblGrid>
                <a:gridCol w="2468880"/>
                <a:gridCol w="2788920"/>
                <a:gridCol w="2788920"/>
              </a:tblGrid>
              <a:tr h="384048">
                <a:tc>
                  <a:txBody>
                    <a:bodyPr/>
                    <a:lstStyle/>
                    <a:p>
                      <a:pPr indent="0" marL="0">
                        <a:buNone/>
                      </a:pPr>
                      <a:r>
                        <a:rPr lang="en-US" sz="1300" b="1" dirty="0">
                          <a:solidFill>
                            <a:schemeClr val="bg1"/>
                          </a:solidFill>
                        </a:rPr>
                        <a:t>Rule</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Asks for</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Flow Guard</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1"/>
                    </a:solidFill>
                  </a:tcPr>
                </a:tc>
              </a:tr>
              <a:tr h="530352">
                <a:tc>
                  <a:txBody>
                    <a:bodyPr/>
                    <a:lstStyle/>
                    <a:p>
                      <a:pPr indent="0" marL="0">
                        <a:buNone/>
                      </a:pPr>
                      <a:r>
                        <a:rPr lang="en-US" sz="1300" b="1" dirty="0">
                          <a:solidFill>
                            <a:schemeClr val="tx1"/>
                          </a:solidFill>
                        </a:rPr>
                        <a:t>Exchange Act §15(g), FINRA 3110</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Policies against MNPI misuse, supervision</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Information barrier on every call</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SEC 17a-4 (2022)</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Complete, time-stamped audit trail</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Hash-chained log with policy version</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SR 11-7</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Monitor how models are used</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One place to log and meter every model</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EU AI Act Art. 12, 14</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Logging and human oversight</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Audit trail; four-eyes approval next</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DORA</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Manage ICT vendor concentration</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Any model vendor behind one policy</a:t>
                      </a:r>
                      <a:endParaRPr lang="en-US" sz="1300" dirty="0"/>
                    </a:p>
                  </a:txBody>
                  <a:tcPr marL="109728" marR="109728" marT="36576" marB="36576"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4160520"/>
            <a:ext cx="8046720" cy="365760"/>
          </a:xfrm>
          <a:prstGeom prst="rect">
            <a:avLst/>
          </a:prstGeom>
          <a:noFill/>
          <a:ln/>
        </p:spPr>
        <p:txBody>
          <a:bodyPr wrap="square" lIns="0" tIns="0" rIns="0" bIns="0" rtlCol="0" anchor="ctr"/>
          <a:lstStyle/>
          <a:p>
            <a:pPr indent="0" marL="0">
              <a:buNone/>
            </a:pPr>
            <a:r>
              <a:rPr lang="en-US" sz="1600" b="1" dirty="0">
                <a:solidFill>
                  <a:schemeClr val="tx1"/>
                </a:solidFill>
              </a:rPr>
              <a:t>Compliance gets evidence, not a promise.</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We'll say the limits before you ask</a:t>
            </a:r>
            <a:endParaRPr lang="en-US" sz="3200" dirty="0"/>
          </a:p>
        </p:txBody>
      </p:sp>
      <p:sp>
        <p:nvSpPr>
          <p:cNvPr id="3" name="limits"/>
          <p:cNvSpPr/>
          <p:nvPr/>
        </p:nvSpPr>
        <p:spPr>
          <a:xfrm>
            <a:off x="548640" y="1234440"/>
            <a:ext cx="3886200" cy="3200400"/>
          </a:xfrm>
          <a:prstGeom prst="roundRect">
            <a:avLst>
              <a:gd name="adj" fmla="val 2857"/>
            </a:avLst>
          </a:prstGeom>
          <a:solidFill>
            <a:schemeClr val="bg2"/>
          </a:solidFill>
          <a:ln/>
        </p:spPr>
      </p:sp>
      <p:sp>
        <p:nvSpPr>
          <p:cNvPr id="4" name="limits icon"/>
          <p:cNvSpPr/>
          <p:nvPr/>
        </p:nvSpPr>
        <p:spPr>
          <a:xfrm>
            <a:off x="777240" y="141732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891540" y="1531620"/>
            <a:ext cx="228600" cy="228600"/>
          </a:xfrm>
          <a:prstGeom prst="rect">
            <a:avLst/>
          </a:prstGeom>
        </p:spPr>
      </p:pic>
      <p:sp>
        <p:nvSpPr>
          <p:cNvPr id="6" name="Text 3"/>
          <p:cNvSpPr txBox="1"/>
          <p:nvPr/>
        </p:nvSpPr>
        <p:spPr>
          <a:xfrm>
            <a:off x="1371600" y="1417320"/>
            <a:ext cx="2926080" cy="457200"/>
          </a:xfrm>
          <a:prstGeom prst="rect">
            <a:avLst/>
          </a:prstGeom>
          <a:noFill/>
          <a:ln/>
        </p:spPr>
        <p:txBody>
          <a:bodyPr wrap="square" lIns="0" tIns="0" rIns="0" bIns="0" rtlCol="0" anchor="ctr"/>
          <a:lstStyle/>
          <a:p>
            <a:pPr indent="0" marL="0">
              <a:buNone/>
            </a:pPr>
            <a:r>
              <a:rPr lang="en-US" sz="1800" b="1" dirty="0">
                <a:solidFill>
                  <a:schemeClr val="tx1"/>
                </a:solidFill>
              </a:rPr>
              <a:t>Today's edges</a:t>
            </a:r>
            <a:endParaRPr lang="en-US" sz="1800" dirty="0"/>
          </a:p>
        </p:txBody>
      </p:sp>
      <p:sp>
        <p:nvSpPr>
          <p:cNvPr id="7" name="Text 4"/>
          <p:cNvSpPr txBox="1"/>
          <p:nvPr/>
        </p:nvSpPr>
        <p:spPr>
          <a:xfrm>
            <a:off x="777240" y="2057400"/>
            <a:ext cx="3474720" cy="2240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We enforce on model traffic. An agent that skips the proxy is invisible, so egress control must point agents at us.</a:t>
            </a:r>
            <a:endParaRPr lang="en-US" sz="1400" dirty="0"/>
          </a:p>
          <a:p>
            <a:pPr marL="342900" indent="-342900">
              <a:spcAft>
                <a:spcPts val="800"/>
              </a:spcAft>
              <a:buSzPct val="100000"/>
              <a:buChar char="•"/>
            </a:pPr>
            <a:r>
              <a:rPr lang="en-US" sz="1400" dirty="0">
                <a:solidFill>
                  <a:schemeClr val="tx2"/>
                </a:solidFill>
              </a:rPr>
              <a:t>An allowed call in the log means we permitted it, not that the tool ran.</a:t>
            </a:r>
            <a:endParaRPr lang="en-US" sz="1400" dirty="0"/>
          </a:p>
          <a:p>
            <a:pPr marL="342900" indent="-342900">
              <a:spcAft>
                <a:spcPts val="800"/>
              </a:spcAft>
              <a:buSzPct val="100000"/>
              <a:buChar char="•"/>
            </a:pPr>
            <a:r>
              <a:rPr lang="en-US" sz="1400" dirty="0">
                <a:solidFill>
                  <a:schemeClr val="tx2"/>
                </a:solidFill>
              </a:rPr>
              <a:t>The AI judge adds latency; we report it per control.</a:t>
            </a:r>
            <a:endParaRPr lang="en-US" sz="1400" dirty="0"/>
          </a:p>
        </p:txBody>
      </p:sp>
      <p:sp>
        <p:nvSpPr>
          <p:cNvPr id="8" name="next"/>
          <p:cNvSpPr/>
          <p:nvPr/>
        </p:nvSpPr>
        <p:spPr>
          <a:xfrm>
            <a:off x="4709160" y="1234440"/>
            <a:ext cx="3886200" cy="3200400"/>
          </a:xfrm>
          <a:prstGeom prst="roundRect">
            <a:avLst>
              <a:gd name="adj" fmla="val 2857"/>
            </a:avLst>
          </a:prstGeom>
          <a:solidFill>
            <a:schemeClr val="bg2"/>
          </a:solidFill>
          <a:ln/>
        </p:spPr>
      </p:sp>
      <p:sp>
        <p:nvSpPr>
          <p:cNvPr id="9" name="next icon"/>
          <p:cNvSpPr/>
          <p:nvPr/>
        </p:nvSpPr>
        <p:spPr>
          <a:xfrm>
            <a:off x="4937760" y="1417320"/>
            <a:ext cx="457200" cy="457200"/>
          </a:xfrm>
          <a:prstGeom prst="ellipse">
            <a:avLst/>
          </a:prstGeom>
          <a:solidFill>
            <a:schemeClr val="accent2"/>
          </a:solidFill>
          <a:ln/>
        </p:spPr>
      </p:sp>
      <p:pic>
        <p:nvPicPr>
          <p:cNvPr id="10" name="Image 1" descr="preencoded.png">    </p:cNvPr>
          <p:cNvPicPr>
            <a:picLocks noChangeAspect="1"/>
          </p:cNvPicPr>
          <p:nvPr/>
        </p:nvPicPr>
        <p:blipFill>
          <a:blip r:embed="rId2"/>
          <a:stretch>
            <a:fillRect/>
          </a:stretch>
        </p:blipFill>
        <p:spPr>
          <a:xfrm>
            <a:off x="5052060" y="1531620"/>
            <a:ext cx="228600" cy="228600"/>
          </a:xfrm>
          <a:prstGeom prst="rect">
            <a:avLst/>
          </a:prstGeom>
        </p:spPr>
      </p:pic>
      <p:sp>
        <p:nvSpPr>
          <p:cNvPr id="11" name="Text 7"/>
          <p:cNvSpPr txBox="1"/>
          <p:nvPr/>
        </p:nvSpPr>
        <p:spPr>
          <a:xfrm>
            <a:off x="5532120" y="1417320"/>
            <a:ext cx="2926080" cy="457200"/>
          </a:xfrm>
          <a:prstGeom prst="rect">
            <a:avLst/>
          </a:prstGeom>
          <a:noFill/>
          <a:ln/>
        </p:spPr>
        <p:txBody>
          <a:bodyPr wrap="square" lIns="0" tIns="0" rIns="0" bIns="0" rtlCol="0" anchor="ctr"/>
          <a:lstStyle/>
          <a:p>
            <a:pPr indent="0" marL="0">
              <a:buNone/>
            </a:pPr>
            <a:r>
              <a:rPr lang="en-US" sz="1800" b="1" dirty="0">
                <a:solidFill>
                  <a:schemeClr val="tx1"/>
                </a:solidFill>
              </a:rPr>
              <a:t>Next, same engine</a:t>
            </a:r>
            <a:endParaRPr lang="en-US" sz="1800" dirty="0"/>
          </a:p>
        </p:txBody>
      </p:sp>
      <p:sp>
        <p:nvSpPr>
          <p:cNvPr id="12" name="Text 8"/>
          <p:cNvSpPr txBox="1"/>
          <p:nvPr/>
        </p:nvSpPr>
        <p:spPr>
          <a:xfrm>
            <a:off x="4937760" y="2057400"/>
            <a:ext cx="3474720" cy="2240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MCP gateway: enforce at the tool boundary itself.</a:t>
            </a:r>
            <a:endParaRPr lang="en-US" sz="1400" dirty="0"/>
          </a:p>
          <a:p>
            <a:pPr marL="342900" indent="-342900">
              <a:spcAft>
                <a:spcPts val="800"/>
              </a:spcAft>
              <a:buSzPct val="100000"/>
              <a:buChar char="•"/>
            </a:pPr>
            <a:r>
              <a:rPr lang="en-US" sz="1400" dirty="0">
                <a:solidFill>
                  <a:schemeClr val="tx2"/>
                </a:solidFill>
              </a:rPr>
              <a:t>Four-eyes approval bound to a hash of the exact arguments.</a:t>
            </a:r>
            <a:endParaRPr lang="en-US" sz="1400" dirty="0"/>
          </a:p>
          <a:p>
            <a:pPr marL="342900" indent="-342900">
              <a:spcAft>
                <a:spcPts val="800"/>
              </a:spcAft>
              <a:buSzPct val="100000"/>
              <a:buChar char="•"/>
            </a:pPr>
            <a:r>
              <a:rPr lang="en-US" sz="1400" dirty="0">
                <a:solidFill>
                  <a:schemeClr val="tx2"/>
                </a:solidFill>
              </a:rPr>
              <a:t>Hooks for Claude Code and Codex; streaming.</a:t>
            </a:r>
            <a:endParaRPr lang="en-US" sz="1400" dirty="0"/>
          </a:p>
          <a:p>
            <a:pPr marL="342900" indent="-342900">
              <a:spcAft>
                <a:spcPts val="800"/>
              </a:spcAft>
              <a:buSzPct val="100000"/>
              <a:buChar char="•"/>
            </a:pPr>
            <a:r>
              <a:rPr lang="en-US" sz="1400" dirty="0">
                <a:solidFill>
                  <a:schemeClr val="tx2"/>
                </a:solidFill>
              </a:rPr>
              <a:t>A local classifier in front of the AI judge.</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Monday, 09:04. Again</a:t>
            </a:r>
            <a:endParaRPr lang="en-US" sz="3200" dirty="0"/>
          </a:p>
        </p:txBody>
      </p:sp>
      <p:sp>
        <p:nvSpPr>
          <p:cNvPr id="3" name="check 1"/>
          <p:cNvSpPr/>
          <p:nvPr/>
        </p:nvSpPr>
        <p:spPr>
          <a:xfrm>
            <a:off x="548640" y="1316736"/>
            <a:ext cx="365760" cy="365760"/>
          </a:xfrm>
          <a:prstGeom prst="ellipse">
            <a:avLst/>
          </a:prstGeom>
          <a:solidFill>
            <a:schemeClr val="accent2"/>
          </a:solidFill>
          <a:ln/>
        </p:spPr>
      </p:sp>
      <p:pic>
        <p:nvPicPr>
          <p:cNvPr id="4" name="Image 0" descr="preencoded.png">    </p:cNvPr>
          <p:cNvPicPr>
            <a:picLocks noChangeAspect="1"/>
          </p:cNvPicPr>
          <p:nvPr/>
        </p:nvPicPr>
        <p:blipFill>
          <a:blip r:embed="rId1"/>
          <a:stretch>
            <a:fillRect/>
          </a:stretch>
        </p:blipFill>
        <p:spPr>
          <a:xfrm>
            <a:off x="640080" y="1408176"/>
            <a:ext cx="182880" cy="182880"/>
          </a:xfrm>
          <a:prstGeom prst="rect">
            <a:avLst/>
          </a:prstGeom>
        </p:spPr>
      </p:pic>
      <p:sp>
        <p:nvSpPr>
          <p:cNvPr id="5" name="Text 2"/>
          <p:cNvSpPr txBox="1"/>
          <p:nvPr/>
        </p:nvSpPr>
        <p:spPr>
          <a:xfrm>
            <a:off x="1097280" y="1280160"/>
            <a:ext cx="7498080" cy="438912"/>
          </a:xfrm>
          <a:prstGeom prst="rect">
            <a:avLst/>
          </a:prstGeom>
          <a:noFill/>
          <a:ln/>
        </p:spPr>
        <p:txBody>
          <a:bodyPr wrap="square" lIns="0" tIns="0" rIns="0" bIns="0" rtlCol="0" anchor="ctr"/>
          <a:lstStyle/>
          <a:p>
            <a:pPr indent="0" marL="0">
              <a:buNone/>
            </a:pPr>
            <a:r>
              <a:rPr lang="en-US" sz="1800" dirty="0">
                <a:solidFill>
                  <a:schemeClr val="bg1"/>
                </a:solidFill>
              </a:rPr>
              <a:t>The passport reached the sanctions check. Nowhere else.</a:t>
            </a:r>
            <a:endParaRPr lang="en-US" sz="1800" dirty="0"/>
          </a:p>
        </p:txBody>
      </p:sp>
      <p:sp>
        <p:nvSpPr>
          <p:cNvPr id="6" name="check 2"/>
          <p:cNvSpPr/>
          <p:nvPr/>
        </p:nvSpPr>
        <p:spPr>
          <a:xfrm>
            <a:off x="548640" y="1865376"/>
            <a:ext cx="365760" cy="365760"/>
          </a:xfrm>
          <a:prstGeom prst="ellipse">
            <a:avLst/>
          </a:prstGeom>
          <a:solidFill>
            <a:schemeClr val="accent2"/>
          </a:solidFill>
          <a:ln/>
        </p:spPr>
      </p:sp>
      <p:pic>
        <p:nvPicPr>
          <p:cNvPr id="7" name="Image 1" descr="preencoded.png">    </p:cNvPr>
          <p:cNvPicPr>
            <a:picLocks noChangeAspect="1"/>
          </p:cNvPicPr>
          <p:nvPr/>
        </p:nvPicPr>
        <p:blipFill>
          <a:blip r:embed="rId2"/>
          <a:stretch>
            <a:fillRect/>
          </a:stretch>
        </p:blipFill>
        <p:spPr>
          <a:xfrm>
            <a:off x="640080" y="1956816"/>
            <a:ext cx="182880" cy="182880"/>
          </a:xfrm>
          <a:prstGeom prst="rect">
            <a:avLst/>
          </a:prstGeom>
        </p:spPr>
      </p:pic>
      <p:sp>
        <p:nvSpPr>
          <p:cNvPr id="8" name="Text 4"/>
          <p:cNvSpPr txBox="1"/>
          <p:nvPr/>
        </p:nvSpPr>
        <p:spPr>
          <a:xfrm>
            <a:off x="1097280" y="1828800"/>
            <a:ext cx="7498080" cy="438912"/>
          </a:xfrm>
          <a:prstGeom prst="rect">
            <a:avLst/>
          </a:prstGeom>
          <a:noFill/>
          <a:ln/>
        </p:spPr>
        <p:txBody>
          <a:bodyPr wrap="square" lIns="0" tIns="0" rIns="0" bIns="0" rtlCol="0" anchor="ctr"/>
          <a:lstStyle/>
          <a:p>
            <a:pPr indent="0" marL="0">
              <a:buNone/>
            </a:pPr>
            <a:r>
              <a:rPr lang="en-US" sz="1800" dirty="0">
                <a:solidFill>
                  <a:schemeClr val="bg1"/>
                </a:solidFill>
              </a:rPr>
              <a:t>The hidden sentence was quarantined, not obeyed.</a:t>
            </a:r>
            <a:endParaRPr lang="en-US" sz="1800" dirty="0"/>
          </a:p>
        </p:txBody>
      </p:sp>
      <p:sp>
        <p:nvSpPr>
          <p:cNvPr id="9" name="check 3"/>
          <p:cNvSpPr/>
          <p:nvPr/>
        </p:nvSpPr>
        <p:spPr>
          <a:xfrm>
            <a:off x="548640" y="2414016"/>
            <a:ext cx="365760" cy="365760"/>
          </a:xfrm>
          <a:prstGeom prst="ellipse">
            <a:avLst/>
          </a:prstGeom>
          <a:solidFill>
            <a:schemeClr val="accent2"/>
          </a:solidFill>
          <a:ln/>
        </p:spPr>
      </p:sp>
      <p:pic>
        <p:nvPicPr>
          <p:cNvPr id="10" name="Image 2" descr="preencoded.png">    </p:cNvPr>
          <p:cNvPicPr>
            <a:picLocks noChangeAspect="1"/>
          </p:cNvPicPr>
          <p:nvPr/>
        </p:nvPicPr>
        <p:blipFill>
          <a:blip r:embed="rId3"/>
          <a:stretch>
            <a:fillRect/>
          </a:stretch>
        </p:blipFill>
        <p:spPr>
          <a:xfrm>
            <a:off x="640080" y="2505456"/>
            <a:ext cx="182880" cy="182880"/>
          </a:xfrm>
          <a:prstGeom prst="rect">
            <a:avLst/>
          </a:prstGeom>
        </p:spPr>
      </p:pic>
      <p:sp>
        <p:nvSpPr>
          <p:cNvPr id="11" name="Text 6"/>
          <p:cNvSpPr txBox="1"/>
          <p:nvPr/>
        </p:nvSpPr>
        <p:spPr>
          <a:xfrm>
            <a:off x="1097280" y="2377440"/>
            <a:ext cx="7498080" cy="438912"/>
          </a:xfrm>
          <a:prstGeom prst="rect">
            <a:avLst/>
          </a:prstGeom>
          <a:noFill/>
          <a:ln/>
        </p:spPr>
        <p:txBody>
          <a:bodyPr wrap="square" lIns="0" tIns="0" rIns="0" bIns="0" rtlCol="0" anchor="ctr"/>
          <a:lstStyle/>
          <a:p>
            <a:pPr indent="0" marL="0">
              <a:buNone/>
            </a:pPr>
            <a:r>
              <a:rPr lang="en-US" sz="1800" dirty="0">
                <a:solidFill>
                  <a:schemeClr val="bg1"/>
                </a:solidFill>
              </a:rPr>
              <a:t>Project Falcon stayed behind the wall.</a:t>
            </a:r>
            <a:endParaRPr lang="en-US" sz="1800" dirty="0"/>
          </a:p>
        </p:txBody>
      </p:sp>
      <p:sp>
        <p:nvSpPr>
          <p:cNvPr id="12" name="check 4"/>
          <p:cNvSpPr/>
          <p:nvPr/>
        </p:nvSpPr>
        <p:spPr>
          <a:xfrm>
            <a:off x="548640" y="2962656"/>
            <a:ext cx="365760" cy="365760"/>
          </a:xfrm>
          <a:prstGeom prst="ellipse">
            <a:avLst/>
          </a:prstGeom>
          <a:solidFill>
            <a:schemeClr val="accent2"/>
          </a:solidFill>
          <a:ln/>
        </p:spPr>
      </p:sp>
      <p:pic>
        <p:nvPicPr>
          <p:cNvPr id="13" name="Image 3" descr="preencoded.png">    </p:cNvPr>
          <p:cNvPicPr>
            <a:picLocks noChangeAspect="1"/>
          </p:cNvPicPr>
          <p:nvPr/>
        </p:nvPicPr>
        <p:blipFill>
          <a:blip r:embed="rId4"/>
          <a:stretch>
            <a:fillRect/>
          </a:stretch>
        </p:blipFill>
        <p:spPr>
          <a:xfrm>
            <a:off x="640080" y="3054096"/>
            <a:ext cx="182880" cy="182880"/>
          </a:xfrm>
          <a:prstGeom prst="rect">
            <a:avLst/>
          </a:prstGeom>
        </p:spPr>
      </p:pic>
      <p:sp>
        <p:nvSpPr>
          <p:cNvPr id="14" name="Text 8"/>
          <p:cNvSpPr txBox="1"/>
          <p:nvPr/>
        </p:nvSpPr>
        <p:spPr>
          <a:xfrm>
            <a:off x="1097280" y="2926080"/>
            <a:ext cx="7498080" cy="438912"/>
          </a:xfrm>
          <a:prstGeom prst="rect">
            <a:avLst/>
          </a:prstGeom>
          <a:noFill/>
          <a:ln/>
        </p:spPr>
        <p:txBody>
          <a:bodyPr wrap="square" lIns="0" tIns="0" rIns="0" bIns="0" rtlCol="0" anchor="ctr"/>
          <a:lstStyle/>
          <a:p>
            <a:pPr indent="0" marL="0">
              <a:buNone/>
            </a:pPr>
            <a:r>
              <a:rPr lang="en-US" sz="1800" dirty="0">
                <a:solidFill>
                  <a:schemeClr val="bg1"/>
                </a:solidFill>
              </a:rPr>
              <a:t>Every step sits in a tamper-evident log.</a:t>
            </a:r>
            <a:endParaRPr lang="en-US" sz="1800" dirty="0"/>
          </a:p>
        </p:txBody>
      </p:sp>
      <p:sp>
        <p:nvSpPr>
          <p:cNvPr id="15" name="tagline"/>
          <p:cNvSpPr txBox="1"/>
          <p:nvPr/>
        </p:nvSpPr>
        <p:spPr>
          <a:xfrm>
            <a:off x="548640" y="3611880"/>
            <a:ext cx="804672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Don't trust the agent. Trust the flow.</a:t>
            </a:r>
            <a:endParaRPr lang="en-US" sz="2800" dirty="0"/>
          </a:p>
        </p:txBody>
      </p:sp>
      <p:sp>
        <p:nvSpPr>
          <p:cNvPr id="16" name="ask"/>
          <p:cNvSpPr txBox="1"/>
          <p:nvPr/>
        </p:nvSpPr>
        <p:spPr>
          <a:xfrm>
            <a:off x="548640" y="4160520"/>
            <a:ext cx="8046720" cy="365760"/>
          </a:xfrm>
          <a:prstGeom prst="rect">
            <a:avLst/>
          </a:prstGeom>
          <a:noFill/>
          <a:ln/>
        </p:spPr>
        <p:txBody>
          <a:bodyPr wrap="square" lIns="0" tIns="0" rIns="0" bIns="0" rtlCol="0" anchor="ctr"/>
          <a:lstStyle/>
          <a:p>
            <a:pPr indent="0" marL="0">
              <a:buNone/>
            </a:pPr>
            <a:r>
              <a:rPr lang="en-US" sz="1600" i="1" dirty="0">
                <a:solidFill>
                  <a:schemeClr val="bg1"/>
                </a:solidFill>
              </a:rPr>
              <a:t>Try to break it. The policy file is open.</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Flow Guard">
  <a:themeElements>
    <a:clrScheme name="Flow Guard">
      <a:dk1>
        <a:srgbClr val="0B1220"/>
      </a:dk1>
      <a:lt1>
        <a:srgbClr val="FFFFFF"/>
      </a:lt1>
      <a:dk2>
        <a:srgbClr val="1E2B45"/>
      </a:dk2>
      <a:lt2>
        <a:srgbClr val="EEF2F7"/>
      </a:lt2>
      <a:accent1>
        <a:srgbClr val="F2A93B"/>
      </a:accent1>
      <a:accent2>
        <a:srgbClr val="1FAF8A"/>
      </a:accent2>
      <a:accent3>
        <a:srgbClr val="E5484D"/>
      </a:accent3>
      <a:accent4>
        <a:srgbClr val="5B8DEF"/>
      </a:accent4>
      <a:accent5>
        <a:srgbClr val="6B7790"/>
      </a:accent5>
      <a:accent6>
        <a:srgbClr val="2E3B57"/>
      </a:accent6>
      <a:hlink>
        <a:srgbClr val="5B8DEF"/>
      </a:hlink>
      <a:folHlink>
        <a:srgbClr val="6B7790"/>
      </a:folHlink>
    </a:clrScheme>
    <a:fontScheme name="Flow Gu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Flow Guard: AI Control Layer</dc:title>
  <dc:subject>HackYeah 2026 demo deck</dc:subject>
  <dc:creator>Flow Guard team</dc:creator>
  <cp:lastModifiedBy>Flow Guard team</cp:lastModifiedBy>
  <cp:revision>1</cp:revision>
  <dcterms:created xsi:type="dcterms:W3CDTF">2026-10-03T23:21:36Z</dcterms:created>
  <dcterms:modified xsi:type="dcterms:W3CDTF">2026-10-03T23:21:36Z</dcterms:modified>
</cp:coreProperties>
</file>
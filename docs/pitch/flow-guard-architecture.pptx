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b608eb0c-eac7-679e-b096-f7bb325049f7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agent request goes through one FlowGuard gateway, whatever the client: OpenAI-style agents, an unmodified Claude Code (Anthropic Messages adapter, with the bank's systems over MCP), and the dashboard's Live demo. One engine runs three checkpoints: before the model (identity, purpose, reversible tokens for card numbers, IBANs, IDs and secrets, the injection judge, data-class limits), before the agent acts (role, client scope, information barrier, budgets, attack signatures), and before data leaves (no sensitive data to external sinks; real values only to approved tools). The policy reloads live and is versioned; every decision lands in a hash-chained audit log that the dashboard streams.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request end to end. Steps 2 and 4 are the gateway's checkpoints; step 5 shows why results are checked too: tool results return to the model through the same checks on the next request. Step 6 is the evidence: each decision is hash-chained and appears live on the dashboard. Nothing fails open: a check that errors blocks, and a broken policy edit is rejected while the last good policy stays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boundary: the gateway enforces at the model boundary. Tools still execute in the agent, so an allowed tool call is a permission, not proof of execution; anything that bypasses the gateway URL is invisible to it. The reporting API and dashboard policy edits are localhost-only without a login. Next: human approvals bound to the argument hash, integrity per source (in progress), leak fingerprints (experimental branch), and more adapters with signed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365760" y="482803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FlowGuard · architecture · main 36bce88 · 4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FlowGuard architecture</a:t>
            </a:r>
            <a:endParaRPr lang="en-US" sz="2800" dirty="0"/>
          </a:p>
        </p:txBody>
      </p:sp>
      <p:sp>
        <p:nvSpPr>
          <p:cNvPr id="3" name="AI agents box"/>
          <p:cNvSpPr/>
          <p:nvPr/>
        </p:nvSpPr>
        <p:spPr>
          <a:xfrm>
            <a:off x="365760" y="914400"/>
            <a:ext cx="182880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I agents text"/>
          <p:cNvSpPr txBox="1"/>
          <p:nvPr/>
        </p:nvSpPr>
        <p:spPr>
          <a:xfrm>
            <a:off x="457200" y="96926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AI agents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OpenAI SDK, chat completions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Bank demo agents</a:t>
            </a:r>
            <a:endParaRPr lang="en-US" sz="1200" dirty="0"/>
          </a:p>
        </p:txBody>
      </p:sp>
      <p:sp>
        <p:nvSpPr>
          <p:cNvPr id="5" name="Claude Code box"/>
          <p:cNvSpPr/>
          <p:nvPr/>
        </p:nvSpPr>
        <p:spPr>
          <a:xfrm>
            <a:off x="365760" y="1883664"/>
            <a:ext cx="182880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laude Code text"/>
          <p:cNvSpPr txBox="1"/>
          <p:nvPr/>
        </p:nvSpPr>
        <p:spPr>
          <a:xfrm>
            <a:off x="457200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Claude Code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Anthropic /v1/messages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MCP bank systems (onboarding desk)</a:t>
            </a:r>
            <a:endParaRPr lang="en-US" sz="1200" dirty="0"/>
          </a:p>
        </p:txBody>
      </p:sp>
      <p:sp>
        <p:nvSpPr>
          <p:cNvPr id="7" name="Dashboard box"/>
          <p:cNvSpPr/>
          <p:nvPr/>
        </p:nvSpPr>
        <p:spPr>
          <a:xfrm>
            <a:off x="365760" y="2852928"/>
            <a:ext cx="182880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Dashboard text"/>
          <p:cNvSpPr txBox="1"/>
          <p:nvPr/>
        </p:nvSpPr>
        <p:spPr>
          <a:xfrm>
            <a:off x="457200" y="29077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Dashboard :3000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Overview, Audit trail, Live demo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Policies with action toggles</a:t>
            </a:r>
            <a:endParaRPr lang="en-US" sz="1200" dirty="0"/>
          </a:p>
        </p:txBody>
      </p:sp>
      <p:sp>
        <p:nvSpPr>
          <p:cNvPr id="9" name="Gateway box"/>
          <p:cNvSpPr/>
          <p:nvPr/>
        </p:nvSpPr>
        <p:spPr>
          <a:xfrm>
            <a:off x="2514600" y="914400"/>
            <a:ext cx="4114800" cy="2779776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0" name="Gateway title"/>
          <p:cNvSpPr txBox="1"/>
          <p:nvPr/>
        </p:nvSpPr>
        <p:spPr>
          <a:xfrm>
            <a:off x="2651760" y="969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FlowGuard gateway :8000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   one policy engine for every adapter</a:t>
            </a:r>
            <a:endParaRPr lang="en-US" sz="1300" dirty="0"/>
          </a:p>
        </p:txBody>
      </p:sp>
      <p:sp>
        <p:nvSpPr>
          <p:cNvPr id="11" name="Checkpoint 1 box"/>
          <p:cNvSpPr/>
          <p:nvPr/>
        </p:nvSpPr>
        <p:spPr>
          <a:xfrm>
            <a:off x="2651760" y="1307592"/>
            <a:ext cx="3840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14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Checkpoint 1 badge"/>
          <p:cNvSpPr/>
          <p:nvPr/>
        </p:nvSpPr>
        <p:spPr>
          <a:xfrm>
            <a:off x="2761488" y="1490472"/>
            <a:ext cx="365760" cy="36576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Checkpoint 1 badge label"/>
          <p:cNvSpPr txBox="1"/>
          <p:nvPr/>
        </p:nvSpPr>
        <p:spPr>
          <a:xfrm>
            <a:off x="2761488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Checkpoint 1 text"/>
          <p:cNvSpPr txBox="1"/>
          <p:nvPr/>
        </p:nvSpPr>
        <p:spPr>
          <a:xfrm>
            <a:off x="3246120" y="1362456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Before the model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Identity and purpose · values become reversible tokens · injection judge · data-class limit per model</a:t>
            </a:r>
            <a:endParaRPr lang="en-US" sz="1200" dirty="0"/>
          </a:p>
        </p:txBody>
      </p:sp>
      <p:sp>
        <p:nvSpPr>
          <p:cNvPr id="15" name="Checkpoint 2 box"/>
          <p:cNvSpPr/>
          <p:nvPr/>
        </p:nvSpPr>
        <p:spPr>
          <a:xfrm>
            <a:off x="2651760" y="2103120"/>
            <a:ext cx="384048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heckpoint 2 badge"/>
          <p:cNvSpPr/>
          <p:nvPr/>
        </p:nvSpPr>
        <p:spPr>
          <a:xfrm>
            <a:off x="2761488" y="2286000"/>
            <a:ext cx="365760" cy="36576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Checkpoint 2 badge label"/>
          <p:cNvSpPr txBox="1"/>
          <p:nvPr/>
        </p:nvSpPr>
        <p:spPr>
          <a:xfrm>
            <a:off x="276148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Checkpoint 2 text"/>
          <p:cNvSpPr txBox="1"/>
          <p:nvPr/>
        </p:nvSpPr>
        <p:spPr>
          <a:xfrm>
            <a:off x="3246120" y="215798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Before the agent acts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Role → allowed tools · client scope · information barrier · budgets · attack signatures</a:t>
            </a:r>
            <a:endParaRPr lang="en-US" sz="1200" dirty="0"/>
          </a:p>
        </p:txBody>
      </p:sp>
      <p:sp>
        <p:nvSpPr>
          <p:cNvPr id="19" name="Checkpoint 3 box"/>
          <p:cNvSpPr/>
          <p:nvPr/>
        </p:nvSpPr>
        <p:spPr>
          <a:xfrm>
            <a:off x="2651760" y="2898648"/>
            <a:ext cx="3840480" cy="731520"/>
          </a:xfrm>
          <a:prstGeom prst="roundRect">
            <a:avLst>
              <a:gd name="adj" fmla="val 75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Checkpoint 3 badge"/>
          <p:cNvSpPr/>
          <p:nvPr/>
        </p:nvSpPr>
        <p:spPr>
          <a:xfrm>
            <a:off x="2761488" y="3081528"/>
            <a:ext cx="365760" cy="36576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Checkpoint 3 badge label"/>
          <p:cNvSpPr txBox="1"/>
          <p:nvPr/>
        </p:nvSpPr>
        <p:spPr>
          <a:xfrm>
            <a:off x="2761488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Checkpoint 3 text"/>
          <p:cNvSpPr txBox="1"/>
          <p:nvPr/>
        </p:nvSpPr>
        <p:spPr>
          <a:xfrm>
            <a:off x="3246120" y="295351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Before data leaves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No sensitive data to external sinks · real values only to approved tools (payments, sanctions)</a:t>
            </a:r>
            <a:endParaRPr lang="en-US" sz="1200" dirty="0"/>
          </a:p>
        </p:txBody>
      </p:sp>
      <p:sp>
        <p:nvSpPr>
          <p:cNvPr id="23" name="Models box"/>
          <p:cNvSpPr/>
          <p:nvPr/>
        </p:nvSpPr>
        <p:spPr>
          <a:xfrm>
            <a:off x="6949440" y="914400"/>
            <a:ext cx="1828800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Models text"/>
          <p:cNvSpPr txBox="1"/>
          <p:nvPr/>
        </p:nvSpPr>
        <p:spPr>
          <a:xfrm>
            <a:off x="7040880" y="969264"/>
            <a:ext cx="1645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Approved models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OpenRouter models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Scripted test model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Each with a data-class ceiling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Edited on the Policies page</a:t>
            </a:r>
            <a:endParaRPr lang="en-US" sz="1200" dirty="0"/>
          </a:p>
        </p:txBody>
      </p:sp>
      <p:sp>
        <p:nvSpPr>
          <p:cNvPr id="25" name="Judge box"/>
          <p:cNvSpPr/>
          <p:nvPr/>
        </p:nvSpPr>
        <p:spPr>
          <a:xfrm>
            <a:off x="6949440" y="2377440"/>
            <a:ext cx="1828800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Judge text"/>
          <p:cNvSpPr txBox="1"/>
          <p:nvPr/>
        </p:nvSpPr>
        <p:spPr>
          <a:xfrm>
            <a:off x="7040880" y="2432304"/>
            <a:ext cx="1645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Injection judge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Jev (TypeSafe), external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Sees redacted text only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Offline demo checker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Fails closed on error</a:t>
            </a:r>
            <a:endParaRPr lang="en-US" sz="1200" dirty="0"/>
          </a:p>
        </p:txBody>
      </p:sp>
      <p:sp>
        <p:nvSpPr>
          <p:cNvPr id="27" name="Policy box"/>
          <p:cNvSpPr/>
          <p:nvPr/>
        </p:nvSpPr>
        <p:spPr>
          <a:xfrm>
            <a:off x="365760" y="3886200"/>
            <a:ext cx="2679192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Policy text"/>
          <p:cNvSpPr txBox="1"/>
          <p:nvPr/>
        </p:nvSpPr>
        <p:spPr>
          <a:xfrm>
            <a:off x="457200" y="3941064"/>
            <a:ext cx="2496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Policy and identity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policy.yaml · directory · keys · signature feed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Live reload; last good policy kept</a:t>
            </a:r>
            <a:endParaRPr lang="en-US" sz="1200" dirty="0"/>
          </a:p>
        </p:txBody>
      </p:sp>
      <p:sp>
        <p:nvSpPr>
          <p:cNvPr id="29" name="Session state box"/>
          <p:cNvSpPr/>
          <p:nvPr/>
        </p:nvSpPr>
        <p:spPr>
          <a:xfrm>
            <a:off x="3232404" y="3886200"/>
            <a:ext cx="2679192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Session state text"/>
          <p:cNvSpPr txBox="1"/>
          <p:nvPr/>
        </p:nvSpPr>
        <p:spPr>
          <a:xfrm>
            <a:off x="3323844" y="3941064"/>
            <a:ext cx="2496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Session state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Token vault · data labels · budgets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Daily budgets rebuilt from the audit log</a:t>
            </a:r>
            <a:endParaRPr lang="en-US" sz="1200" dirty="0"/>
          </a:p>
        </p:txBody>
      </p:sp>
      <p:sp>
        <p:nvSpPr>
          <p:cNvPr id="31" name="Audit box"/>
          <p:cNvSpPr/>
          <p:nvPr/>
        </p:nvSpPr>
        <p:spPr>
          <a:xfrm>
            <a:off x="6099048" y="3886200"/>
            <a:ext cx="2679192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Audit text"/>
          <p:cNvSpPr txBox="1"/>
          <p:nvPr/>
        </p:nvSpPr>
        <p:spPr>
          <a:xfrm>
            <a:off x="6190488" y="3941064"/>
            <a:ext cx="2496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Audit and reporting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Hash-chained log, safe with several writers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Live stream (SSE) · metrics · export</a:t>
            </a:r>
            <a:endParaRPr lang="en-US" sz="1200" dirty="0"/>
          </a:p>
        </p:txBody>
      </p:sp>
      <p:sp>
        <p:nvSpPr>
          <p:cNvPr id="33" name="Caller 1 to gateway"/>
          <p:cNvSpPr/>
          <p:nvPr/>
        </p:nvSpPr>
        <p:spPr>
          <a:xfrm>
            <a:off x="2212848" y="1335024"/>
            <a:ext cx="2651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Caller 2 to gateway"/>
          <p:cNvSpPr/>
          <p:nvPr/>
        </p:nvSpPr>
        <p:spPr>
          <a:xfrm>
            <a:off x="2212848" y="2304288"/>
            <a:ext cx="2651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Caller 3 to gateway"/>
          <p:cNvSpPr/>
          <p:nvPr/>
        </p:nvSpPr>
        <p:spPr>
          <a:xfrm>
            <a:off x="2212848" y="3273552"/>
            <a:ext cx="2651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Gateway and models"/>
          <p:cNvSpPr/>
          <p:nvPr/>
        </p:nvSpPr>
        <p:spPr>
          <a:xfrm>
            <a:off x="6656832" y="1572768"/>
            <a:ext cx="2651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37" name="Gateway and judge"/>
          <p:cNvSpPr/>
          <p:nvPr/>
        </p:nvSpPr>
        <p:spPr>
          <a:xfrm>
            <a:off x="6656832" y="3035808"/>
            <a:ext cx="2651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38" name="Policy to gateway"/>
          <p:cNvSpPr/>
          <p:nvPr/>
        </p:nvSpPr>
        <p:spPr>
          <a:xfrm>
            <a:off x="2788920" y="3867912"/>
            <a:ext cx="0" cy="-15544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Gateway and session state"/>
          <p:cNvSpPr/>
          <p:nvPr/>
        </p:nvSpPr>
        <p:spPr>
          <a:xfrm>
            <a:off x="4572000" y="3721608"/>
            <a:ext cx="0" cy="137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40" name="Gateway to audit"/>
          <p:cNvSpPr/>
          <p:nvPr/>
        </p:nvSpPr>
        <p:spPr>
          <a:xfrm>
            <a:off x="6355080" y="3721608"/>
            <a:ext cx="0" cy="137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How one request flows</a:t>
            </a:r>
            <a:endParaRPr lang="en-US" sz="2800" dirty="0"/>
          </a:p>
        </p:txBody>
      </p:sp>
      <p:sp>
        <p:nvSpPr>
          <p:cNvPr id="3" name="Step 1 box"/>
          <p:cNvSpPr/>
          <p:nvPr/>
        </p:nvSpPr>
        <p:spPr>
          <a:xfrm>
            <a:off x="365760" y="960120"/>
            <a:ext cx="1211580" cy="25603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tep 1 badge"/>
          <p:cNvSpPr/>
          <p:nvPr/>
        </p:nvSpPr>
        <p:spPr>
          <a:xfrm>
            <a:off x="475488" y="1088136"/>
            <a:ext cx="420624" cy="4206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ep 1 badge label"/>
          <p:cNvSpPr txBox="1"/>
          <p:nvPr/>
        </p:nvSpPr>
        <p:spPr>
          <a:xfrm>
            <a:off x="47548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1 text"/>
          <p:cNvSpPr txBox="1"/>
          <p:nvPr/>
        </p:nvSpPr>
        <p:spPr>
          <a:xfrm>
            <a:off x="475488" y="1645920"/>
            <a:ext cx="9921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Agent asks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Sends the request with its API key, purpose and session</a:t>
            </a:r>
            <a:endParaRPr lang="en-US" sz="1200" dirty="0"/>
          </a:p>
        </p:txBody>
      </p:sp>
      <p:sp>
        <p:nvSpPr>
          <p:cNvPr id="7" name="Step 1 to 2"/>
          <p:cNvSpPr/>
          <p:nvPr/>
        </p:nvSpPr>
        <p:spPr>
          <a:xfrm>
            <a:off x="1613916" y="1298448"/>
            <a:ext cx="1554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tep 2 box"/>
          <p:cNvSpPr/>
          <p:nvPr/>
        </p:nvSpPr>
        <p:spPr>
          <a:xfrm>
            <a:off x="1805940" y="960120"/>
            <a:ext cx="1211580" cy="25603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tep 2 badge"/>
          <p:cNvSpPr/>
          <p:nvPr/>
        </p:nvSpPr>
        <p:spPr>
          <a:xfrm>
            <a:off x="1915668" y="1088136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tep 2 badge label"/>
          <p:cNvSpPr txBox="1"/>
          <p:nvPr/>
        </p:nvSpPr>
        <p:spPr>
          <a:xfrm>
            <a:off x="191566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2 text"/>
          <p:cNvSpPr txBox="1"/>
          <p:nvPr/>
        </p:nvSpPr>
        <p:spPr>
          <a:xfrm>
            <a:off x="1915668" y="1645920"/>
            <a:ext cx="9921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Checked before the model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Values become tokens, injected text is quarantined, data above the model's class stays out</a:t>
            </a:r>
            <a:endParaRPr lang="en-US" sz="1200" dirty="0"/>
          </a:p>
        </p:txBody>
      </p:sp>
      <p:sp>
        <p:nvSpPr>
          <p:cNvPr id="12" name="Step 2 to 3"/>
          <p:cNvSpPr/>
          <p:nvPr/>
        </p:nvSpPr>
        <p:spPr>
          <a:xfrm>
            <a:off x="3054096" y="1298448"/>
            <a:ext cx="1554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tep 3 box"/>
          <p:cNvSpPr/>
          <p:nvPr/>
        </p:nvSpPr>
        <p:spPr>
          <a:xfrm>
            <a:off x="3246120" y="960120"/>
            <a:ext cx="1211580" cy="25603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tep 3 badge"/>
          <p:cNvSpPr/>
          <p:nvPr/>
        </p:nvSpPr>
        <p:spPr>
          <a:xfrm>
            <a:off x="3355848" y="1088136"/>
            <a:ext cx="420624" cy="4206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tep 3 badge label"/>
          <p:cNvSpPr txBox="1"/>
          <p:nvPr/>
        </p:nvSpPr>
        <p:spPr>
          <a:xfrm>
            <a:off x="335584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 3 text"/>
          <p:cNvSpPr txBox="1"/>
          <p:nvPr/>
        </p:nvSpPr>
        <p:spPr>
          <a:xfrm>
            <a:off x="3355848" y="1645920"/>
            <a:ext cx="9921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Model answers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Proposes text and tool calls; only approved models are reachable</a:t>
            </a:r>
            <a:endParaRPr lang="en-US" sz="1200" dirty="0"/>
          </a:p>
        </p:txBody>
      </p:sp>
      <p:sp>
        <p:nvSpPr>
          <p:cNvPr id="17" name="Step 3 to 4"/>
          <p:cNvSpPr/>
          <p:nvPr/>
        </p:nvSpPr>
        <p:spPr>
          <a:xfrm>
            <a:off x="4494276" y="1298448"/>
            <a:ext cx="1554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tep 4 box"/>
          <p:cNvSpPr/>
          <p:nvPr/>
        </p:nvSpPr>
        <p:spPr>
          <a:xfrm>
            <a:off x="4686300" y="960120"/>
            <a:ext cx="1211580" cy="25603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tep 4 badge"/>
          <p:cNvSpPr/>
          <p:nvPr/>
        </p:nvSpPr>
        <p:spPr>
          <a:xfrm>
            <a:off x="4796028" y="1088136"/>
            <a:ext cx="420624" cy="42062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Step 4 badge label"/>
          <p:cNvSpPr txBox="1"/>
          <p:nvPr/>
        </p:nvSpPr>
        <p:spPr>
          <a:xfrm>
            <a:off x="479602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 4 text"/>
          <p:cNvSpPr txBox="1"/>
          <p:nvPr/>
        </p:nvSpPr>
        <p:spPr>
          <a:xfrm>
            <a:off x="4796028" y="1645920"/>
            <a:ext cx="9921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Checked before acting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Calls outside role, scope or barrier are removed; outbound sensitive data is blocked</a:t>
            </a:r>
            <a:endParaRPr lang="en-US" sz="1200" dirty="0"/>
          </a:p>
        </p:txBody>
      </p:sp>
      <p:sp>
        <p:nvSpPr>
          <p:cNvPr id="22" name="Step 4 to 5"/>
          <p:cNvSpPr/>
          <p:nvPr/>
        </p:nvSpPr>
        <p:spPr>
          <a:xfrm>
            <a:off x="5934456" y="1298448"/>
            <a:ext cx="1554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tep 5 box"/>
          <p:cNvSpPr/>
          <p:nvPr/>
        </p:nvSpPr>
        <p:spPr>
          <a:xfrm>
            <a:off x="6126480" y="960120"/>
            <a:ext cx="1211580" cy="25603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tep 5 badge"/>
          <p:cNvSpPr/>
          <p:nvPr/>
        </p:nvSpPr>
        <p:spPr>
          <a:xfrm>
            <a:off x="6236208" y="1088136"/>
            <a:ext cx="420624" cy="4206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tep 5 badge label"/>
          <p:cNvSpPr txBox="1"/>
          <p:nvPr/>
        </p:nvSpPr>
        <p:spPr>
          <a:xfrm>
            <a:off x="623620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tep 5 text"/>
          <p:cNvSpPr txBox="1"/>
          <p:nvPr/>
        </p:nvSpPr>
        <p:spPr>
          <a:xfrm>
            <a:off x="6236208" y="1645920"/>
            <a:ext cx="9921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Agent runs permitted tools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Results come back through step 2 on the next request</a:t>
            </a:r>
            <a:endParaRPr lang="en-US" sz="1200" dirty="0"/>
          </a:p>
        </p:txBody>
      </p:sp>
      <p:sp>
        <p:nvSpPr>
          <p:cNvPr id="27" name="Step 5 to 6"/>
          <p:cNvSpPr/>
          <p:nvPr/>
        </p:nvSpPr>
        <p:spPr>
          <a:xfrm>
            <a:off x="7374636" y="1298448"/>
            <a:ext cx="1554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tep 6 box"/>
          <p:cNvSpPr/>
          <p:nvPr/>
        </p:nvSpPr>
        <p:spPr>
          <a:xfrm>
            <a:off x="7566660" y="960120"/>
            <a:ext cx="1211580" cy="25603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Step 6 badge"/>
          <p:cNvSpPr/>
          <p:nvPr/>
        </p:nvSpPr>
        <p:spPr>
          <a:xfrm>
            <a:off x="7676388" y="1088136"/>
            <a:ext cx="420624" cy="420624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Step 6 badge label"/>
          <p:cNvSpPr txBox="1"/>
          <p:nvPr/>
        </p:nvSpPr>
        <p:spPr>
          <a:xfrm>
            <a:off x="767638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Step 6 text"/>
          <p:cNvSpPr txBox="1"/>
          <p:nvPr/>
        </p:nvSpPr>
        <p:spPr>
          <a:xfrm>
            <a:off x="7676388" y="1645920"/>
            <a:ext cx="9921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Recorded and shown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Every decision is hash-chained and streamed to the dashboard</a:t>
            </a:r>
            <a:endParaRPr lang="en-US" sz="1200" dirty="0"/>
          </a:p>
        </p:txBody>
      </p:sp>
      <p:sp>
        <p:nvSpPr>
          <p:cNvPr id="32" name="Fail closed box"/>
          <p:cNvSpPr/>
          <p:nvPr/>
        </p:nvSpPr>
        <p:spPr>
          <a:xfrm>
            <a:off x="365760" y="3794760"/>
            <a:ext cx="8412480" cy="658368"/>
          </a:xfrm>
          <a:prstGeom prst="roundRect">
            <a:avLst>
              <a:gd name="adj" fmla="val 11111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Fail closed badge"/>
          <p:cNvSpPr/>
          <p:nvPr/>
        </p:nvSpPr>
        <p:spPr>
          <a:xfrm>
            <a:off x="502920" y="3941064"/>
            <a:ext cx="365760" cy="36576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Fail closed badge label"/>
          <p:cNvSpPr txBox="1"/>
          <p:nvPr/>
        </p:nvSpPr>
        <p:spPr>
          <a:xfrm>
            <a:off x="5029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35" name="Fail closed text"/>
          <p:cNvSpPr txBox="1"/>
          <p:nvPr/>
        </p:nvSpPr>
        <p:spPr>
          <a:xfrm>
            <a:off x="1005840" y="379476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Fails closed.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If a check errors or times out, the request is blocked; a broken policy edit keeps the last good version.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Limits today and what comes next</a:t>
            </a:r>
            <a:endParaRPr lang="en-US" sz="2800" dirty="0"/>
          </a:p>
        </p:txBody>
      </p:sp>
      <p:sp>
        <p:nvSpPr>
          <p:cNvPr id="3" name="Column 1 heading"/>
          <p:cNvSpPr txBox="1"/>
          <p:nvPr/>
        </p:nvSpPr>
        <p:spPr>
          <a:xfrm>
            <a:off x="365760" y="8961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Limits today</a:t>
            </a:r>
            <a:endParaRPr lang="en-US" sz="1600" dirty="0"/>
          </a:p>
        </p:txBody>
      </p:sp>
      <p:sp>
        <p:nvSpPr>
          <p:cNvPr id="4" name="Column 1 row 1 box"/>
          <p:cNvSpPr/>
          <p:nvPr/>
        </p:nvSpPr>
        <p:spPr>
          <a:xfrm>
            <a:off x="365760" y="132588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olumn 1 row 1 badge"/>
          <p:cNvSpPr/>
          <p:nvPr/>
        </p:nvSpPr>
        <p:spPr>
          <a:xfrm>
            <a:off x="502920" y="1508760"/>
            <a:ext cx="347472" cy="347472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Column 1 row 1 badge label"/>
          <p:cNvSpPr txBox="1"/>
          <p:nvPr/>
        </p:nvSpPr>
        <p:spPr>
          <a:xfrm>
            <a:off x="50292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Column 1 row 1 text"/>
          <p:cNvSpPr txBox="1"/>
          <p:nvPr/>
        </p:nvSpPr>
        <p:spPr>
          <a:xfrm>
            <a:off x="987552" y="13258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run in the agent: an allowed call is a permission, not proof it ran</a:t>
            </a:r>
            <a:endParaRPr lang="en-US" sz="1200" dirty="0"/>
          </a:p>
        </p:txBody>
      </p:sp>
      <p:sp>
        <p:nvSpPr>
          <p:cNvPr id="8" name="Column 1 row 2 box"/>
          <p:cNvSpPr/>
          <p:nvPr/>
        </p:nvSpPr>
        <p:spPr>
          <a:xfrm>
            <a:off x="365760" y="2167128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Column 1 row 2 badge"/>
          <p:cNvSpPr/>
          <p:nvPr/>
        </p:nvSpPr>
        <p:spPr>
          <a:xfrm>
            <a:off x="502920" y="2350008"/>
            <a:ext cx="347472" cy="347472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Column 1 row 2 badge label"/>
          <p:cNvSpPr txBox="1"/>
          <p:nvPr/>
        </p:nvSpPr>
        <p:spPr>
          <a:xfrm>
            <a:off x="50292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1" name="Column 1 row 2 text"/>
          <p:cNvSpPr txBox="1"/>
          <p:nvPr/>
        </p:nvSpPr>
        <p:spPr>
          <a:xfrm>
            <a:off x="987552" y="21671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Calls that bypass the gateway are not seen or checked</a:t>
            </a:r>
            <a:endParaRPr lang="en-US" sz="1200" dirty="0"/>
          </a:p>
        </p:txBody>
      </p:sp>
      <p:sp>
        <p:nvSpPr>
          <p:cNvPr id="12" name="Column 1 row 3 box"/>
          <p:cNvSpPr/>
          <p:nvPr/>
        </p:nvSpPr>
        <p:spPr>
          <a:xfrm>
            <a:off x="365760" y="3008376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olumn 1 row 3 badge"/>
          <p:cNvSpPr/>
          <p:nvPr/>
        </p:nvSpPr>
        <p:spPr>
          <a:xfrm>
            <a:off x="502920" y="3191256"/>
            <a:ext cx="347472" cy="347472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Column 1 row 3 badge label"/>
          <p:cNvSpPr txBox="1"/>
          <p:nvPr/>
        </p:nvSpPr>
        <p:spPr>
          <a:xfrm>
            <a:off x="50292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5" name="Column 1 row 3 text"/>
          <p:cNvSpPr txBox="1"/>
          <p:nvPr/>
        </p:nvSpPr>
        <p:spPr>
          <a:xfrm>
            <a:off x="987552" y="300837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Reporting API and policy edits: localhost only, no login yet</a:t>
            </a:r>
            <a:endParaRPr lang="en-US" sz="1200" dirty="0"/>
          </a:p>
        </p:txBody>
      </p:sp>
      <p:sp>
        <p:nvSpPr>
          <p:cNvPr id="16" name="Column 1 row 4 box"/>
          <p:cNvSpPr/>
          <p:nvPr/>
        </p:nvSpPr>
        <p:spPr>
          <a:xfrm>
            <a:off x="365760" y="3849624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Column 1 row 4 badge"/>
          <p:cNvSpPr/>
          <p:nvPr/>
        </p:nvSpPr>
        <p:spPr>
          <a:xfrm>
            <a:off x="502920" y="4032504"/>
            <a:ext cx="347472" cy="347472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Column 1 row 4 badge label"/>
          <p:cNvSpPr txBox="1"/>
          <p:nvPr/>
        </p:nvSpPr>
        <p:spPr>
          <a:xfrm>
            <a:off x="50292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Column 1 row 4 text"/>
          <p:cNvSpPr txBox="1"/>
          <p:nvPr/>
        </p:nvSpPr>
        <p:spPr>
          <a:xfrm>
            <a:off x="987552" y="384962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Token vault and session state reset on restart; the audit log persists</a:t>
            </a:r>
            <a:endParaRPr lang="en-US" sz="1200" dirty="0"/>
          </a:p>
        </p:txBody>
      </p:sp>
      <p:sp>
        <p:nvSpPr>
          <p:cNvPr id="20" name="Column 2 heading"/>
          <p:cNvSpPr txBox="1"/>
          <p:nvPr/>
        </p:nvSpPr>
        <p:spPr>
          <a:xfrm>
            <a:off x="4754880" y="8961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Next</a:t>
            </a:r>
            <a:endParaRPr lang="en-US" sz="1600" dirty="0"/>
          </a:p>
        </p:txBody>
      </p:sp>
      <p:sp>
        <p:nvSpPr>
          <p:cNvPr id="21" name="Column 2 row 1 box"/>
          <p:cNvSpPr/>
          <p:nvPr/>
        </p:nvSpPr>
        <p:spPr>
          <a:xfrm>
            <a:off x="4754880" y="1325880"/>
            <a:ext cx="4023360" cy="713232"/>
          </a:xfrm>
          <a:prstGeom prst="roundRect">
            <a:avLst>
              <a:gd name="adj" fmla="val 10256"/>
            </a:avLst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22" name="Column 2 row 1 badge"/>
          <p:cNvSpPr/>
          <p:nvPr/>
        </p:nvSpPr>
        <p:spPr>
          <a:xfrm>
            <a:off x="4892040" y="1508760"/>
            <a:ext cx="347472" cy="3474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Column 2 row 1 badge label"/>
          <p:cNvSpPr txBox="1"/>
          <p:nvPr/>
        </p:nvSpPr>
        <p:spPr>
          <a:xfrm>
            <a:off x="48920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Column 2 row 1 text"/>
          <p:cNvSpPr txBox="1"/>
          <p:nvPr/>
        </p:nvSpPr>
        <p:spPr>
          <a:xfrm>
            <a:off x="5376672" y="13258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Human approvals bound to the exact arguments (four eyes)</a:t>
            </a:r>
            <a:endParaRPr lang="en-US" sz="1200" dirty="0"/>
          </a:p>
        </p:txBody>
      </p:sp>
      <p:sp>
        <p:nvSpPr>
          <p:cNvPr id="25" name="Column 2 row 1 status"/>
          <p:cNvSpPr txBox="1"/>
          <p:nvPr/>
        </p:nvSpPr>
        <p:spPr>
          <a:xfrm>
            <a:off x="7818120" y="132588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planned</a:t>
            </a:r>
            <a:endParaRPr lang="en-US" sz="1000" dirty="0"/>
          </a:p>
        </p:txBody>
      </p:sp>
      <p:sp>
        <p:nvSpPr>
          <p:cNvPr id="26" name="Column 2 row 2 box"/>
          <p:cNvSpPr/>
          <p:nvPr/>
        </p:nvSpPr>
        <p:spPr>
          <a:xfrm>
            <a:off x="4754880" y="2167128"/>
            <a:ext cx="4023360" cy="713232"/>
          </a:xfrm>
          <a:prstGeom prst="roundRect">
            <a:avLst>
              <a:gd name="adj" fmla="val 10256"/>
            </a:avLst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27" name="Column 2 row 2 badge"/>
          <p:cNvSpPr/>
          <p:nvPr/>
        </p:nvSpPr>
        <p:spPr>
          <a:xfrm>
            <a:off x="4892040" y="2350008"/>
            <a:ext cx="347472" cy="3474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Column 2 row 2 badge label"/>
          <p:cNvSpPr txBox="1"/>
          <p:nvPr/>
        </p:nvSpPr>
        <p:spPr>
          <a:xfrm>
            <a:off x="48920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Column 2 row 2 text"/>
          <p:cNvSpPr txBox="1"/>
          <p:nvPr/>
        </p:nvSpPr>
        <p:spPr>
          <a:xfrm>
            <a:off x="5376672" y="216712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Integrity per source: fewer false quarantines</a:t>
            </a:r>
            <a:endParaRPr lang="en-US" sz="1200" dirty="0"/>
          </a:p>
        </p:txBody>
      </p:sp>
      <p:sp>
        <p:nvSpPr>
          <p:cNvPr id="30" name="Column 2 row 2 status"/>
          <p:cNvSpPr txBox="1"/>
          <p:nvPr/>
        </p:nvSpPr>
        <p:spPr>
          <a:xfrm>
            <a:off x="7818120" y="216712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31" name="Column 2 row 3 box"/>
          <p:cNvSpPr/>
          <p:nvPr/>
        </p:nvSpPr>
        <p:spPr>
          <a:xfrm>
            <a:off x="4754880" y="3008376"/>
            <a:ext cx="4023360" cy="713232"/>
          </a:xfrm>
          <a:prstGeom prst="roundRect">
            <a:avLst>
              <a:gd name="adj" fmla="val 10256"/>
            </a:avLst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32" name="Column 2 row 3 badge"/>
          <p:cNvSpPr/>
          <p:nvPr/>
        </p:nvSpPr>
        <p:spPr>
          <a:xfrm>
            <a:off x="4892040" y="3191256"/>
            <a:ext cx="347472" cy="3474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Column 2 row 3 badge label"/>
          <p:cNvSpPr txBox="1"/>
          <p:nvPr/>
        </p:nvSpPr>
        <p:spPr>
          <a:xfrm>
            <a:off x="489204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Column 2 row 3 text"/>
          <p:cNvSpPr txBox="1"/>
          <p:nvPr/>
        </p:nvSpPr>
        <p:spPr>
          <a:xfrm>
            <a:off x="5376672" y="3008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Leak fingerprints for registered documents</a:t>
            </a:r>
            <a:endParaRPr lang="en-US" sz="1200" dirty="0"/>
          </a:p>
        </p:txBody>
      </p:sp>
      <p:sp>
        <p:nvSpPr>
          <p:cNvPr id="35" name="Column 2 row 3 status"/>
          <p:cNvSpPr txBox="1"/>
          <p:nvPr/>
        </p:nvSpPr>
        <p:spPr>
          <a:xfrm>
            <a:off x="7818120" y="300837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experimental</a:t>
            </a:r>
            <a:endParaRPr lang="en-US" sz="1000" dirty="0"/>
          </a:p>
        </p:txBody>
      </p:sp>
      <p:sp>
        <p:nvSpPr>
          <p:cNvPr id="36" name="Column 2 row 4 box"/>
          <p:cNvSpPr/>
          <p:nvPr/>
        </p:nvSpPr>
        <p:spPr>
          <a:xfrm>
            <a:off x="4754880" y="3849624"/>
            <a:ext cx="4023360" cy="713232"/>
          </a:xfrm>
          <a:prstGeom prst="roundRect">
            <a:avLst>
              <a:gd name="adj" fmla="val 10256"/>
            </a:avLst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37" name="Column 2 row 4 badge"/>
          <p:cNvSpPr/>
          <p:nvPr/>
        </p:nvSpPr>
        <p:spPr>
          <a:xfrm>
            <a:off x="4892040" y="4032504"/>
            <a:ext cx="347472" cy="3474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Column 2 row 4 badge label"/>
          <p:cNvSpPr txBox="1"/>
          <p:nvPr/>
        </p:nvSpPr>
        <p:spPr>
          <a:xfrm>
            <a:off x="489204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Column 2 row 4 text"/>
          <p:cNvSpPr txBox="1"/>
          <p:nvPr/>
        </p:nvSpPr>
        <p:spPr>
          <a:xfrm>
            <a:off x="5376672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More adapters (Codex) and signed requests</a:t>
            </a:r>
            <a:endParaRPr lang="en-US" sz="1200" dirty="0"/>
          </a:p>
        </p:txBody>
      </p:sp>
      <p:sp>
        <p:nvSpPr>
          <p:cNvPr id="40" name="Column 2 row 4 status"/>
          <p:cNvSpPr txBox="1"/>
          <p:nvPr/>
        </p:nvSpPr>
        <p:spPr>
          <a:xfrm>
            <a:off x="7818120" y="3849624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planned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 Guard">
  <a:themeElements>
    <a:clrScheme name="Flow Guard">
      <a:dk1>
        <a:srgbClr val="0B1220"/>
      </a:dk1>
      <a:lt1>
        <a:srgbClr val="FFFFFF"/>
      </a:lt1>
      <a:dk2>
        <a:srgbClr val="1E2B45"/>
      </a:dk2>
      <a:lt2>
        <a:srgbClr val="EEF2F7"/>
      </a:lt2>
      <a:accent1>
        <a:srgbClr val="F2A93B"/>
      </a:accent1>
      <a:accent2>
        <a:srgbClr val="1FAF8A"/>
      </a:accent2>
      <a:accent3>
        <a:srgbClr val="E5484D"/>
      </a:accent3>
      <a:accent4>
        <a:srgbClr val="5B8DEF"/>
      </a:accent4>
      <a:accent5>
        <a:srgbClr val="6B7790"/>
      </a:accent5>
      <a:accent6>
        <a:srgbClr val="2E3B57"/>
      </a:accent6>
      <a:hlink>
        <a:srgbClr val="5B8DEF"/>
      </a:hlink>
      <a:folHlink>
        <a:srgbClr val="6B7790"/>
      </a:folHlink>
    </a:clrScheme>
    <a:fontScheme name="Flow 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FlowGuard architecture</dc:title>
  <dc:subject>PptxGenJS Presentation</dc:subject>
  <dc:creator>FlowGuard team</dc:creator>
  <cp:lastModifiedBy>FlowGuard team</cp:lastModifiedBy>
  <cp:revision>1</cp:revision>
  <dcterms:created xsi:type="dcterms:W3CDTF">2026-10-04T06:28:14Z</dcterms:created>
  <dcterms:modified xsi:type="dcterms:W3CDTF">2026-10-04T06:28:14Z</dcterms:modified>
</cp:coreProperties>
</file>